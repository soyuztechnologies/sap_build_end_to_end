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56" r:id="rId2"/>
    <p:sldId id="494" r:id="rId3"/>
    <p:sldId id="265" r:id="rId4"/>
    <p:sldId id="535" r:id="rId5"/>
    <p:sldId id="507" r:id="rId6"/>
    <p:sldId id="538" r:id="rId7"/>
    <p:sldId id="512" r:id="rId8"/>
    <p:sldId id="514" r:id="rId9"/>
    <p:sldId id="515" r:id="rId10"/>
    <p:sldId id="516" r:id="rId11"/>
    <p:sldId id="517" r:id="rId12"/>
    <p:sldId id="518" r:id="rId13"/>
    <p:sldId id="519" r:id="rId14"/>
    <p:sldId id="520" r:id="rId15"/>
    <p:sldId id="521" r:id="rId16"/>
    <p:sldId id="537" r:id="rId17"/>
    <p:sldId id="495" r:id="rId18"/>
    <p:sldId id="496" r:id="rId19"/>
    <p:sldId id="497" r:id="rId2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6753"/>
    <a:srgbClr val="1B4134"/>
    <a:srgbClr val="FFFFFF"/>
    <a:srgbClr val="222222"/>
    <a:srgbClr val="76B8B5"/>
    <a:srgbClr val="90B6DD"/>
    <a:srgbClr val="057CFF"/>
    <a:srgbClr val="4649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55" autoAdjust="0"/>
    <p:restoredTop sz="96236" autoAdjust="0"/>
  </p:normalViewPr>
  <p:slideViewPr>
    <p:cSldViewPr>
      <p:cViewPr varScale="1">
        <p:scale>
          <a:sx n="130" d="100"/>
          <a:sy n="130" d="100"/>
        </p:scale>
        <p:origin x="736" y="300"/>
      </p:cViewPr>
      <p:guideLst>
        <p:guide orient="horz" pos="1620"/>
        <p:guide pos="2880"/>
      </p:guideLst>
    </p:cSldViewPr>
  </p:slideViewPr>
  <p:notesTextViewPr>
    <p:cViewPr>
      <p:scale>
        <a:sx n="100" d="100"/>
        <a:sy n="100" d="100"/>
      </p:scale>
      <p:origin x="0" y="0"/>
    </p:cViewPr>
  </p:notesTextViewPr>
  <p:notesViewPr>
    <p:cSldViewPr>
      <p:cViewPr varScale="1">
        <p:scale>
          <a:sx n="67" d="100"/>
          <a:sy n="67" d="100"/>
        </p:scale>
        <p:origin x="-318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4CD1819-8EAB-4094-BBB1-E11C3AABA846}" type="datetimeFigureOut">
              <a:rPr lang="en-US" smtClean="0"/>
              <a:t>8/12/2025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EA62D1B-AC76-4092-A22E-9E6DF2EB6902}" type="slidenum">
              <a:rPr lang="en-US" smtClean="0"/>
              <a:t>‹#›</a:t>
            </a:fld>
            <a:endParaRPr lang="en-US"/>
          </a:p>
        </p:txBody>
      </p:sp>
    </p:spTree>
    <p:extLst>
      <p:ext uri="{BB962C8B-B14F-4D97-AF65-F5344CB8AC3E}">
        <p14:creationId xmlns:p14="http://schemas.microsoft.com/office/powerpoint/2010/main" val="85153436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4T13:39:48.605"/>
    </inkml:context>
    <inkml:brush xml:id="br0">
      <inkml:brushProperty name="width" value="0.05" units="cm"/>
      <inkml:brushProperty name="height" value="0.0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76A73D-237B-4034-AB8C-962174A8D351}" type="datetimeFigureOut">
              <a:rPr lang="en-US" smtClean="0"/>
              <a:t>8/12/2025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1123B04-A11E-4ECA-8C2F-B25EF2142BD0}" type="slidenum">
              <a:rPr lang="en-US" smtClean="0"/>
              <a:t>‹#›</a:t>
            </a:fld>
            <a:endParaRPr lang="en-US"/>
          </a:p>
        </p:txBody>
      </p:sp>
    </p:spTree>
    <p:extLst>
      <p:ext uri="{BB962C8B-B14F-4D97-AF65-F5344CB8AC3E}">
        <p14:creationId xmlns:p14="http://schemas.microsoft.com/office/powerpoint/2010/main" val="1468142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123B04-A11E-4ECA-8C2F-B25EF2142BD0}" type="slidenum">
              <a:rPr lang="en-US" smtClean="0"/>
              <a:t>1</a:t>
            </a:fld>
            <a:endParaRPr lang="en-US"/>
          </a:p>
        </p:txBody>
      </p:sp>
    </p:spTree>
    <p:extLst>
      <p:ext uri="{BB962C8B-B14F-4D97-AF65-F5344CB8AC3E}">
        <p14:creationId xmlns:p14="http://schemas.microsoft.com/office/powerpoint/2010/main" val="1219258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hemeOverride" Target="../theme/themeOverride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276600" y="1123950"/>
            <a:ext cx="5257800" cy="533400"/>
          </a:xfrm>
          <a:prstGeom prst="rect">
            <a:avLst/>
          </a:prstGeom>
        </p:spPr>
        <p:txBody>
          <a:bodyPr vert="horz" lIns="91440" tIns="45720" rIns="91440" bIns="45720" rtlCol="0" anchor="ctr">
            <a:noAutofit/>
          </a:bodyPr>
          <a:lstStyle>
            <a:lvl1pPr algn="r">
              <a:defRPr lang="en-US" sz="3600" dirty="0"/>
            </a:lvl1pPr>
          </a:lstStyle>
          <a:p>
            <a:pPr lvl="0"/>
            <a:r>
              <a:rPr lang="en-US" dirty="0"/>
              <a:t>Click to edit title</a:t>
            </a:r>
          </a:p>
        </p:txBody>
      </p:sp>
      <p:sp>
        <p:nvSpPr>
          <p:cNvPr id="3" name="Subtitle 2"/>
          <p:cNvSpPr>
            <a:spLocks noGrp="1"/>
          </p:cNvSpPr>
          <p:nvPr>
            <p:ph type="subTitle" idx="1"/>
          </p:nvPr>
        </p:nvSpPr>
        <p:spPr>
          <a:xfrm>
            <a:off x="3276600" y="1657350"/>
            <a:ext cx="5257800" cy="914400"/>
          </a:xfrm>
        </p:spPr>
        <p:txBody>
          <a:bodyPr/>
          <a:lstStyle>
            <a:lvl1pPr marL="0" indent="0" algn="r">
              <a:buNone/>
              <a:defRPr>
                <a:solidFill>
                  <a:schemeClr val="bg1">
                    <a:lumMod val="50000"/>
                  </a:schemeClr>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BA5CE939-B381-3A45-13A6-F58CC000B48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3642741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457200" y="4767263"/>
            <a:ext cx="2133600" cy="273844"/>
          </a:xfrm>
        </p:spPr>
        <p:txBody>
          <a:bodyPr/>
          <a:lstStyle>
            <a:lvl1pPr algn="l">
              <a:defRPr/>
            </a:lvl1pPr>
          </a:lstStyle>
          <a:p>
            <a:fld id="{B6F15528-21DE-4FAA-801E-634DDDAF4B2B}" type="slidenum">
              <a:rPr lang="en-US" smtClean="0"/>
              <a:pPr/>
              <a:t>‹#›</a:t>
            </a:fld>
            <a:endParaRPr lang="en-US"/>
          </a:p>
        </p:txBody>
      </p:sp>
      <p:sp>
        <p:nvSpPr>
          <p:cNvPr id="8"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BE9035D6-1EB0-67FD-788E-258B941A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3305176"/>
            <a:ext cx="7772400" cy="1021556"/>
          </a:xfrm>
          <a:prstGeom prst="rect">
            <a:avLst/>
          </a:prstGeom>
        </p:spPr>
        <p:txBody>
          <a:bodyPr anchor="t"/>
          <a:lstStyle>
            <a:lvl1pPr algn="l">
              <a:defRPr sz="3200" b="1" cap="none"/>
            </a:lvl1pPr>
          </a:lstStyle>
          <a:p>
            <a:r>
              <a:rPr lang="en-US"/>
              <a:t>Click to edit title style</a:t>
            </a:r>
            <a:endParaRPr lang="en-US" dirty="0"/>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228600" y="4767263"/>
            <a:ext cx="2133600" cy="273844"/>
          </a:xfrm>
        </p:spPr>
        <p:txBody>
          <a:bodyPr/>
          <a:lstStyle>
            <a:lvl1pPr algn="l">
              <a:defRPr/>
            </a:lvl1p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19859E39-C1F4-F452-A609-81C93B9864E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57150"/>
            <a:ext cx="8229600" cy="609601"/>
          </a:xfrm>
          <a:prstGeom prst="rect">
            <a:avLst/>
          </a:prstGeom>
        </p:spPr>
        <p:txBody>
          <a:bodyPr/>
          <a:lstStyle/>
          <a:p>
            <a:r>
              <a:rPr lang="en-US" dirty="0"/>
              <a:t>Click to edit title style</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40386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8"/>
          <p:cNvSpPr>
            <a:spLocks noGrp="1"/>
          </p:cNvSpPr>
          <p:nvPr>
            <p:ph sz="quarter" idx="14"/>
          </p:nvPr>
        </p:nvSpPr>
        <p:spPr>
          <a:xfrm>
            <a:off x="4648200" y="971550"/>
            <a:ext cx="4038600" cy="3657600"/>
          </a:xfrm>
        </p:spPr>
        <p:txBody>
          <a:bodyPr>
            <a:normAutofit/>
          </a:bodyPr>
          <a:lstStyle>
            <a:lvl1pPr marL="0" inden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yellow circle with black letters and a black background&#10;&#10;Description automatically generated">
            <a:extLst>
              <a:ext uri="{FF2B5EF4-FFF2-40B4-BE49-F238E27FC236}">
                <a16:creationId xmlns:a16="http://schemas.microsoft.com/office/drawing/2014/main" id="{361F23F3-4276-7AC6-FA37-CDC6351B9F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32385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8"/>
          <p:cNvSpPr>
            <a:spLocks noGrp="1"/>
          </p:cNvSpPr>
          <p:nvPr>
            <p:ph sz="quarter" idx="15"/>
          </p:nvPr>
        </p:nvSpPr>
        <p:spPr>
          <a:xfrm>
            <a:off x="60198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5FDBF0D3-6CF9-4440-94E9-AA4A742169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2575675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32385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CB3935A3-C998-9B3D-079E-B7BC7E8C2A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3539502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www.anubhavtrainings.com</a:t>
            </a:r>
          </a:p>
        </p:txBody>
      </p:sp>
      <p:sp>
        <p:nvSpPr>
          <p:cNvPr id="5" name="Slide Number Placeholder 4"/>
          <p:cNvSpPr>
            <a:spLocks noGrp="1"/>
          </p:cNvSpPr>
          <p:nvPr>
            <p:ph type="sldNum" sz="quarter" idx="12"/>
          </p:nvPr>
        </p:nvSpPr>
        <p:spPr>
          <a:xfrm>
            <a:off x="152400" y="4781550"/>
            <a:ext cx="2133600" cy="273844"/>
          </a:xfrm>
        </p:spPr>
        <p:txBody>
          <a:bodyPr/>
          <a:lstStyle>
            <a:lvl1pPr algn="l">
              <a:defRPr/>
            </a:lvl1pPr>
          </a:lstStyle>
          <a:p>
            <a:fld id="{B6F15528-21DE-4FAA-801E-634DDDAF4B2B}" type="slidenum">
              <a:rPr lang="en-US" smtClean="0"/>
              <a:pPr/>
              <a:t>‹#›</a:t>
            </a:fld>
            <a:endParaRPr lang="en-US"/>
          </a:p>
        </p:txBody>
      </p:sp>
      <p:sp>
        <p:nvSpPr>
          <p:cNvPr id="6" name="Title 1"/>
          <p:cNvSpPr>
            <a:spLocks noGrp="1"/>
          </p:cNvSpPr>
          <p:nvPr>
            <p:ph type="title" hasCustomPrompt="1"/>
          </p:nvPr>
        </p:nvSpPr>
        <p:spPr>
          <a:xfrm>
            <a:off x="166577" y="209550"/>
            <a:ext cx="8229600" cy="533401"/>
          </a:xfrm>
          <a:prstGeom prst="rect">
            <a:avLst/>
          </a:prstGeom>
        </p:spPr>
        <p:txBody>
          <a:bodyPr/>
          <a:lstStyle>
            <a:lvl1pPr>
              <a:defRPr sz="2600">
                <a:gradFill>
                  <a:gsLst>
                    <a:gs pos="0">
                      <a:srgbClr val="002060"/>
                    </a:gs>
                    <a:gs pos="100000">
                      <a:srgbClr val="0070C0"/>
                    </a:gs>
                  </a:gsLst>
                  <a:lin ang="5400000" scaled="0"/>
                </a:gradFill>
                <a:latin typeface="Cooper Black" panose="0208090404030B020404" pitchFamily="18" charset="0"/>
              </a:defRPr>
            </a:lvl1pPr>
          </a:lstStyle>
          <a:p>
            <a:r>
              <a:rPr lang="en-US" dirty="0"/>
              <a:t>Click to edit title style</a:t>
            </a:r>
          </a:p>
        </p:txBody>
      </p:sp>
      <p:pic>
        <p:nvPicPr>
          <p:cNvPr id="8" name="Picture 7" descr="A yellow circle with black letters and a black background&#10;&#10;Description automatically generated">
            <a:extLst>
              <a:ext uri="{FF2B5EF4-FFF2-40B4-BE49-F238E27FC236}">
                <a16:creationId xmlns:a16="http://schemas.microsoft.com/office/drawing/2014/main" id="{547D5447-D822-E114-D105-30608DBB5E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10600" y="57150"/>
            <a:ext cx="493786" cy="48771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www.anubhavtrainings.com</a:t>
            </a:r>
          </a:p>
        </p:txBody>
      </p:sp>
      <p:sp>
        <p:nvSpPr>
          <p:cNvPr id="4" name="Slide Number Placeholder 3"/>
          <p:cNvSpPr>
            <a:spLocks noGrp="1"/>
          </p:cNvSpPr>
          <p:nvPr>
            <p:ph type="sldNum" sz="quarter" idx="12"/>
          </p:nvPr>
        </p:nvSpPr>
        <p:spPr>
          <a:xfrm>
            <a:off x="152400" y="4767263"/>
            <a:ext cx="2133600" cy="273844"/>
          </a:xfrm>
        </p:spPr>
        <p:txBody>
          <a:bodyPr/>
          <a:lstStyle>
            <a:lvl1pPr algn="l">
              <a:defRPr/>
            </a:lvl1pPr>
          </a:lstStyle>
          <a:p>
            <a:fld id="{B6F15528-21DE-4FAA-801E-634DDDAF4B2B}" type="slidenum">
              <a:rPr lang="en-US" smtClean="0"/>
              <a:pPr/>
              <a:t>‹#›</a:t>
            </a:fld>
            <a:endParaRPr lang="en-US"/>
          </a:p>
        </p:txBody>
      </p:sp>
      <p:pic>
        <p:nvPicPr>
          <p:cNvPr id="5" name="Picture 4" descr="A yellow circle with black letters and a black background&#10;&#10;Description automatically generated">
            <a:extLst>
              <a:ext uri="{FF2B5EF4-FFF2-40B4-BE49-F238E27FC236}">
                <a16:creationId xmlns:a16="http://schemas.microsoft.com/office/drawing/2014/main" id="{BFC459EA-C247-C5E7-6491-AEF2B5F94E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819150"/>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819150"/>
            <a:ext cx="5111750" cy="3775473"/>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1" y="1733550"/>
            <a:ext cx="3008313" cy="286107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40C7AE83-204E-A484-7237-A7EA3EBC4DA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895349"/>
            <a:ext cx="5486400" cy="265033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23DAEE89-C03B-1705-0782-CE3B90349A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FDBE062A-C013-A203-17DC-F9C61DBF2E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6629400" y="1047749"/>
            <a:ext cx="2057400" cy="3546873"/>
          </a:xfrm>
          <a:prstGeom prst="rect">
            <a:avLst/>
          </a:prstGeom>
        </p:spPr>
        <p:txBody>
          <a:bodyPr vert="eaVert"/>
          <a:lstStyle/>
          <a:p>
            <a:r>
              <a:rPr lang="en-US" dirty="0"/>
              <a:t>Click to edit title style</a:t>
            </a:r>
          </a:p>
        </p:txBody>
      </p:sp>
      <p:sp>
        <p:nvSpPr>
          <p:cNvPr id="3" name="Vertical Text Placeholder 2"/>
          <p:cNvSpPr>
            <a:spLocks noGrp="1"/>
          </p:cNvSpPr>
          <p:nvPr>
            <p:ph type="body" orient="vert" idx="1"/>
          </p:nvPr>
        </p:nvSpPr>
        <p:spPr>
          <a:xfrm>
            <a:off x="457200" y="1047749"/>
            <a:ext cx="6019800" cy="35468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CA6DBE16-F08A-6A41-329C-56621EE536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3">
            <a:lum/>
          </a:blip>
          <a:srcRect/>
          <a:stretch>
            <a:fillRect b="-20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200" y="1352550"/>
            <a:ext cx="8229600" cy="1295400"/>
          </a:xfrm>
          <a:prstGeom prst="rect">
            <a:avLst/>
          </a:prstGeom>
        </p:spPr>
        <p:txBody>
          <a:bodyPr/>
          <a:lstStyle>
            <a:lvl1pPr algn="l">
              <a:defRPr sz="6000" b="1">
                <a:gradFill flip="none" rotWithShape="1">
                  <a:gsLst>
                    <a:gs pos="0">
                      <a:srgbClr val="0070C0"/>
                    </a:gs>
                    <a:gs pos="100000">
                      <a:srgbClr val="00B0F0"/>
                    </a:gs>
                  </a:gsLst>
                  <a:lin ang="16200000" scaled="1"/>
                  <a:tileRect/>
                </a:gradFill>
                <a:effectLst/>
              </a:defRPr>
            </a:lvl1pPr>
          </a:lstStyle>
          <a:p>
            <a:r>
              <a:rPr lang="en-US"/>
              <a:t>Thank You</a:t>
            </a:r>
            <a:endParaRPr lang="en-US" dirty="0"/>
          </a:p>
        </p:txBody>
      </p:sp>
      <p:sp>
        <p:nvSpPr>
          <p:cNvPr id="3" name="Subtitle 2"/>
          <p:cNvSpPr>
            <a:spLocks noGrp="1"/>
          </p:cNvSpPr>
          <p:nvPr>
            <p:ph type="subTitle" idx="1" hasCustomPrompt="1"/>
          </p:nvPr>
        </p:nvSpPr>
        <p:spPr>
          <a:xfrm>
            <a:off x="457200" y="2647950"/>
            <a:ext cx="8229600" cy="914400"/>
          </a:xfrm>
        </p:spPr>
        <p:txBody>
          <a:bodyPr/>
          <a:lstStyle>
            <a:lvl1pPr marL="0" indent="0" algn="l">
              <a:buNone/>
              <a:defRPr>
                <a:solidFill>
                  <a:schemeClr val="tx1">
                    <a:lumMod val="85000"/>
                    <a:lumOff val="15000"/>
                  </a:schemeClr>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Contact Information</a:t>
            </a:r>
            <a:endParaRPr lang="en-US" dirty="0"/>
          </a:p>
        </p:txBody>
      </p:sp>
      <p:pic>
        <p:nvPicPr>
          <p:cNvPr id="4" name="Picture 3" descr="A yellow circle with black letters and a black background&#10;&#10;Description automatically generated">
            <a:extLst>
              <a:ext uri="{FF2B5EF4-FFF2-40B4-BE49-F238E27FC236}">
                <a16:creationId xmlns:a16="http://schemas.microsoft.com/office/drawing/2014/main" id="{624E307F-BC23-D6AD-3DDE-45757A637AC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233806275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0"/>
            <a:ext cx="9144000" cy="5143499"/>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6949" indent="0">
              <a:buNone/>
              <a:defRPr sz="2799"/>
            </a:lvl2pPr>
            <a:lvl3pPr marL="913897" indent="0">
              <a:buNone/>
              <a:defRPr sz="2399"/>
            </a:lvl3pPr>
            <a:lvl4pPr marL="1370846" indent="0">
              <a:buNone/>
              <a:defRPr sz="1999"/>
            </a:lvl4pPr>
            <a:lvl5pPr marL="1827795" indent="0">
              <a:buNone/>
              <a:defRPr sz="1999"/>
            </a:lvl5pPr>
            <a:lvl6pPr marL="2284743" indent="0">
              <a:buNone/>
              <a:defRPr sz="1999"/>
            </a:lvl6pPr>
            <a:lvl7pPr marL="2741692" indent="0">
              <a:buNone/>
              <a:defRPr sz="1999"/>
            </a:lvl7pPr>
            <a:lvl8pPr marL="3198640" indent="0">
              <a:buNone/>
              <a:defRPr sz="1999"/>
            </a:lvl8pPr>
            <a:lvl9pPr marL="3655589" indent="0">
              <a:buNone/>
              <a:defRPr sz="1999"/>
            </a:lvl9pPr>
          </a:lstStyle>
          <a:p>
            <a:r>
              <a:rPr lang="en-US" altLang="ko-KR" dirty="0"/>
              <a:t>Insert Your Image</a:t>
            </a:r>
            <a:endParaRPr lang="ko-KR" altLang="en-US" dirty="0"/>
          </a:p>
        </p:txBody>
      </p:sp>
    </p:spTree>
    <p:extLst>
      <p:ext uri="{BB962C8B-B14F-4D97-AF65-F5344CB8AC3E}">
        <p14:creationId xmlns:p14="http://schemas.microsoft.com/office/powerpoint/2010/main" val="1563480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9144000" cy="2571751"/>
          </a:xfrm>
          <a:prstGeom prst="rect">
            <a:avLst/>
          </a:prstGeom>
          <a:solidFill>
            <a:schemeClr val="bg1">
              <a:lumMod val="95000"/>
            </a:schemeClr>
          </a:solidFill>
        </p:spPr>
        <p:txBody>
          <a:bodyPr>
            <a:normAutofit/>
          </a:bodyPr>
          <a:lstStyle>
            <a:lvl1pPr>
              <a:defRPr sz="788"/>
            </a:lvl1pPr>
          </a:lstStyle>
          <a:p>
            <a:endParaRPr lang="en-US" dirty="0"/>
          </a:p>
        </p:txBody>
      </p:sp>
    </p:spTree>
    <p:extLst>
      <p:ext uri="{BB962C8B-B14F-4D97-AF65-F5344CB8AC3E}">
        <p14:creationId xmlns:p14="http://schemas.microsoft.com/office/powerpoint/2010/main" val="1695279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971550"/>
            <a:ext cx="8229600" cy="36230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940CB006-912F-44E1-9560-9CBFEBE946EF}" type="datetime4">
              <a:rPr lang="en-US" smtClean="0"/>
              <a:t>August 12, 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slidemodel.com</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6" r:id="rId1"/>
    <p:sldLayoutId id="2147483650" r:id="rId2"/>
    <p:sldLayoutId id="2147483651" r:id="rId3"/>
    <p:sldLayoutId id="2147483652" r:id="rId4"/>
    <p:sldLayoutId id="2147483672" r:id="rId5"/>
    <p:sldLayoutId id="2147483673" r:id="rId6"/>
    <p:sldLayoutId id="2147483654" r:id="rId7"/>
    <p:sldLayoutId id="2147483655" r:id="rId8"/>
    <p:sldLayoutId id="2147483656" r:id="rId9"/>
    <p:sldLayoutId id="2147483657" r:id="rId10"/>
    <p:sldLayoutId id="2147483658" r:id="rId11"/>
    <p:sldLayoutId id="2147483659" r:id="rId12"/>
    <p:sldLayoutId id="2147483675" r:id="rId13"/>
    <p:sldLayoutId id="2147483687" r:id="rId14"/>
    <p:sldLayoutId id="2147483688" r:id="rId15"/>
  </p:sldLayoutIdLst>
  <p:hf hdr="0"/>
  <p:txStyles>
    <p:titleStyle>
      <a:lvl1pPr algn="l" defTabSz="914400" rtl="0" eaLnBrk="1" latinLnBrk="0" hangingPunct="1">
        <a:spcBef>
          <a:spcPct val="0"/>
        </a:spcBef>
        <a:buNone/>
        <a:defRPr lang="en-US" sz="2800" b="1" kern="1200" dirty="0">
          <a:gradFill flip="none" rotWithShape="1">
            <a:gsLst>
              <a:gs pos="0">
                <a:srgbClr val="26588D"/>
              </a:gs>
              <a:gs pos="100000">
                <a:srgbClr val="4197C6"/>
              </a:gs>
            </a:gsLst>
            <a:lin ang="16200000" scaled="1"/>
            <a:tileRect/>
          </a:gra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ui5.sap.com/test-resources/sap/m/demokit/cart/webapp/localService/mockdata/images/HT-1020.jpg" TargetMode="External"/><Relationship Id="rId2" Type="http://schemas.openxmlformats.org/officeDocument/2006/relationships/hyperlink" Target="https://orderscapapp.cfapps.eu10.hana.ondemand.com/service/OrderManagement"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71.png"/><Relationship Id="rId2" Type="http://schemas.openxmlformats.org/officeDocument/2006/relationships/customXml" Target="../ink/ink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jp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8.xml"/><Relationship Id="rId5" Type="http://schemas.openxmlformats.org/officeDocument/2006/relationships/image" Target="../media/image7.png"/><Relationship Id="rId4" Type="http://schemas.openxmlformats.org/officeDocument/2006/relationships/hyperlink" Target="http://www.dribbble.com/"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3.jpeg"/><Relationship Id="rId7" Type="http://schemas.openxmlformats.org/officeDocument/2006/relationships/image" Target="../media/image17.tiff"/><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16.tiff"/><Relationship Id="rId5" Type="http://schemas.openxmlformats.org/officeDocument/2006/relationships/image" Target="../media/image15.tiff"/><Relationship Id="rId4" Type="http://schemas.openxmlformats.org/officeDocument/2006/relationships/image" Target="../media/image14.tiff"/><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352550"/>
            <a:ext cx="8229600" cy="1295400"/>
          </a:xfrm>
        </p:spPr>
        <p:txBody>
          <a:bodyPr>
            <a:normAutofit/>
          </a:bodyPr>
          <a:lstStyle/>
          <a:p>
            <a:pPr>
              <a:lnSpc>
                <a:spcPct val="90000"/>
              </a:lnSpc>
            </a:pPr>
            <a:r>
              <a:rPr lang="en-PH" sz="3600" dirty="0"/>
              <a:t>SAP Build Training for Corporate Professionals</a:t>
            </a:r>
          </a:p>
        </p:txBody>
      </p:sp>
      <p:sp>
        <p:nvSpPr>
          <p:cNvPr id="3" name="Subtitle 2"/>
          <p:cNvSpPr>
            <a:spLocks noGrp="1"/>
          </p:cNvSpPr>
          <p:nvPr>
            <p:ph type="subTitle" idx="1"/>
          </p:nvPr>
        </p:nvSpPr>
        <p:spPr>
          <a:xfrm>
            <a:off x="457200" y="2495550"/>
            <a:ext cx="8229600" cy="914400"/>
          </a:xfrm>
        </p:spPr>
        <p:txBody>
          <a:bodyPr>
            <a:normAutofit/>
          </a:bodyPr>
          <a:lstStyle/>
          <a:p>
            <a:r>
              <a:rPr lang="en-PH" sz="3600" b="1">
                <a:solidFill>
                  <a:srgbClr val="00B050"/>
                </a:solidFill>
                <a:latin typeface="Cooper Black" panose="0208090404030B020404" pitchFamily="18" charset="0"/>
              </a:rPr>
              <a:t>www.anubhavtrainings.com</a:t>
            </a:r>
            <a:endParaRPr lang="en-PH" sz="3600" b="1" dirty="0">
              <a:solidFill>
                <a:srgbClr val="00B050"/>
              </a:solidFill>
              <a:latin typeface="Cooper Black" panose="0208090404030B020404" pitchFamily="18" charset="0"/>
            </a:endParaRPr>
          </a:p>
        </p:txBody>
      </p:sp>
      <p:sp>
        <p:nvSpPr>
          <p:cNvPr id="4" name="Google Shape;500;p1">
            <a:extLst>
              <a:ext uri="{FF2B5EF4-FFF2-40B4-BE49-F238E27FC236}">
                <a16:creationId xmlns:a16="http://schemas.microsoft.com/office/drawing/2014/main" id="{A035E2B0-75D9-4BCC-1173-8F7FB8C99C8A}"/>
              </a:ext>
            </a:extLst>
          </p:cNvPr>
          <p:cNvSpPr txBox="1"/>
          <p:nvPr/>
        </p:nvSpPr>
        <p:spPr>
          <a:xfrm>
            <a:off x="609600" y="496005"/>
            <a:ext cx="1828800" cy="646290"/>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dirty="0">
                <a:gradFill flip="none" rotWithShape="1">
                  <a:gsLst>
                    <a:gs pos="0">
                      <a:srgbClr val="0070C0"/>
                    </a:gs>
                    <a:gs pos="100000">
                      <a:srgbClr val="00B0F0"/>
                    </a:gs>
                  </a:gsLst>
                  <a:lin ang="16200000" scaled="1"/>
                  <a:tileRect/>
                </a:gradFill>
                <a:latin typeface="Arial" pitchFamily="34" charset="0"/>
                <a:ea typeface="+mj-ea"/>
                <a:cs typeface="Arial" pitchFamily="34" charset="0"/>
                <a:sym typeface="Corben"/>
              </a:rPr>
              <a:t>DAY-22</a:t>
            </a:r>
          </a:p>
        </p:txBody>
      </p:sp>
      <p:pic>
        <p:nvPicPr>
          <p:cNvPr id="6" name="Google Shape;497;p1">
            <a:extLst>
              <a:ext uri="{FF2B5EF4-FFF2-40B4-BE49-F238E27FC236}">
                <a16:creationId xmlns:a16="http://schemas.microsoft.com/office/drawing/2014/main" id="{503397FB-5BCD-D008-7827-9E43E26D9D15}"/>
              </a:ext>
            </a:extLst>
          </p:cNvPr>
          <p:cNvPicPr preferRelativeResize="0"/>
          <p:nvPr/>
        </p:nvPicPr>
        <p:blipFill rotWithShape="1">
          <a:blip r:embed="rId3">
            <a:alphaModFix/>
          </a:blip>
          <a:srcRect/>
          <a:stretch/>
        </p:blipFill>
        <p:spPr>
          <a:xfrm>
            <a:off x="7010400" y="3181350"/>
            <a:ext cx="1733995" cy="1656184"/>
          </a:xfrm>
          <a:prstGeom prst="rect">
            <a:avLst/>
          </a:prstGeom>
          <a:noFill/>
          <a:ln>
            <a:noFill/>
          </a:ln>
        </p:spPr>
      </p:pic>
    </p:spTree>
    <p:extLst>
      <p:ext uri="{BB962C8B-B14F-4D97-AF65-F5344CB8AC3E}">
        <p14:creationId xmlns:p14="http://schemas.microsoft.com/office/powerpoint/2010/main" val="838087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2382" y="-10043"/>
            <a:ext cx="9139238" cy="5691851"/>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en-US" sz="1349">
              <a:solidFill>
                <a:srgbClr val="FFFFFF"/>
              </a:solidFill>
              <a:latin typeface="Arial" panose="020B0604020202020204"/>
            </a:endParaRPr>
          </a:p>
        </p:txBody>
      </p:sp>
      <p:sp>
        <p:nvSpPr>
          <p:cNvPr id="6" name="Rectangle 5"/>
          <p:cNvSpPr/>
          <p:nvPr/>
        </p:nvSpPr>
        <p:spPr>
          <a:xfrm>
            <a:off x="2382" y="2392863"/>
            <a:ext cx="9139238" cy="188222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ko-KR" altLang="en-US" sz="1349">
              <a:solidFill>
                <a:srgbClr val="FFFFFF"/>
              </a:solidFill>
              <a:latin typeface="Arial" panose="020B0604020202020204"/>
              <a:ea typeface="굴림" panose="020B0600000101010101" pitchFamily="34" charset="-127"/>
            </a:endParaRPr>
          </a:p>
        </p:txBody>
      </p:sp>
      <p:sp>
        <p:nvSpPr>
          <p:cNvPr id="7" name="Rectangle 6"/>
          <p:cNvSpPr/>
          <p:nvPr/>
        </p:nvSpPr>
        <p:spPr>
          <a:xfrm>
            <a:off x="2382" y="2522237"/>
            <a:ext cx="9139238" cy="159582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ko-KR" altLang="en-US" sz="134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2881727" y="2577435"/>
            <a:ext cx="3380548" cy="507703"/>
          </a:xfrm>
          <a:prstGeom prst="rect">
            <a:avLst/>
          </a:prstGeom>
          <a:noFill/>
          <a:ln>
            <a:noFill/>
          </a:ln>
        </p:spPr>
        <p:txBody>
          <a:bodyPr wrap="square" rtlCol="0">
            <a:spAutoFit/>
          </a:bodyPr>
          <a:lstStyle/>
          <a:p>
            <a:pPr algn="ctr" defTabSz="685457">
              <a:defRPr/>
            </a:pPr>
            <a:r>
              <a:rPr lang="en-IN" sz="26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2474" spc="113"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332706" y="3044889"/>
            <a:ext cx="8478590" cy="922945"/>
          </a:xfrm>
          <a:prstGeom prst="rect">
            <a:avLst/>
          </a:prstGeom>
          <a:noFill/>
          <a:ln>
            <a:noFill/>
          </a:ln>
        </p:spPr>
        <p:txBody>
          <a:bodyPr wrap="square" rtlCol="0">
            <a:spAutoFit/>
          </a:bodyPr>
          <a:lstStyle/>
          <a:p>
            <a:pPr algn="ctr" defTabSz="685457">
              <a:defRPr/>
            </a:pPr>
            <a:r>
              <a:rPr lang="en-IN" sz="17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 name="Straight Connector 31"/>
          <p:cNvCxnSpPr/>
          <p:nvPr/>
        </p:nvCxnSpPr>
        <p:spPr>
          <a:xfrm>
            <a:off x="609600" y="2190750"/>
            <a:ext cx="7924800" cy="1588"/>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Footer Placeholder 8"/>
          <p:cNvSpPr>
            <a:spLocks noGrp="1"/>
          </p:cNvSpPr>
          <p:nvPr>
            <p:ph type="ftr" sz="quarter" idx="11"/>
          </p:nvPr>
        </p:nvSpPr>
        <p:spPr/>
        <p:txBody>
          <a:bodyPr/>
          <a:lstStyle/>
          <a:p>
            <a:r>
              <a:rPr lang="en-US" dirty="0"/>
              <a:t>www.anubhavtrainings.com</a:t>
            </a:r>
          </a:p>
        </p:txBody>
      </p:sp>
      <p:sp>
        <p:nvSpPr>
          <p:cNvPr id="16" name="Slide Number Placeholder 15"/>
          <p:cNvSpPr>
            <a:spLocks noGrp="1"/>
          </p:cNvSpPr>
          <p:nvPr>
            <p:ph type="sldNum" sz="quarter" idx="12"/>
          </p:nvPr>
        </p:nvSpPr>
        <p:spPr/>
        <p:txBody>
          <a:bodyPr/>
          <a:lstStyle/>
          <a:p>
            <a:fld id="{B6F15528-21DE-4FAA-801E-634DDDAF4B2B}" type="slidenum">
              <a:rPr lang="en-US" smtClean="0"/>
              <a:pPr/>
              <a:t>3</a:t>
            </a:fld>
            <a:endParaRPr lang="en-US"/>
          </a:p>
        </p:txBody>
      </p:sp>
      <p:sp>
        <p:nvSpPr>
          <p:cNvPr id="2" name="Title 1"/>
          <p:cNvSpPr>
            <a:spLocks noGrp="1"/>
          </p:cNvSpPr>
          <p:nvPr>
            <p:ph type="title"/>
          </p:nvPr>
        </p:nvSpPr>
        <p:spPr/>
        <p:txBody>
          <a:bodyPr/>
          <a:lstStyle/>
          <a:p>
            <a:r>
              <a:rPr lang="en-US" dirty="0"/>
              <a:t>Agenda</a:t>
            </a:r>
          </a:p>
        </p:txBody>
      </p:sp>
      <p:grpSp>
        <p:nvGrpSpPr>
          <p:cNvPr id="8" name="Group 7"/>
          <p:cNvGrpSpPr/>
          <p:nvPr/>
        </p:nvGrpSpPr>
        <p:grpSpPr>
          <a:xfrm>
            <a:off x="1219200" y="1733550"/>
            <a:ext cx="6705600" cy="933450"/>
            <a:chOff x="914400" y="2190750"/>
            <a:chExt cx="6705600" cy="933450"/>
          </a:xfrm>
          <a:solidFill>
            <a:srgbClr val="0563B8"/>
          </a:solidFill>
        </p:grpSpPr>
        <p:sp>
          <p:nvSpPr>
            <p:cNvPr id="4" name="Oval 3"/>
            <p:cNvSpPr/>
            <p:nvPr/>
          </p:nvSpPr>
          <p:spPr>
            <a:xfrm>
              <a:off x="91440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283845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76250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68655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p:cNvSpPr txBox="1"/>
          <p:nvPr/>
        </p:nvSpPr>
        <p:spPr>
          <a:xfrm>
            <a:off x="6705600" y="2929176"/>
            <a:ext cx="1600200" cy="307777"/>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Navigation</a:t>
            </a:r>
            <a:endParaRPr lang="en-US" sz="1050" dirty="0">
              <a:solidFill>
                <a:schemeClr val="bg1">
                  <a:lumMod val="50000"/>
                </a:schemeClr>
              </a:solidFill>
              <a:latin typeface="Arial" pitchFamily="34" charset="0"/>
              <a:cs typeface="Arial" pitchFamily="34" charset="0"/>
            </a:endParaRPr>
          </a:p>
        </p:txBody>
      </p:sp>
      <p:grpSp>
        <p:nvGrpSpPr>
          <p:cNvPr id="28" name="Group 27"/>
          <p:cNvGrpSpPr/>
          <p:nvPr/>
        </p:nvGrpSpPr>
        <p:grpSpPr>
          <a:xfrm>
            <a:off x="1457325" y="1952625"/>
            <a:ext cx="443206" cy="484863"/>
            <a:chOff x="1981201" y="1547809"/>
            <a:chExt cx="443206" cy="484863"/>
          </a:xfrm>
          <a:solidFill>
            <a:schemeClr val="bg1"/>
          </a:solidFill>
        </p:grpSpPr>
        <p:sp>
          <p:nvSpPr>
            <p:cNvPr id="1030" name="Freeform 6"/>
            <p:cNvSpPr>
              <a:spLocks noEditPoints="1"/>
            </p:cNvSpPr>
            <p:nvPr/>
          </p:nvSpPr>
          <p:spPr bwMode="auto">
            <a:xfrm>
              <a:off x="2085003" y="1547809"/>
              <a:ext cx="339404" cy="340770"/>
            </a:xfrm>
            <a:custGeom>
              <a:avLst/>
              <a:gdLst/>
              <a:ahLst/>
              <a:cxnLst>
                <a:cxn ang="0">
                  <a:pos x="219" y="91"/>
                </a:cxn>
                <a:cxn ang="0">
                  <a:pos x="166" y="110"/>
                </a:cxn>
                <a:cxn ang="0">
                  <a:pos x="123" y="147"/>
                </a:cxn>
                <a:cxn ang="0">
                  <a:pos x="96" y="197"/>
                </a:cxn>
                <a:cxn ang="0">
                  <a:pos x="87" y="251"/>
                </a:cxn>
                <a:cxn ang="0">
                  <a:pos x="97" y="306"/>
                </a:cxn>
                <a:cxn ang="0">
                  <a:pos x="126" y="354"/>
                </a:cxn>
                <a:cxn ang="0">
                  <a:pos x="170" y="390"/>
                </a:cxn>
                <a:cxn ang="0">
                  <a:pos x="223" y="410"/>
                </a:cxn>
                <a:cxn ang="0">
                  <a:pos x="279" y="408"/>
                </a:cxn>
                <a:cxn ang="0">
                  <a:pos x="330" y="389"/>
                </a:cxn>
                <a:cxn ang="0">
                  <a:pos x="373" y="352"/>
                </a:cxn>
                <a:cxn ang="0">
                  <a:pos x="401" y="301"/>
                </a:cxn>
                <a:cxn ang="0">
                  <a:pos x="409" y="247"/>
                </a:cxn>
                <a:cxn ang="0">
                  <a:pos x="399" y="193"/>
                </a:cxn>
                <a:cxn ang="0">
                  <a:pos x="370" y="145"/>
                </a:cxn>
                <a:cxn ang="0">
                  <a:pos x="326" y="108"/>
                </a:cxn>
                <a:cxn ang="0">
                  <a:pos x="274" y="90"/>
                </a:cxn>
                <a:cxn ang="0">
                  <a:pos x="241" y="0"/>
                </a:cxn>
                <a:cxn ang="0">
                  <a:pos x="310" y="8"/>
                </a:cxn>
                <a:cxn ang="0">
                  <a:pos x="376" y="35"/>
                </a:cxn>
                <a:cxn ang="0">
                  <a:pos x="433" y="82"/>
                </a:cxn>
                <a:cxn ang="0">
                  <a:pos x="472" y="141"/>
                </a:cxn>
                <a:cxn ang="0">
                  <a:pos x="494" y="207"/>
                </a:cxn>
                <a:cxn ang="0">
                  <a:pos x="495" y="278"/>
                </a:cxn>
                <a:cxn ang="0">
                  <a:pos x="478" y="345"/>
                </a:cxn>
                <a:cxn ang="0">
                  <a:pos x="441" y="407"/>
                </a:cxn>
                <a:cxn ang="0">
                  <a:pos x="387" y="456"/>
                </a:cxn>
                <a:cxn ang="0">
                  <a:pos x="324" y="487"/>
                </a:cxn>
                <a:cxn ang="0">
                  <a:pos x="256" y="499"/>
                </a:cxn>
                <a:cxn ang="0">
                  <a:pos x="187" y="491"/>
                </a:cxn>
                <a:cxn ang="0">
                  <a:pos x="121" y="464"/>
                </a:cxn>
                <a:cxn ang="0">
                  <a:pos x="64" y="418"/>
                </a:cxn>
                <a:cxn ang="0">
                  <a:pos x="25" y="358"/>
                </a:cxn>
                <a:cxn ang="0">
                  <a:pos x="3" y="292"/>
                </a:cxn>
                <a:cxn ang="0">
                  <a:pos x="2" y="222"/>
                </a:cxn>
                <a:cxn ang="0">
                  <a:pos x="19" y="155"/>
                </a:cxn>
                <a:cxn ang="0">
                  <a:pos x="56" y="92"/>
                </a:cxn>
                <a:cxn ang="0">
                  <a:pos x="110" y="43"/>
                </a:cxn>
                <a:cxn ang="0">
                  <a:pos x="173" y="13"/>
                </a:cxn>
                <a:cxn ang="0">
                  <a:pos x="241" y="0"/>
                </a:cxn>
              </a:cxnLst>
              <a:rect l="0" t="0" r="r" b="b"/>
              <a:pathLst>
                <a:path w="497" h="499">
                  <a:moveTo>
                    <a:pt x="246" y="88"/>
                  </a:moveTo>
                  <a:lnTo>
                    <a:pt x="219" y="91"/>
                  </a:lnTo>
                  <a:lnTo>
                    <a:pt x="192" y="98"/>
                  </a:lnTo>
                  <a:lnTo>
                    <a:pt x="166" y="110"/>
                  </a:lnTo>
                  <a:lnTo>
                    <a:pt x="144" y="126"/>
                  </a:lnTo>
                  <a:lnTo>
                    <a:pt x="123" y="147"/>
                  </a:lnTo>
                  <a:lnTo>
                    <a:pt x="107" y="171"/>
                  </a:lnTo>
                  <a:lnTo>
                    <a:pt x="96" y="197"/>
                  </a:lnTo>
                  <a:lnTo>
                    <a:pt x="89" y="224"/>
                  </a:lnTo>
                  <a:lnTo>
                    <a:pt x="87" y="251"/>
                  </a:lnTo>
                  <a:lnTo>
                    <a:pt x="90" y="280"/>
                  </a:lnTo>
                  <a:lnTo>
                    <a:pt x="97" y="306"/>
                  </a:lnTo>
                  <a:lnTo>
                    <a:pt x="110" y="331"/>
                  </a:lnTo>
                  <a:lnTo>
                    <a:pt x="126" y="354"/>
                  </a:lnTo>
                  <a:lnTo>
                    <a:pt x="146" y="374"/>
                  </a:lnTo>
                  <a:lnTo>
                    <a:pt x="170" y="390"/>
                  </a:lnTo>
                  <a:lnTo>
                    <a:pt x="196" y="403"/>
                  </a:lnTo>
                  <a:lnTo>
                    <a:pt x="223" y="410"/>
                  </a:lnTo>
                  <a:lnTo>
                    <a:pt x="250" y="411"/>
                  </a:lnTo>
                  <a:lnTo>
                    <a:pt x="279" y="408"/>
                  </a:lnTo>
                  <a:lnTo>
                    <a:pt x="305" y="400"/>
                  </a:lnTo>
                  <a:lnTo>
                    <a:pt x="330" y="389"/>
                  </a:lnTo>
                  <a:lnTo>
                    <a:pt x="352" y="372"/>
                  </a:lnTo>
                  <a:lnTo>
                    <a:pt x="373" y="352"/>
                  </a:lnTo>
                  <a:lnTo>
                    <a:pt x="388" y="328"/>
                  </a:lnTo>
                  <a:lnTo>
                    <a:pt x="401" y="301"/>
                  </a:lnTo>
                  <a:lnTo>
                    <a:pt x="408" y="275"/>
                  </a:lnTo>
                  <a:lnTo>
                    <a:pt x="409" y="247"/>
                  </a:lnTo>
                  <a:lnTo>
                    <a:pt x="407" y="220"/>
                  </a:lnTo>
                  <a:lnTo>
                    <a:pt x="399" y="193"/>
                  </a:lnTo>
                  <a:lnTo>
                    <a:pt x="387" y="167"/>
                  </a:lnTo>
                  <a:lnTo>
                    <a:pt x="370" y="145"/>
                  </a:lnTo>
                  <a:lnTo>
                    <a:pt x="350" y="124"/>
                  </a:lnTo>
                  <a:lnTo>
                    <a:pt x="326" y="108"/>
                  </a:lnTo>
                  <a:lnTo>
                    <a:pt x="300" y="97"/>
                  </a:lnTo>
                  <a:lnTo>
                    <a:pt x="274" y="90"/>
                  </a:lnTo>
                  <a:lnTo>
                    <a:pt x="246" y="88"/>
                  </a:lnTo>
                  <a:close/>
                  <a:moveTo>
                    <a:pt x="241" y="0"/>
                  </a:moveTo>
                  <a:lnTo>
                    <a:pt x="276" y="2"/>
                  </a:lnTo>
                  <a:lnTo>
                    <a:pt x="310" y="8"/>
                  </a:lnTo>
                  <a:lnTo>
                    <a:pt x="343" y="19"/>
                  </a:lnTo>
                  <a:lnTo>
                    <a:pt x="376" y="35"/>
                  </a:lnTo>
                  <a:lnTo>
                    <a:pt x="405" y="57"/>
                  </a:lnTo>
                  <a:lnTo>
                    <a:pt x="433" y="82"/>
                  </a:lnTo>
                  <a:lnTo>
                    <a:pt x="454" y="110"/>
                  </a:lnTo>
                  <a:lnTo>
                    <a:pt x="472" y="141"/>
                  </a:lnTo>
                  <a:lnTo>
                    <a:pt x="485" y="174"/>
                  </a:lnTo>
                  <a:lnTo>
                    <a:pt x="494" y="207"/>
                  </a:lnTo>
                  <a:lnTo>
                    <a:pt x="497" y="242"/>
                  </a:lnTo>
                  <a:lnTo>
                    <a:pt x="495" y="278"/>
                  </a:lnTo>
                  <a:lnTo>
                    <a:pt x="489" y="312"/>
                  </a:lnTo>
                  <a:lnTo>
                    <a:pt x="478" y="345"/>
                  </a:lnTo>
                  <a:lnTo>
                    <a:pt x="462" y="378"/>
                  </a:lnTo>
                  <a:lnTo>
                    <a:pt x="441" y="407"/>
                  </a:lnTo>
                  <a:lnTo>
                    <a:pt x="416" y="435"/>
                  </a:lnTo>
                  <a:lnTo>
                    <a:pt x="387" y="456"/>
                  </a:lnTo>
                  <a:lnTo>
                    <a:pt x="357" y="474"/>
                  </a:lnTo>
                  <a:lnTo>
                    <a:pt x="324" y="487"/>
                  </a:lnTo>
                  <a:lnTo>
                    <a:pt x="291" y="496"/>
                  </a:lnTo>
                  <a:lnTo>
                    <a:pt x="256" y="499"/>
                  </a:lnTo>
                  <a:lnTo>
                    <a:pt x="221" y="497"/>
                  </a:lnTo>
                  <a:lnTo>
                    <a:pt x="187" y="491"/>
                  </a:lnTo>
                  <a:lnTo>
                    <a:pt x="154" y="480"/>
                  </a:lnTo>
                  <a:lnTo>
                    <a:pt x="121" y="464"/>
                  </a:lnTo>
                  <a:lnTo>
                    <a:pt x="92" y="443"/>
                  </a:lnTo>
                  <a:lnTo>
                    <a:pt x="64" y="418"/>
                  </a:lnTo>
                  <a:lnTo>
                    <a:pt x="43" y="389"/>
                  </a:lnTo>
                  <a:lnTo>
                    <a:pt x="25" y="358"/>
                  </a:lnTo>
                  <a:lnTo>
                    <a:pt x="12" y="325"/>
                  </a:lnTo>
                  <a:lnTo>
                    <a:pt x="3" y="292"/>
                  </a:lnTo>
                  <a:lnTo>
                    <a:pt x="0" y="257"/>
                  </a:lnTo>
                  <a:lnTo>
                    <a:pt x="2" y="222"/>
                  </a:lnTo>
                  <a:lnTo>
                    <a:pt x="8" y="188"/>
                  </a:lnTo>
                  <a:lnTo>
                    <a:pt x="19" y="155"/>
                  </a:lnTo>
                  <a:lnTo>
                    <a:pt x="35" y="122"/>
                  </a:lnTo>
                  <a:lnTo>
                    <a:pt x="56" y="92"/>
                  </a:lnTo>
                  <a:lnTo>
                    <a:pt x="81" y="65"/>
                  </a:lnTo>
                  <a:lnTo>
                    <a:pt x="110" y="43"/>
                  </a:lnTo>
                  <a:lnTo>
                    <a:pt x="140" y="25"/>
                  </a:lnTo>
                  <a:lnTo>
                    <a:pt x="173" y="13"/>
                  </a:lnTo>
                  <a:lnTo>
                    <a:pt x="206" y="3"/>
                  </a:lnTo>
                  <a:lnTo>
                    <a:pt x="24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1" name="Freeform 7"/>
            <p:cNvSpPr>
              <a:spLocks/>
            </p:cNvSpPr>
            <p:nvPr/>
          </p:nvSpPr>
          <p:spPr bwMode="auto">
            <a:xfrm>
              <a:off x="1981201" y="1803216"/>
              <a:ext cx="204872" cy="229456"/>
            </a:xfrm>
            <a:custGeom>
              <a:avLst/>
              <a:gdLst/>
              <a:ahLst/>
              <a:cxnLst>
                <a:cxn ang="0">
                  <a:pos x="221" y="0"/>
                </a:cxn>
                <a:cxn ang="0">
                  <a:pos x="232" y="4"/>
                </a:cxn>
                <a:cxn ang="0">
                  <a:pos x="242" y="11"/>
                </a:cxn>
                <a:cxn ang="0">
                  <a:pos x="287" y="47"/>
                </a:cxn>
                <a:cxn ang="0">
                  <a:pos x="295" y="56"/>
                </a:cxn>
                <a:cxn ang="0">
                  <a:pos x="299" y="66"/>
                </a:cxn>
                <a:cxn ang="0">
                  <a:pos x="300" y="78"/>
                </a:cxn>
                <a:cxn ang="0">
                  <a:pos x="298" y="89"/>
                </a:cxn>
                <a:cxn ang="0">
                  <a:pos x="292" y="99"/>
                </a:cxn>
                <a:cxn ang="0">
                  <a:pos x="111" y="322"/>
                </a:cxn>
                <a:cxn ang="0">
                  <a:pos x="100" y="331"/>
                </a:cxn>
                <a:cxn ang="0">
                  <a:pos x="85" y="336"/>
                </a:cxn>
                <a:cxn ang="0">
                  <a:pos x="71" y="335"/>
                </a:cxn>
                <a:cxn ang="0">
                  <a:pos x="58" y="328"/>
                </a:cxn>
                <a:cxn ang="0">
                  <a:pos x="14" y="292"/>
                </a:cxn>
                <a:cxn ang="0">
                  <a:pos x="5" y="280"/>
                </a:cxn>
                <a:cxn ang="0">
                  <a:pos x="0" y="265"/>
                </a:cxn>
                <a:cxn ang="0">
                  <a:pos x="1" y="252"/>
                </a:cxn>
                <a:cxn ang="0">
                  <a:pos x="8" y="238"/>
                </a:cxn>
                <a:cxn ang="0">
                  <a:pos x="190" y="15"/>
                </a:cxn>
                <a:cxn ang="0">
                  <a:pos x="199" y="7"/>
                </a:cxn>
                <a:cxn ang="0">
                  <a:pos x="210" y="3"/>
                </a:cxn>
                <a:cxn ang="0">
                  <a:pos x="221" y="0"/>
                </a:cxn>
              </a:cxnLst>
              <a:rect l="0" t="0" r="r" b="b"/>
              <a:pathLst>
                <a:path w="300" h="336">
                  <a:moveTo>
                    <a:pt x="221" y="0"/>
                  </a:moveTo>
                  <a:lnTo>
                    <a:pt x="232" y="4"/>
                  </a:lnTo>
                  <a:lnTo>
                    <a:pt x="242" y="11"/>
                  </a:lnTo>
                  <a:lnTo>
                    <a:pt x="287" y="47"/>
                  </a:lnTo>
                  <a:lnTo>
                    <a:pt x="295" y="56"/>
                  </a:lnTo>
                  <a:lnTo>
                    <a:pt x="299" y="66"/>
                  </a:lnTo>
                  <a:lnTo>
                    <a:pt x="300" y="78"/>
                  </a:lnTo>
                  <a:lnTo>
                    <a:pt x="298" y="89"/>
                  </a:lnTo>
                  <a:lnTo>
                    <a:pt x="292" y="99"/>
                  </a:lnTo>
                  <a:lnTo>
                    <a:pt x="111" y="322"/>
                  </a:lnTo>
                  <a:lnTo>
                    <a:pt x="100" y="331"/>
                  </a:lnTo>
                  <a:lnTo>
                    <a:pt x="85" y="336"/>
                  </a:lnTo>
                  <a:lnTo>
                    <a:pt x="71" y="335"/>
                  </a:lnTo>
                  <a:lnTo>
                    <a:pt x="58" y="328"/>
                  </a:lnTo>
                  <a:lnTo>
                    <a:pt x="14" y="292"/>
                  </a:lnTo>
                  <a:lnTo>
                    <a:pt x="5" y="280"/>
                  </a:lnTo>
                  <a:lnTo>
                    <a:pt x="0" y="265"/>
                  </a:lnTo>
                  <a:lnTo>
                    <a:pt x="1" y="252"/>
                  </a:lnTo>
                  <a:lnTo>
                    <a:pt x="8" y="238"/>
                  </a:lnTo>
                  <a:lnTo>
                    <a:pt x="190" y="15"/>
                  </a:lnTo>
                  <a:lnTo>
                    <a:pt x="199" y="7"/>
                  </a:lnTo>
                  <a:lnTo>
                    <a:pt x="210" y="3"/>
                  </a:lnTo>
                  <a:lnTo>
                    <a:pt x="2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9" name="Group 28"/>
          <p:cNvGrpSpPr/>
          <p:nvPr/>
        </p:nvGrpSpPr>
        <p:grpSpPr>
          <a:xfrm>
            <a:off x="3362325" y="1924050"/>
            <a:ext cx="482814" cy="544275"/>
            <a:chOff x="2698251" y="1515030"/>
            <a:chExt cx="482814" cy="544275"/>
          </a:xfrm>
          <a:solidFill>
            <a:schemeClr val="bg1"/>
          </a:solidFill>
        </p:grpSpPr>
        <p:sp>
          <p:nvSpPr>
            <p:cNvPr id="1032" name="Freeform 8"/>
            <p:cNvSpPr>
              <a:spLocks noEditPoints="1"/>
            </p:cNvSpPr>
            <p:nvPr/>
          </p:nvSpPr>
          <p:spPr bwMode="auto">
            <a:xfrm>
              <a:off x="2698251" y="1575125"/>
              <a:ext cx="482814" cy="484180"/>
            </a:xfrm>
            <a:custGeom>
              <a:avLst/>
              <a:gdLst/>
              <a:ahLst/>
              <a:cxnLst>
                <a:cxn ang="0">
                  <a:pos x="79" y="78"/>
                </a:cxn>
                <a:cxn ang="0">
                  <a:pos x="79" y="631"/>
                </a:cxn>
                <a:cxn ang="0">
                  <a:pos x="629" y="631"/>
                </a:cxn>
                <a:cxn ang="0">
                  <a:pos x="629" y="78"/>
                </a:cxn>
                <a:cxn ang="0">
                  <a:pos x="79" y="78"/>
                </a:cxn>
                <a:cxn ang="0">
                  <a:pos x="71" y="0"/>
                </a:cxn>
                <a:cxn ang="0">
                  <a:pos x="637" y="0"/>
                </a:cxn>
                <a:cxn ang="0">
                  <a:pos x="655" y="2"/>
                </a:cxn>
                <a:cxn ang="0">
                  <a:pos x="672" y="10"/>
                </a:cxn>
                <a:cxn ang="0">
                  <a:pos x="687" y="20"/>
                </a:cxn>
                <a:cxn ang="0">
                  <a:pos x="697" y="35"/>
                </a:cxn>
                <a:cxn ang="0">
                  <a:pos x="705" y="52"/>
                </a:cxn>
                <a:cxn ang="0">
                  <a:pos x="707" y="70"/>
                </a:cxn>
                <a:cxn ang="0">
                  <a:pos x="707" y="638"/>
                </a:cxn>
                <a:cxn ang="0">
                  <a:pos x="705" y="657"/>
                </a:cxn>
                <a:cxn ang="0">
                  <a:pos x="697" y="674"/>
                </a:cxn>
                <a:cxn ang="0">
                  <a:pos x="687" y="688"/>
                </a:cxn>
                <a:cxn ang="0">
                  <a:pos x="672" y="699"/>
                </a:cxn>
                <a:cxn ang="0">
                  <a:pos x="655" y="706"/>
                </a:cxn>
                <a:cxn ang="0">
                  <a:pos x="637" y="709"/>
                </a:cxn>
                <a:cxn ang="0">
                  <a:pos x="71" y="709"/>
                </a:cxn>
                <a:cxn ang="0">
                  <a:pos x="53" y="706"/>
                </a:cxn>
                <a:cxn ang="0">
                  <a:pos x="36" y="699"/>
                </a:cxn>
                <a:cxn ang="0">
                  <a:pos x="21" y="688"/>
                </a:cxn>
                <a:cxn ang="0">
                  <a:pos x="11" y="674"/>
                </a:cxn>
                <a:cxn ang="0">
                  <a:pos x="3" y="657"/>
                </a:cxn>
                <a:cxn ang="0">
                  <a:pos x="0" y="638"/>
                </a:cxn>
                <a:cxn ang="0">
                  <a:pos x="0" y="70"/>
                </a:cxn>
                <a:cxn ang="0">
                  <a:pos x="3" y="52"/>
                </a:cxn>
                <a:cxn ang="0">
                  <a:pos x="11" y="35"/>
                </a:cxn>
                <a:cxn ang="0">
                  <a:pos x="21" y="20"/>
                </a:cxn>
                <a:cxn ang="0">
                  <a:pos x="36" y="10"/>
                </a:cxn>
                <a:cxn ang="0">
                  <a:pos x="53" y="2"/>
                </a:cxn>
                <a:cxn ang="0">
                  <a:pos x="71" y="0"/>
                </a:cxn>
              </a:cxnLst>
              <a:rect l="0" t="0" r="r" b="b"/>
              <a:pathLst>
                <a:path w="707" h="709">
                  <a:moveTo>
                    <a:pt x="79" y="78"/>
                  </a:moveTo>
                  <a:lnTo>
                    <a:pt x="79" y="631"/>
                  </a:lnTo>
                  <a:lnTo>
                    <a:pt x="629" y="631"/>
                  </a:lnTo>
                  <a:lnTo>
                    <a:pt x="629" y="78"/>
                  </a:lnTo>
                  <a:lnTo>
                    <a:pt x="79" y="78"/>
                  </a:lnTo>
                  <a:close/>
                  <a:moveTo>
                    <a:pt x="71" y="0"/>
                  </a:moveTo>
                  <a:lnTo>
                    <a:pt x="637" y="0"/>
                  </a:lnTo>
                  <a:lnTo>
                    <a:pt x="655" y="2"/>
                  </a:lnTo>
                  <a:lnTo>
                    <a:pt x="672" y="10"/>
                  </a:lnTo>
                  <a:lnTo>
                    <a:pt x="687" y="20"/>
                  </a:lnTo>
                  <a:lnTo>
                    <a:pt x="697" y="35"/>
                  </a:lnTo>
                  <a:lnTo>
                    <a:pt x="705" y="52"/>
                  </a:lnTo>
                  <a:lnTo>
                    <a:pt x="707" y="70"/>
                  </a:lnTo>
                  <a:lnTo>
                    <a:pt x="707" y="638"/>
                  </a:lnTo>
                  <a:lnTo>
                    <a:pt x="705" y="657"/>
                  </a:lnTo>
                  <a:lnTo>
                    <a:pt x="697" y="674"/>
                  </a:lnTo>
                  <a:lnTo>
                    <a:pt x="687" y="688"/>
                  </a:lnTo>
                  <a:lnTo>
                    <a:pt x="672" y="699"/>
                  </a:lnTo>
                  <a:lnTo>
                    <a:pt x="655" y="706"/>
                  </a:lnTo>
                  <a:lnTo>
                    <a:pt x="637" y="709"/>
                  </a:lnTo>
                  <a:lnTo>
                    <a:pt x="71" y="709"/>
                  </a:lnTo>
                  <a:lnTo>
                    <a:pt x="53" y="706"/>
                  </a:lnTo>
                  <a:lnTo>
                    <a:pt x="36" y="699"/>
                  </a:lnTo>
                  <a:lnTo>
                    <a:pt x="21" y="688"/>
                  </a:lnTo>
                  <a:lnTo>
                    <a:pt x="11" y="674"/>
                  </a:lnTo>
                  <a:lnTo>
                    <a:pt x="3" y="657"/>
                  </a:lnTo>
                  <a:lnTo>
                    <a:pt x="0" y="638"/>
                  </a:lnTo>
                  <a:lnTo>
                    <a:pt x="0" y="70"/>
                  </a:lnTo>
                  <a:lnTo>
                    <a:pt x="3" y="52"/>
                  </a:lnTo>
                  <a:lnTo>
                    <a:pt x="11" y="35"/>
                  </a:lnTo>
                  <a:lnTo>
                    <a:pt x="21" y="20"/>
                  </a:lnTo>
                  <a:lnTo>
                    <a:pt x="36" y="10"/>
                  </a:lnTo>
                  <a:lnTo>
                    <a:pt x="53" y="2"/>
                  </a:lnTo>
                  <a:lnTo>
                    <a:pt x="7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3" name="Freeform 9"/>
            <p:cNvSpPr>
              <a:spLocks/>
            </p:cNvSpPr>
            <p:nvPr/>
          </p:nvSpPr>
          <p:spPr bwMode="auto">
            <a:xfrm>
              <a:off x="2817077" y="1515030"/>
              <a:ext cx="55998" cy="172775"/>
            </a:xfrm>
            <a:custGeom>
              <a:avLst/>
              <a:gdLst/>
              <a:ahLst/>
              <a:cxnLst>
                <a:cxn ang="0">
                  <a:pos x="31" y="0"/>
                </a:cxn>
                <a:cxn ang="0">
                  <a:pos x="51" y="0"/>
                </a:cxn>
                <a:cxn ang="0">
                  <a:pos x="63" y="3"/>
                </a:cxn>
                <a:cxn ang="0">
                  <a:pos x="73" y="9"/>
                </a:cxn>
                <a:cxn ang="0">
                  <a:pos x="80" y="20"/>
                </a:cxn>
                <a:cxn ang="0">
                  <a:pos x="82" y="32"/>
                </a:cxn>
                <a:cxn ang="0">
                  <a:pos x="82" y="222"/>
                </a:cxn>
                <a:cxn ang="0">
                  <a:pos x="80" y="235"/>
                </a:cxn>
                <a:cxn ang="0">
                  <a:pos x="73" y="244"/>
                </a:cxn>
                <a:cxn ang="0">
                  <a:pos x="63" y="251"/>
                </a:cxn>
                <a:cxn ang="0">
                  <a:pos x="51" y="253"/>
                </a:cxn>
                <a:cxn ang="0">
                  <a:pos x="31" y="253"/>
                </a:cxn>
                <a:cxn ang="0">
                  <a:pos x="19" y="251"/>
                </a:cxn>
                <a:cxn ang="0">
                  <a:pos x="9" y="244"/>
                </a:cxn>
                <a:cxn ang="0">
                  <a:pos x="2" y="235"/>
                </a:cxn>
                <a:cxn ang="0">
                  <a:pos x="0" y="222"/>
                </a:cxn>
                <a:cxn ang="0">
                  <a:pos x="0" y="32"/>
                </a:cxn>
                <a:cxn ang="0">
                  <a:pos x="2" y="20"/>
                </a:cxn>
                <a:cxn ang="0">
                  <a:pos x="9" y="9"/>
                </a:cxn>
                <a:cxn ang="0">
                  <a:pos x="19" y="3"/>
                </a:cxn>
                <a:cxn ang="0">
                  <a:pos x="31" y="0"/>
                </a:cxn>
              </a:cxnLst>
              <a:rect l="0" t="0" r="r" b="b"/>
              <a:pathLst>
                <a:path w="82" h="253">
                  <a:moveTo>
                    <a:pt x="31" y="0"/>
                  </a:moveTo>
                  <a:lnTo>
                    <a:pt x="51" y="0"/>
                  </a:lnTo>
                  <a:lnTo>
                    <a:pt x="63" y="3"/>
                  </a:lnTo>
                  <a:lnTo>
                    <a:pt x="73" y="9"/>
                  </a:lnTo>
                  <a:lnTo>
                    <a:pt x="80" y="20"/>
                  </a:lnTo>
                  <a:lnTo>
                    <a:pt x="82" y="32"/>
                  </a:lnTo>
                  <a:lnTo>
                    <a:pt x="82" y="222"/>
                  </a:lnTo>
                  <a:lnTo>
                    <a:pt x="80" y="235"/>
                  </a:lnTo>
                  <a:lnTo>
                    <a:pt x="73" y="244"/>
                  </a:lnTo>
                  <a:lnTo>
                    <a:pt x="63" y="251"/>
                  </a:lnTo>
                  <a:lnTo>
                    <a:pt x="51" y="253"/>
                  </a:lnTo>
                  <a:lnTo>
                    <a:pt x="31" y="253"/>
                  </a:lnTo>
                  <a:lnTo>
                    <a:pt x="19" y="251"/>
                  </a:lnTo>
                  <a:lnTo>
                    <a:pt x="9" y="244"/>
                  </a:lnTo>
                  <a:lnTo>
                    <a:pt x="2" y="235"/>
                  </a:lnTo>
                  <a:lnTo>
                    <a:pt x="0" y="222"/>
                  </a:lnTo>
                  <a:lnTo>
                    <a:pt x="0" y="32"/>
                  </a:lnTo>
                  <a:lnTo>
                    <a:pt x="2" y="20"/>
                  </a:lnTo>
                  <a:lnTo>
                    <a:pt x="9" y="9"/>
                  </a:lnTo>
                  <a:lnTo>
                    <a:pt x="19" y="3"/>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4" name="Freeform 10"/>
            <p:cNvSpPr>
              <a:spLocks/>
            </p:cNvSpPr>
            <p:nvPr/>
          </p:nvSpPr>
          <p:spPr bwMode="auto">
            <a:xfrm>
              <a:off x="3004876" y="1515030"/>
              <a:ext cx="55998" cy="172775"/>
            </a:xfrm>
            <a:custGeom>
              <a:avLst/>
              <a:gdLst/>
              <a:ahLst/>
              <a:cxnLst>
                <a:cxn ang="0">
                  <a:pos x="32" y="0"/>
                </a:cxn>
                <a:cxn ang="0">
                  <a:pos x="51" y="0"/>
                </a:cxn>
                <a:cxn ang="0">
                  <a:pos x="64" y="3"/>
                </a:cxn>
                <a:cxn ang="0">
                  <a:pos x="73" y="9"/>
                </a:cxn>
                <a:cxn ang="0">
                  <a:pos x="79" y="20"/>
                </a:cxn>
                <a:cxn ang="0">
                  <a:pos x="82" y="32"/>
                </a:cxn>
                <a:cxn ang="0">
                  <a:pos x="82" y="222"/>
                </a:cxn>
                <a:cxn ang="0">
                  <a:pos x="79" y="235"/>
                </a:cxn>
                <a:cxn ang="0">
                  <a:pos x="73" y="244"/>
                </a:cxn>
                <a:cxn ang="0">
                  <a:pos x="64" y="251"/>
                </a:cxn>
                <a:cxn ang="0">
                  <a:pos x="51" y="253"/>
                </a:cxn>
                <a:cxn ang="0">
                  <a:pos x="32" y="253"/>
                </a:cxn>
                <a:cxn ang="0">
                  <a:pos x="19" y="251"/>
                </a:cxn>
                <a:cxn ang="0">
                  <a:pos x="9" y="244"/>
                </a:cxn>
                <a:cxn ang="0">
                  <a:pos x="2" y="235"/>
                </a:cxn>
                <a:cxn ang="0">
                  <a:pos x="0" y="222"/>
                </a:cxn>
                <a:cxn ang="0">
                  <a:pos x="0" y="32"/>
                </a:cxn>
                <a:cxn ang="0">
                  <a:pos x="2" y="20"/>
                </a:cxn>
                <a:cxn ang="0">
                  <a:pos x="9" y="9"/>
                </a:cxn>
                <a:cxn ang="0">
                  <a:pos x="19" y="3"/>
                </a:cxn>
                <a:cxn ang="0">
                  <a:pos x="32" y="0"/>
                </a:cxn>
              </a:cxnLst>
              <a:rect l="0" t="0" r="r" b="b"/>
              <a:pathLst>
                <a:path w="82" h="253">
                  <a:moveTo>
                    <a:pt x="32" y="0"/>
                  </a:moveTo>
                  <a:lnTo>
                    <a:pt x="51" y="0"/>
                  </a:lnTo>
                  <a:lnTo>
                    <a:pt x="64" y="3"/>
                  </a:lnTo>
                  <a:lnTo>
                    <a:pt x="73" y="9"/>
                  </a:lnTo>
                  <a:lnTo>
                    <a:pt x="79" y="20"/>
                  </a:lnTo>
                  <a:lnTo>
                    <a:pt x="82" y="32"/>
                  </a:lnTo>
                  <a:lnTo>
                    <a:pt x="82" y="222"/>
                  </a:lnTo>
                  <a:lnTo>
                    <a:pt x="79" y="235"/>
                  </a:lnTo>
                  <a:lnTo>
                    <a:pt x="73" y="244"/>
                  </a:lnTo>
                  <a:lnTo>
                    <a:pt x="64" y="251"/>
                  </a:lnTo>
                  <a:lnTo>
                    <a:pt x="51" y="253"/>
                  </a:lnTo>
                  <a:lnTo>
                    <a:pt x="32" y="253"/>
                  </a:lnTo>
                  <a:lnTo>
                    <a:pt x="19" y="251"/>
                  </a:lnTo>
                  <a:lnTo>
                    <a:pt x="9" y="244"/>
                  </a:lnTo>
                  <a:lnTo>
                    <a:pt x="2" y="235"/>
                  </a:lnTo>
                  <a:lnTo>
                    <a:pt x="0" y="222"/>
                  </a:lnTo>
                  <a:lnTo>
                    <a:pt x="0" y="32"/>
                  </a:lnTo>
                  <a:lnTo>
                    <a:pt x="2" y="20"/>
                  </a:lnTo>
                  <a:lnTo>
                    <a:pt x="9" y="9"/>
                  </a:lnTo>
                  <a:lnTo>
                    <a:pt x="19" y="3"/>
                  </a:lnTo>
                  <a:lnTo>
                    <a:pt x="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5" name="Freeform 11"/>
            <p:cNvSpPr>
              <a:spLocks/>
            </p:cNvSpPr>
            <p:nvPr/>
          </p:nvSpPr>
          <p:spPr bwMode="auto">
            <a:xfrm>
              <a:off x="2811614" y="1741754"/>
              <a:ext cx="258821" cy="48486"/>
            </a:xfrm>
            <a:custGeom>
              <a:avLst/>
              <a:gdLst/>
              <a:ahLst/>
              <a:cxnLst>
                <a:cxn ang="0">
                  <a:pos x="30" y="0"/>
                </a:cxn>
                <a:cxn ang="0">
                  <a:pos x="348" y="0"/>
                </a:cxn>
                <a:cxn ang="0">
                  <a:pos x="360" y="3"/>
                </a:cxn>
                <a:cxn ang="0">
                  <a:pos x="370" y="10"/>
                </a:cxn>
                <a:cxn ang="0">
                  <a:pos x="377" y="20"/>
                </a:cxn>
                <a:cxn ang="0">
                  <a:pos x="379" y="32"/>
                </a:cxn>
                <a:cxn ang="0">
                  <a:pos x="379" y="39"/>
                </a:cxn>
                <a:cxn ang="0">
                  <a:pos x="377" y="52"/>
                </a:cxn>
                <a:cxn ang="0">
                  <a:pos x="370" y="62"/>
                </a:cxn>
                <a:cxn ang="0">
                  <a:pos x="360" y="69"/>
                </a:cxn>
                <a:cxn ang="0">
                  <a:pos x="348" y="71"/>
                </a:cxn>
                <a:cxn ang="0">
                  <a:pos x="30" y="71"/>
                </a:cxn>
                <a:cxn ang="0">
                  <a:pos x="18" y="69"/>
                </a:cxn>
                <a:cxn ang="0">
                  <a:pos x="9" y="62"/>
                </a:cxn>
                <a:cxn ang="0">
                  <a:pos x="2" y="52"/>
                </a:cxn>
                <a:cxn ang="0">
                  <a:pos x="0" y="39"/>
                </a:cxn>
                <a:cxn ang="0">
                  <a:pos x="0" y="32"/>
                </a:cxn>
                <a:cxn ang="0">
                  <a:pos x="2" y="20"/>
                </a:cxn>
                <a:cxn ang="0">
                  <a:pos x="9" y="10"/>
                </a:cxn>
                <a:cxn ang="0">
                  <a:pos x="18" y="3"/>
                </a:cxn>
                <a:cxn ang="0">
                  <a:pos x="30" y="0"/>
                </a:cxn>
              </a:cxnLst>
              <a:rect l="0" t="0" r="r" b="b"/>
              <a:pathLst>
                <a:path w="379" h="71">
                  <a:moveTo>
                    <a:pt x="30" y="0"/>
                  </a:moveTo>
                  <a:lnTo>
                    <a:pt x="348" y="0"/>
                  </a:lnTo>
                  <a:lnTo>
                    <a:pt x="360" y="3"/>
                  </a:lnTo>
                  <a:lnTo>
                    <a:pt x="370" y="10"/>
                  </a:lnTo>
                  <a:lnTo>
                    <a:pt x="377" y="20"/>
                  </a:lnTo>
                  <a:lnTo>
                    <a:pt x="379" y="32"/>
                  </a:lnTo>
                  <a:lnTo>
                    <a:pt x="379" y="39"/>
                  </a:lnTo>
                  <a:lnTo>
                    <a:pt x="377" y="52"/>
                  </a:lnTo>
                  <a:lnTo>
                    <a:pt x="370" y="62"/>
                  </a:lnTo>
                  <a:lnTo>
                    <a:pt x="360" y="69"/>
                  </a:lnTo>
                  <a:lnTo>
                    <a:pt x="348" y="71"/>
                  </a:lnTo>
                  <a:lnTo>
                    <a:pt x="30" y="71"/>
                  </a:lnTo>
                  <a:lnTo>
                    <a:pt x="18" y="69"/>
                  </a:lnTo>
                  <a:lnTo>
                    <a:pt x="9" y="62"/>
                  </a:lnTo>
                  <a:lnTo>
                    <a:pt x="2" y="52"/>
                  </a:lnTo>
                  <a:lnTo>
                    <a:pt x="0" y="39"/>
                  </a:lnTo>
                  <a:lnTo>
                    <a:pt x="0" y="32"/>
                  </a:lnTo>
                  <a:lnTo>
                    <a:pt x="2" y="20"/>
                  </a:lnTo>
                  <a:lnTo>
                    <a:pt x="9" y="10"/>
                  </a:lnTo>
                  <a:lnTo>
                    <a:pt x="18" y="3"/>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6" name="Freeform 12"/>
            <p:cNvSpPr>
              <a:spLocks/>
            </p:cNvSpPr>
            <p:nvPr/>
          </p:nvSpPr>
          <p:spPr bwMode="auto">
            <a:xfrm>
              <a:off x="2811614" y="1814142"/>
              <a:ext cx="258821" cy="48486"/>
            </a:xfrm>
            <a:custGeom>
              <a:avLst/>
              <a:gdLst/>
              <a:ahLst/>
              <a:cxnLst>
                <a:cxn ang="0">
                  <a:pos x="30" y="0"/>
                </a:cxn>
                <a:cxn ang="0">
                  <a:pos x="348" y="0"/>
                </a:cxn>
                <a:cxn ang="0">
                  <a:pos x="360" y="3"/>
                </a:cxn>
                <a:cxn ang="0">
                  <a:pos x="370" y="9"/>
                </a:cxn>
                <a:cxn ang="0">
                  <a:pos x="377" y="20"/>
                </a:cxn>
                <a:cxn ang="0">
                  <a:pos x="379" y="32"/>
                </a:cxn>
                <a:cxn ang="0">
                  <a:pos x="379" y="39"/>
                </a:cxn>
                <a:cxn ang="0">
                  <a:pos x="377" y="51"/>
                </a:cxn>
                <a:cxn ang="0">
                  <a:pos x="370" y="62"/>
                </a:cxn>
                <a:cxn ang="0">
                  <a:pos x="360" y="68"/>
                </a:cxn>
                <a:cxn ang="0">
                  <a:pos x="348" y="71"/>
                </a:cxn>
                <a:cxn ang="0">
                  <a:pos x="30" y="71"/>
                </a:cxn>
                <a:cxn ang="0">
                  <a:pos x="18" y="68"/>
                </a:cxn>
                <a:cxn ang="0">
                  <a:pos x="9" y="62"/>
                </a:cxn>
                <a:cxn ang="0">
                  <a:pos x="2" y="51"/>
                </a:cxn>
                <a:cxn ang="0">
                  <a:pos x="0" y="39"/>
                </a:cxn>
                <a:cxn ang="0">
                  <a:pos x="0" y="32"/>
                </a:cxn>
                <a:cxn ang="0">
                  <a:pos x="2" y="20"/>
                </a:cxn>
                <a:cxn ang="0">
                  <a:pos x="9" y="9"/>
                </a:cxn>
                <a:cxn ang="0">
                  <a:pos x="18" y="3"/>
                </a:cxn>
                <a:cxn ang="0">
                  <a:pos x="30" y="0"/>
                </a:cxn>
              </a:cxnLst>
              <a:rect l="0" t="0" r="r" b="b"/>
              <a:pathLst>
                <a:path w="379" h="71">
                  <a:moveTo>
                    <a:pt x="30" y="0"/>
                  </a:moveTo>
                  <a:lnTo>
                    <a:pt x="348" y="0"/>
                  </a:lnTo>
                  <a:lnTo>
                    <a:pt x="360" y="3"/>
                  </a:lnTo>
                  <a:lnTo>
                    <a:pt x="370" y="9"/>
                  </a:lnTo>
                  <a:lnTo>
                    <a:pt x="377" y="20"/>
                  </a:lnTo>
                  <a:lnTo>
                    <a:pt x="379" y="32"/>
                  </a:lnTo>
                  <a:lnTo>
                    <a:pt x="379" y="39"/>
                  </a:lnTo>
                  <a:lnTo>
                    <a:pt x="377" y="51"/>
                  </a:lnTo>
                  <a:lnTo>
                    <a:pt x="370" y="62"/>
                  </a:lnTo>
                  <a:lnTo>
                    <a:pt x="360" y="68"/>
                  </a:lnTo>
                  <a:lnTo>
                    <a:pt x="348" y="71"/>
                  </a:lnTo>
                  <a:lnTo>
                    <a:pt x="30" y="71"/>
                  </a:lnTo>
                  <a:lnTo>
                    <a:pt x="18" y="68"/>
                  </a:lnTo>
                  <a:lnTo>
                    <a:pt x="9" y="62"/>
                  </a:lnTo>
                  <a:lnTo>
                    <a:pt x="2" y="51"/>
                  </a:lnTo>
                  <a:lnTo>
                    <a:pt x="0" y="39"/>
                  </a:lnTo>
                  <a:lnTo>
                    <a:pt x="0" y="32"/>
                  </a:lnTo>
                  <a:lnTo>
                    <a:pt x="2" y="20"/>
                  </a:lnTo>
                  <a:lnTo>
                    <a:pt x="9" y="9"/>
                  </a:lnTo>
                  <a:lnTo>
                    <a:pt x="18" y="3"/>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7" name="Freeform 13"/>
            <p:cNvSpPr>
              <a:spLocks/>
            </p:cNvSpPr>
            <p:nvPr/>
          </p:nvSpPr>
          <p:spPr bwMode="auto">
            <a:xfrm>
              <a:off x="2811614" y="1890628"/>
              <a:ext cx="258821" cy="47803"/>
            </a:xfrm>
            <a:custGeom>
              <a:avLst/>
              <a:gdLst/>
              <a:ahLst/>
              <a:cxnLst>
                <a:cxn ang="0">
                  <a:pos x="30" y="0"/>
                </a:cxn>
                <a:cxn ang="0">
                  <a:pos x="348" y="0"/>
                </a:cxn>
                <a:cxn ang="0">
                  <a:pos x="360" y="2"/>
                </a:cxn>
                <a:cxn ang="0">
                  <a:pos x="370" y="9"/>
                </a:cxn>
                <a:cxn ang="0">
                  <a:pos x="377" y="19"/>
                </a:cxn>
                <a:cxn ang="0">
                  <a:pos x="379" y="32"/>
                </a:cxn>
                <a:cxn ang="0">
                  <a:pos x="379" y="38"/>
                </a:cxn>
                <a:cxn ang="0">
                  <a:pos x="377" y="51"/>
                </a:cxn>
                <a:cxn ang="0">
                  <a:pos x="370" y="61"/>
                </a:cxn>
                <a:cxn ang="0">
                  <a:pos x="360" y="68"/>
                </a:cxn>
                <a:cxn ang="0">
                  <a:pos x="348" y="70"/>
                </a:cxn>
                <a:cxn ang="0">
                  <a:pos x="30" y="70"/>
                </a:cxn>
                <a:cxn ang="0">
                  <a:pos x="18" y="68"/>
                </a:cxn>
                <a:cxn ang="0">
                  <a:pos x="9" y="61"/>
                </a:cxn>
                <a:cxn ang="0">
                  <a:pos x="2" y="51"/>
                </a:cxn>
                <a:cxn ang="0">
                  <a:pos x="0" y="38"/>
                </a:cxn>
                <a:cxn ang="0">
                  <a:pos x="0" y="32"/>
                </a:cxn>
                <a:cxn ang="0">
                  <a:pos x="2" y="19"/>
                </a:cxn>
                <a:cxn ang="0">
                  <a:pos x="9" y="9"/>
                </a:cxn>
                <a:cxn ang="0">
                  <a:pos x="18" y="2"/>
                </a:cxn>
                <a:cxn ang="0">
                  <a:pos x="30" y="0"/>
                </a:cxn>
              </a:cxnLst>
              <a:rect l="0" t="0" r="r" b="b"/>
              <a:pathLst>
                <a:path w="379" h="70">
                  <a:moveTo>
                    <a:pt x="30" y="0"/>
                  </a:moveTo>
                  <a:lnTo>
                    <a:pt x="348" y="0"/>
                  </a:lnTo>
                  <a:lnTo>
                    <a:pt x="360" y="2"/>
                  </a:lnTo>
                  <a:lnTo>
                    <a:pt x="370" y="9"/>
                  </a:lnTo>
                  <a:lnTo>
                    <a:pt x="377" y="19"/>
                  </a:lnTo>
                  <a:lnTo>
                    <a:pt x="379" y="32"/>
                  </a:lnTo>
                  <a:lnTo>
                    <a:pt x="379" y="38"/>
                  </a:lnTo>
                  <a:lnTo>
                    <a:pt x="377" y="51"/>
                  </a:lnTo>
                  <a:lnTo>
                    <a:pt x="370" y="61"/>
                  </a:lnTo>
                  <a:lnTo>
                    <a:pt x="360" y="68"/>
                  </a:lnTo>
                  <a:lnTo>
                    <a:pt x="348" y="70"/>
                  </a:lnTo>
                  <a:lnTo>
                    <a:pt x="30" y="70"/>
                  </a:lnTo>
                  <a:lnTo>
                    <a:pt x="18" y="68"/>
                  </a:lnTo>
                  <a:lnTo>
                    <a:pt x="9" y="61"/>
                  </a:lnTo>
                  <a:lnTo>
                    <a:pt x="2" y="51"/>
                  </a:lnTo>
                  <a:lnTo>
                    <a:pt x="0" y="38"/>
                  </a:lnTo>
                  <a:lnTo>
                    <a:pt x="0" y="32"/>
                  </a:lnTo>
                  <a:lnTo>
                    <a:pt x="2" y="19"/>
                  </a:lnTo>
                  <a:lnTo>
                    <a:pt x="9" y="9"/>
                  </a:lnTo>
                  <a:lnTo>
                    <a:pt x="18" y="2"/>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0" name="Group 29"/>
          <p:cNvGrpSpPr/>
          <p:nvPr/>
        </p:nvGrpSpPr>
        <p:grpSpPr>
          <a:xfrm>
            <a:off x="5276850" y="1990725"/>
            <a:ext cx="515593" cy="493740"/>
            <a:chOff x="3359303" y="1601759"/>
            <a:chExt cx="515593" cy="493740"/>
          </a:xfrm>
          <a:solidFill>
            <a:schemeClr val="bg1"/>
          </a:solidFill>
        </p:grpSpPr>
        <p:sp>
          <p:nvSpPr>
            <p:cNvPr id="1038" name="Freeform 14"/>
            <p:cNvSpPr>
              <a:spLocks noEditPoints="1"/>
            </p:cNvSpPr>
            <p:nvPr/>
          </p:nvSpPr>
          <p:spPr bwMode="auto">
            <a:xfrm>
              <a:off x="3359303" y="1601759"/>
              <a:ext cx="515593" cy="376964"/>
            </a:xfrm>
            <a:custGeom>
              <a:avLst/>
              <a:gdLst/>
              <a:ahLst/>
              <a:cxnLst>
                <a:cxn ang="0">
                  <a:pos x="69" y="72"/>
                </a:cxn>
                <a:cxn ang="0">
                  <a:pos x="69" y="477"/>
                </a:cxn>
                <a:cxn ang="0">
                  <a:pos x="683" y="477"/>
                </a:cxn>
                <a:cxn ang="0">
                  <a:pos x="683" y="72"/>
                </a:cxn>
                <a:cxn ang="0">
                  <a:pos x="69" y="72"/>
                </a:cxn>
                <a:cxn ang="0">
                  <a:pos x="32" y="0"/>
                </a:cxn>
                <a:cxn ang="0">
                  <a:pos x="723" y="0"/>
                </a:cxn>
                <a:cxn ang="0">
                  <a:pos x="735" y="2"/>
                </a:cxn>
                <a:cxn ang="0">
                  <a:pos x="746" y="9"/>
                </a:cxn>
                <a:cxn ang="0">
                  <a:pos x="752" y="19"/>
                </a:cxn>
                <a:cxn ang="0">
                  <a:pos x="755" y="31"/>
                </a:cxn>
                <a:cxn ang="0">
                  <a:pos x="755" y="521"/>
                </a:cxn>
                <a:cxn ang="0">
                  <a:pos x="752" y="533"/>
                </a:cxn>
                <a:cxn ang="0">
                  <a:pos x="746" y="543"/>
                </a:cxn>
                <a:cxn ang="0">
                  <a:pos x="735" y="550"/>
                </a:cxn>
                <a:cxn ang="0">
                  <a:pos x="723" y="552"/>
                </a:cxn>
                <a:cxn ang="0">
                  <a:pos x="32" y="552"/>
                </a:cxn>
                <a:cxn ang="0">
                  <a:pos x="19" y="550"/>
                </a:cxn>
                <a:cxn ang="0">
                  <a:pos x="9" y="543"/>
                </a:cxn>
                <a:cxn ang="0">
                  <a:pos x="2" y="533"/>
                </a:cxn>
                <a:cxn ang="0">
                  <a:pos x="0" y="521"/>
                </a:cxn>
                <a:cxn ang="0">
                  <a:pos x="0" y="31"/>
                </a:cxn>
                <a:cxn ang="0">
                  <a:pos x="2" y="19"/>
                </a:cxn>
                <a:cxn ang="0">
                  <a:pos x="9" y="9"/>
                </a:cxn>
                <a:cxn ang="0">
                  <a:pos x="19" y="2"/>
                </a:cxn>
                <a:cxn ang="0">
                  <a:pos x="32" y="0"/>
                </a:cxn>
              </a:cxnLst>
              <a:rect l="0" t="0" r="r" b="b"/>
              <a:pathLst>
                <a:path w="755" h="552">
                  <a:moveTo>
                    <a:pt x="69" y="72"/>
                  </a:moveTo>
                  <a:lnTo>
                    <a:pt x="69" y="477"/>
                  </a:lnTo>
                  <a:lnTo>
                    <a:pt x="683" y="477"/>
                  </a:lnTo>
                  <a:lnTo>
                    <a:pt x="683" y="72"/>
                  </a:lnTo>
                  <a:lnTo>
                    <a:pt x="69" y="72"/>
                  </a:lnTo>
                  <a:close/>
                  <a:moveTo>
                    <a:pt x="32" y="0"/>
                  </a:moveTo>
                  <a:lnTo>
                    <a:pt x="723" y="0"/>
                  </a:lnTo>
                  <a:lnTo>
                    <a:pt x="735" y="2"/>
                  </a:lnTo>
                  <a:lnTo>
                    <a:pt x="746" y="9"/>
                  </a:lnTo>
                  <a:lnTo>
                    <a:pt x="752" y="19"/>
                  </a:lnTo>
                  <a:lnTo>
                    <a:pt x="755" y="31"/>
                  </a:lnTo>
                  <a:lnTo>
                    <a:pt x="755" y="521"/>
                  </a:lnTo>
                  <a:lnTo>
                    <a:pt x="752" y="533"/>
                  </a:lnTo>
                  <a:lnTo>
                    <a:pt x="746" y="543"/>
                  </a:lnTo>
                  <a:lnTo>
                    <a:pt x="735" y="550"/>
                  </a:lnTo>
                  <a:lnTo>
                    <a:pt x="723" y="552"/>
                  </a:lnTo>
                  <a:lnTo>
                    <a:pt x="32" y="552"/>
                  </a:lnTo>
                  <a:lnTo>
                    <a:pt x="19" y="550"/>
                  </a:lnTo>
                  <a:lnTo>
                    <a:pt x="9" y="543"/>
                  </a:lnTo>
                  <a:lnTo>
                    <a:pt x="2" y="533"/>
                  </a:lnTo>
                  <a:lnTo>
                    <a:pt x="0" y="521"/>
                  </a:lnTo>
                  <a:lnTo>
                    <a:pt x="0" y="31"/>
                  </a:lnTo>
                  <a:lnTo>
                    <a:pt x="2" y="19"/>
                  </a:lnTo>
                  <a:lnTo>
                    <a:pt x="9" y="9"/>
                  </a:lnTo>
                  <a:lnTo>
                    <a:pt x="19" y="2"/>
                  </a:lnTo>
                  <a:lnTo>
                    <a:pt x="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9" name="Freeform 15"/>
            <p:cNvSpPr>
              <a:spLocks/>
            </p:cNvSpPr>
            <p:nvPr/>
          </p:nvSpPr>
          <p:spPr bwMode="auto">
            <a:xfrm>
              <a:off x="3489055" y="2012185"/>
              <a:ext cx="255406" cy="83314"/>
            </a:xfrm>
            <a:custGeom>
              <a:avLst/>
              <a:gdLst/>
              <a:ahLst/>
              <a:cxnLst>
                <a:cxn ang="0">
                  <a:pos x="0" y="0"/>
                </a:cxn>
                <a:cxn ang="0">
                  <a:pos x="374" y="0"/>
                </a:cxn>
                <a:cxn ang="0">
                  <a:pos x="358" y="30"/>
                </a:cxn>
                <a:cxn ang="0">
                  <a:pos x="338" y="56"/>
                </a:cxn>
                <a:cxn ang="0">
                  <a:pos x="314" y="79"/>
                </a:cxn>
                <a:cxn ang="0">
                  <a:pos x="286" y="97"/>
                </a:cxn>
                <a:cxn ang="0">
                  <a:pos x="255" y="111"/>
                </a:cxn>
                <a:cxn ang="0">
                  <a:pos x="223" y="119"/>
                </a:cxn>
                <a:cxn ang="0">
                  <a:pos x="187" y="122"/>
                </a:cxn>
                <a:cxn ang="0">
                  <a:pos x="152" y="119"/>
                </a:cxn>
                <a:cxn ang="0">
                  <a:pos x="119" y="111"/>
                </a:cxn>
                <a:cxn ang="0">
                  <a:pos x="89" y="97"/>
                </a:cxn>
                <a:cxn ang="0">
                  <a:pos x="60" y="79"/>
                </a:cxn>
                <a:cxn ang="0">
                  <a:pos x="37" y="56"/>
                </a:cxn>
                <a:cxn ang="0">
                  <a:pos x="16" y="30"/>
                </a:cxn>
                <a:cxn ang="0">
                  <a:pos x="0" y="0"/>
                </a:cxn>
              </a:cxnLst>
              <a:rect l="0" t="0" r="r" b="b"/>
              <a:pathLst>
                <a:path w="374" h="122">
                  <a:moveTo>
                    <a:pt x="0" y="0"/>
                  </a:moveTo>
                  <a:lnTo>
                    <a:pt x="374" y="0"/>
                  </a:lnTo>
                  <a:lnTo>
                    <a:pt x="358" y="30"/>
                  </a:lnTo>
                  <a:lnTo>
                    <a:pt x="338" y="56"/>
                  </a:lnTo>
                  <a:lnTo>
                    <a:pt x="314" y="79"/>
                  </a:lnTo>
                  <a:lnTo>
                    <a:pt x="286" y="97"/>
                  </a:lnTo>
                  <a:lnTo>
                    <a:pt x="255" y="111"/>
                  </a:lnTo>
                  <a:lnTo>
                    <a:pt x="223" y="119"/>
                  </a:lnTo>
                  <a:lnTo>
                    <a:pt x="187" y="122"/>
                  </a:lnTo>
                  <a:lnTo>
                    <a:pt x="152" y="119"/>
                  </a:lnTo>
                  <a:lnTo>
                    <a:pt x="119" y="111"/>
                  </a:lnTo>
                  <a:lnTo>
                    <a:pt x="89" y="97"/>
                  </a:lnTo>
                  <a:lnTo>
                    <a:pt x="60" y="79"/>
                  </a:lnTo>
                  <a:lnTo>
                    <a:pt x="37" y="56"/>
                  </a:lnTo>
                  <a:lnTo>
                    <a:pt x="16" y="3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040" name="Freeform 16"/>
          <p:cNvSpPr>
            <a:spLocks/>
          </p:cNvSpPr>
          <p:nvPr/>
        </p:nvSpPr>
        <p:spPr bwMode="auto">
          <a:xfrm>
            <a:off x="7229475" y="2066925"/>
            <a:ext cx="463693" cy="288869"/>
          </a:xfrm>
          <a:custGeom>
            <a:avLst/>
            <a:gdLst/>
            <a:ahLst/>
            <a:cxnLst>
              <a:cxn ang="0">
                <a:pos x="418" y="0"/>
              </a:cxn>
              <a:cxn ang="0">
                <a:pos x="679" y="0"/>
              </a:cxn>
              <a:cxn ang="0">
                <a:pos x="679" y="257"/>
              </a:cxn>
              <a:cxn ang="0">
                <a:pos x="614" y="192"/>
              </a:cxn>
              <a:cxn ang="0">
                <a:pos x="387" y="423"/>
              </a:cxn>
              <a:cxn ang="0">
                <a:pos x="257" y="293"/>
              </a:cxn>
              <a:cxn ang="0">
                <a:pos x="127" y="423"/>
              </a:cxn>
              <a:cxn ang="0">
                <a:pos x="0" y="290"/>
              </a:cxn>
              <a:cxn ang="0">
                <a:pos x="257" y="34"/>
              </a:cxn>
              <a:cxn ang="0">
                <a:pos x="387" y="162"/>
              </a:cxn>
              <a:cxn ang="0">
                <a:pos x="482" y="68"/>
              </a:cxn>
              <a:cxn ang="0">
                <a:pos x="418" y="0"/>
              </a:cxn>
            </a:cxnLst>
            <a:rect l="0" t="0" r="r" b="b"/>
            <a:pathLst>
              <a:path w="679" h="423">
                <a:moveTo>
                  <a:pt x="418" y="0"/>
                </a:moveTo>
                <a:lnTo>
                  <a:pt x="679" y="0"/>
                </a:lnTo>
                <a:lnTo>
                  <a:pt x="679" y="257"/>
                </a:lnTo>
                <a:lnTo>
                  <a:pt x="614" y="192"/>
                </a:lnTo>
                <a:lnTo>
                  <a:pt x="387" y="423"/>
                </a:lnTo>
                <a:lnTo>
                  <a:pt x="257" y="293"/>
                </a:lnTo>
                <a:lnTo>
                  <a:pt x="127" y="423"/>
                </a:lnTo>
                <a:lnTo>
                  <a:pt x="0" y="290"/>
                </a:lnTo>
                <a:lnTo>
                  <a:pt x="257" y="34"/>
                </a:lnTo>
                <a:lnTo>
                  <a:pt x="387" y="162"/>
                </a:lnTo>
                <a:lnTo>
                  <a:pt x="482" y="68"/>
                </a:lnTo>
                <a:lnTo>
                  <a:pt x="41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TextBox 32"/>
          <p:cNvSpPr txBox="1"/>
          <p:nvPr/>
        </p:nvSpPr>
        <p:spPr>
          <a:xfrm>
            <a:off x="4724400" y="2929176"/>
            <a:ext cx="1600200" cy="307777"/>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Load data in list</a:t>
            </a:r>
            <a:endParaRPr lang="en-US" sz="1100" dirty="0">
              <a:solidFill>
                <a:schemeClr val="bg1">
                  <a:lumMod val="50000"/>
                </a:schemeClr>
              </a:solidFill>
              <a:latin typeface="Arial" pitchFamily="34" charset="0"/>
              <a:cs typeface="Arial" pitchFamily="34" charset="0"/>
            </a:endParaRPr>
          </a:p>
        </p:txBody>
      </p:sp>
      <p:sp>
        <p:nvSpPr>
          <p:cNvPr id="34" name="TextBox 33"/>
          <p:cNvSpPr txBox="1"/>
          <p:nvPr/>
        </p:nvSpPr>
        <p:spPr>
          <a:xfrm>
            <a:off x="2809875" y="2929176"/>
            <a:ext cx="1600200" cy="584775"/>
          </a:xfrm>
          <a:prstGeom prst="rect">
            <a:avLst/>
          </a:prstGeom>
          <a:noFill/>
        </p:spPr>
        <p:txBody>
          <a:bodyPr wrap="square" rtlCol="0">
            <a:spAutoFit/>
          </a:bodyPr>
          <a:lstStyle/>
          <a:p>
            <a:pPr algn="ctr"/>
            <a:r>
              <a:rPr lang="en-US" sz="1600" dirty="0">
                <a:solidFill>
                  <a:srgbClr val="0563B8"/>
                </a:solidFill>
                <a:latin typeface="Arial" pitchFamily="34" charset="0"/>
                <a:cs typeface="Arial" pitchFamily="34" charset="0"/>
              </a:rPr>
              <a:t>Create destination</a:t>
            </a:r>
            <a:endParaRPr lang="en-US" sz="1100" dirty="0">
              <a:solidFill>
                <a:schemeClr val="bg1">
                  <a:lumMod val="50000"/>
                </a:schemeClr>
              </a:solidFill>
              <a:latin typeface="Arial" pitchFamily="34" charset="0"/>
              <a:cs typeface="Arial" pitchFamily="34" charset="0"/>
            </a:endParaRPr>
          </a:p>
        </p:txBody>
      </p:sp>
      <p:sp>
        <p:nvSpPr>
          <p:cNvPr id="35" name="TextBox 34"/>
          <p:cNvSpPr txBox="1"/>
          <p:nvPr/>
        </p:nvSpPr>
        <p:spPr>
          <a:xfrm>
            <a:off x="885825" y="2929176"/>
            <a:ext cx="1600200" cy="307777"/>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Shopping cart</a:t>
            </a:r>
            <a:endParaRPr lang="en-US" sz="1100" dirty="0">
              <a:solidFill>
                <a:schemeClr val="bg1">
                  <a:lumMod val="50000"/>
                </a:schemeClr>
              </a:solidFill>
              <a:latin typeface="Arial" pitchFamily="34" charset="0"/>
              <a:cs typeface="Arial" pitchFamily="34" charset="0"/>
            </a:endParaRPr>
          </a:p>
        </p:txBody>
      </p:sp>
    </p:spTree>
    <p:extLst>
      <p:ext uri="{BB962C8B-B14F-4D97-AF65-F5344CB8AC3E}">
        <p14:creationId xmlns:p14="http://schemas.microsoft.com/office/powerpoint/2010/main" val="3412325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E107DAA-A604-4CA3-25E9-4A31518EA13A}"/>
              </a:ext>
            </a:extLst>
          </p:cNvPr>
          <p:cNvSpPr>
            <a:spLocks noGrp="1"/>
          </p:cNvSpPr>
          <p:nvPr>
            <p:ph type="ftr" sz="quarter" idx="11"/>
          </p:nvPr>
        </p:nvSpPr>
        <p:spPr/>
        <p:txBody>
          <a:bodyPr/>
          <a:lstStyle/>
          <a:p>
            <a:r>
              <a:rPr lang="en-US"/>
              <a:t>www.anubhavtrainings.com</a:t>
            </a:r>
            <a:endParaRPr lang="en-US" dirty="0"/>
          </a:p>
        </p:txBody>
      </p:sp>
      <p:sp>
        <p:nvSpPr>
          <p:cNvPr id="3" name="Slide Number Placeholder 2">
            <a:extLst>
              <a:ext uri="{FF2B5EF4-FFF2-40B4-BE49-F238E27FC236}">
                <a16:creationId xmlns:a16="http://schemas.microsoft.com/office/drawing/2014/main" id="{E6F1078C-B81D-88CA-ECED-4646BEC63B2D}"/>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4" name="Title 3">
            <a:extLst>
              <a:ext uri="{FF2B5EF4-FFF2-40B4-BE49-F238E27FC236}">
                <a16:creationId xmlns:a16="http://schemas.microsoft.com/office/drawing/2014/main" id="{8B1464A0-AD07-82CA-5396-946C55AF2D7E}"/>
              </a:ext>
            </a:extLst>
          </p:cNvPr>
          <p:cNvSpPr>
            <a:spLocks noGrp="1"/>
          </p:cNvSpPr>
          <p:nvPr>
            <p:ph type="title"/>
          </p:nvPr>
        </p:nvSpPr>
        <p:spPr/>
        <p:txBody>
          <a:bodyPr/>
          <a:lstStyle/>
          <a:p>
            <a:r>
              <a:rPr lang="en-IN" dirty="0"/>
              <a:t>Parts</a:t>
            </a:r>
          </a:p>
        </p:txBody>
      </p:sp>
      <p:sp>
        <p:nvSpPr>
          <p:cNvPr id="6" name="TextBox 5">
            <a:extLst>
              <a:ext uri="{FF2B5EF4-FFF2-40B4-BE49-F238E27FC236}">
                <a16:creationId xmlns:a16="http://schemas.microsoft.com/office/drawing/2014/main" id="{13398EFE-8771-D284-97C8-787A12006F8F}"/>
              </a:ext>
            </a:extLst>
          </p:cNvPr>
          <p:cNvSpPr txBox="1"/>
          <p:nvPr/>
        </p:nvSpPr>
        <p:spPr>
          <a:xfrm>
            <a:off x="228600" y="1123950"/>
            <a:ext cx="8686800" cy="646331"/>
          </a:xfrm>
          <a:prstGeom prst="rect">
            <a:avLst/>
          </a:prstGeom>
          <a:noFill/>
        </p:spPr>
        <p:txBody>
          <a:bodyPr wrap="square">
            <a:spAutoFit/>
          </a:bodyPr>
          <a:lstStyle/>
          <a:p>
            <a:r>
              <a:rPr lang="en-IN" dirty="0">
                <a:highlight>
                  <a:srgbClr val="FFFF00"/>
                </a:highlight>
              </a:rPr>
              <a:t>https://world.openfoodfacts.net/api/0</a:t>
            </a:r>
            <a:r>
              <a:rPr lang="en-IN" dirty="0">
                <a:highlight>
                  <a:srgbClr val="057CFF"/>
                </a:highlight>
              </a:rPr>
              <a:t>/product/</a:t>
            </a:r>
            <a:r>
              <a:rPr lang="en-IN" dirty="0">
                <a:highlight>
                  <a:srgbClr val="FF00FF"/>
                </a:highlight>
              </a:rPr>
              <a:t>8901063029279</a:t>
            </a:r>
            <a:r>
              <a:rPr lang="en-IN" dirty="0">
                <a:highlight>
                  <a:srgbClr val="057CFF"/>
                </a:highlight>
              </a:rPr>
              <a:t>?fields=product_name,nutriments,image_front_url</a:t>
            </a:r>
          </a:p>
        </p:txBody>
      </p:sp>
    </p:spTree>
    <p:extLst>
      <p:ext uri="{BB962C8B-B14F-4D97-AF65-F5344CB8AC3E}">
        <p14:creationId xmlns:p14="http://schemas.microsoft.com/office/powerpoint/2010/main" val="3693380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7295B-D009-F32E-A01A-8A8CC18FEA2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5B543E2-7625-ECE1-C46E-CFB3659168B8}"/>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7F90F182-D2C5-A02D-2F2A-729242AD767F}"/>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5</a:t>
            </a:fld>
            <a:endParaRPr lang="en-US" dirty="0"/>
          </a:p>
        </p:txBody>
      </p:sp>
      <p:sp>
        <p:nvSpPr>
          <p:cNvPr id="5" name="Title 4">
            <a:extLst>
              <a:ext uri="{FF2B5EF4-FFF2-40B4-BE49-F238E27FC236}">
                <a16:creationId xmlns:a16="http://schemas.microsoft.com/office/drawing/2014/main" id="{73CD0C1D-D299-3852-9908-404039141507}"/>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Test data</a:t>
            </a:r>
          </a:p>
        </p:txBody>
      </p:sp>
      <p:pic>
        <p:nvPicPr>
          <p:cNvPr id="7" name="Picture 6" descr="A bar code with numbers and letters&#10;&#10;AI-generated content may be incorrect.">
            <a:extLst>
              <a:ext uri="{FF2B5EF4-FFF2-40B4-BE49-F238E27FC236}">
                <a16:creationId xmlns:a16="http://schemas.microsoft.com/office/drawing/2014/main" id="{7556EEE3-534B-1B06-A14F-6B9FC16C60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9400" y="819150"/>
            <a:ext cx="4581597" cy="3865381"/>
          </a:xfrm>
          <a:prstGeom prst="rect">
            <a:avLst/>
          </a:prstGeom>
        </p:spPr>
      </p:pic>
      <p:pic>
        <p:nvPicPr>
          <p:cNvPr id="9" name="Picture 8" descr="A yellow circle with black letters and a black background&#10;&#10;AI-generated content may be incorrect.">
            <a:extLst>
              <a:ext uri="{FF2B5EF4-FFF2-40B4-BE49-F238E27FC236}">
                <a16:creationId xmlns:a16="http://schemas.microsoft.com/office/drawing/2014/main" id="{31CCE318-4A30-F05D-613B-E2B8EC5C97C3}"/>
              </a:ext>
            </a:extLst>
          </p:cNvPr>
          <p:cNvPicPr>
            <a:picLocks noChangeAspect="1"/>
          </p:cNvPicPr>
          <p:nvPr/>
        </p:nvPicPr>
        <p:blipFill>
          <a:blip r:embed="rId3">
            <a:alphaModFix amt="31000"/>
            <a:extLst>
              <a:ext uri="{28A0092B-C50C-407E-A947-70E740481C1C}">
                <a14:useLocalDpi xmlns:a14="http://schemas.microsoft.com/office/drawing/2010/main" val="0"/>
              </a:ext>
            </a:extLst>
          </a:blip>
          <a:stretch>
            <a:fillRect/>
          </a:stretch>
        </p:blipFill>
        <p:spPr>
          <a:xfrm>
            <a:off x="3435626" y="1504950"/>
            <a:ext cx="2590800" cy="2558946"/>
          </a:xfrm>
          <a:prstGeom prst="rect">
            <a:avLst/>
          </a:prstGeom>
        </p:spPr>
      </p:pic>
    </p:spTree>
    <p:extLst>
      <p:ext uri="{BB962C8B-B14F-4D97-AF65-F5344CB8AC3E}">
        <p14:creationId xmlns:p14="http://schemas.microsoft.com/office/powerpoint/2010/main" val="854278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AA6B50D-C015-5A7F-D1C3-D9688F56669F}"/>
              </a:ext>
            </a:extLst>
          </p:cNvPr>
          <p:cNvSpPr>
            <a:spLocks noGrp="1"/>
          </p:cNvSpPr>
          <p:nvPr>
            <p:ph type="ftr" sz="quarter" idx="11"/>
          </p:nvPr>
        </p:nvSpPr>
        <p:spPr/>
        <p:txBody>
          <a:bodyPr/>
          <a:lstStyle/>
          <a:p>
            <a:r>
              <a:rPr lang="en-US"/>
              <a:t>www.anubhavtrainings.com</a:t>
            </a:r>
            <a:endParaRPr lang="en-US" dirty="0"/>
          </a:p>
        </p:txBody>
      </p:sp>
      <p:sp>
        <p:nvSpPr>
          <p:cNvPr id="4" name="Slide Number Placeholder 3">
            <a:extLst>
              <a:ext uri="{FF2B5EF4-FFF2-40B4-BE49-F238E27FC236}">
                <a16:creationId xmlns:a16="http://schemas.microsoft.com/office/drawing/2014/main" id="{AB3C1778-0EFA-B38E-BEDF-266B521FA3C0}"/>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5" name="Title 4">
            <a:extLst>
              <a:ext uri="{FF2B5EF4-FFF2-40B4-BE49-F238E27FC236}">
                <a16:creationId xmlns:a16="http://schemas.microsoft.com/office/drawing/2014/main" id="{BCB8A0B7-C2FF-0295-0998-2A9661264922}"/>
              </a:ext>
            </a:extLst>
          </p:cNvPr>
          <p:cNvSpPr>
            <a:spLocks noGrp="1"/>
          </p:cNvSpPr>
          <p:nvPr>
            <p:ph type="title"/>
          </p:nvPr>
        </p:nvSpPr>
        <p:spPr>
          <a:xfrm>
            <a:off x="304800" y="2954"/>
            <a:ext cx="8229600" cy="533401"/>
          </a:xfrm>
        </p:spPr>
        <p:txBody>
          <a:bodyPr/>
          <a:lstStyle/>
          <a:p>
            <a:r>
              <a:rPr lang="en-IN" dirty="0">
                <a:latin typeface="Cooper Black" panose="0208090404030B020404" pitchFamily="18" charset="0"/>
              </a:rPr>
              <a:t>SAP UI5 v/s SAP Build Apps</a:t>
            </a:r>
          </a:p>
        </p:txBody>
      </p:sp>
      <p:graphicFrame>
        <p:nvGraphicFramePr>
          <p:cNvPr id="8" name="Table 7">
            <a:extLst>
              <a:ext uri="{FF2B5EF4-FFF2-40B4-BE49-F238E27FC236}">
                <a16:creationId xmlns:a16="http://schemas.microsoft.com/office/drawing/2014/main" id="{BFCD893C-565B-E8FC-FA34-0345C315BA2B}"/>
              </a:ext>
            </a:extLst>
          </p:cNvPr>
          <p:cNvGraphicFramePr>
            <a:graphicFrameLocks noGrp="1"/>
          </p:cNvGraphicFramePr>
          <p:nvPr/>
        </p:nvGraphicFramePr>
        <p:xfrm>
          <a:off x="304800" y="549496"/>
          <a:ext cx="8610600" cy="4299151"/>
        </p:xfrm>
        <a:graphic>
          <a:graphicData uri="http://schemas.openxmlformats.org/drawingml/2006/table">
            <a:tbl>
              <a:tblPr>
                <a:tableStyleId>{3C2FFA5D-87B4-456A-9821-1D502468CF0F}</a:tableStyleId>
              </a:tblPr>
              <a:tblGrid>
                <a:gridCol w="2870200">
                  <a:extLst>
                    <a:ext uri="{9D8B030D-6E8A-4147-A177-3AD203B41FA5}">
                      <a16:colId xmlns:a16="http://schemas.microsoft.com/office/drawing/2014/main" val="4269618366"/>
                    </a:ext>
                  </a:extLst>
                </a:gridCol>
                <a:gridCol w="2870200">
                  <a:extLst>
                    <a:ext uri="{9D8B030D-6E8A-4147-A177-3AD203B41FA5}">
                      <a16:colId xmlns:a16="http://schemas.microsoft.com/office/drawing/2014/main" val="1145535638"/>
                    </a:ext>
                  </a:extLst>
                </a:gridCol>
                <a:gridCol w="2870200">
                  <a:extLst>
                    <a:ext uri="{9D8B030D-6E8A-4147-A177-3AD203B41FA5}">
                      <a16:colId xmlns:a16="http://schemas.microsoft.com/office/drawing/2014/main" val="3975179690"/>
                    </a:ext>
                  </a:extLst>
                </a:gridCol>
              </a:tblGrid>
              <a:tr h="91136">
                <a:tc>
                  <a:txBody>
                    <a:bodyPr/>
                    <a:lstStyle/>
                    <a:p>
                      <a:r>
                        <a:rPr lang="en-IN" sz="1100" b="1" dirty="0"/>
                        <a:t>Aspect</a:t>
                      </a:r>
                      <a:endParaRPr lang="en-IN" sz="1100" dirty="0"/>
                    </a:p>
                  </a:txBody>
                  <a:tcPr marL="22784" marR="22784" marT="11392" marB="11392" anchor="ctr"/>
                </a:tc>
                <a:tc>
                  <a:txBody>
                    <a:bodyPr/>
                    <a:lstStyle/>
                    <a:p>
                      <a:r>
                        <a:rPr lang="en-IN" sz="1100" b="1"/>
                        <a:t>SAP UI5</a:t>
                      </a:r>
                      <a:endParaRPr lang="en-IN" sz="1100"/>
                    </a:p>
                  </a:txBody>
                  <a:tcPr marL="22784" marR="22784" marT="11392" marB="11392" anchor="ctr"/>
                </a:tc>
                <a:tc>
                  <a:txBody>
                    <a:bodyPr/>
                    <a:lstStyle/>
                    <a:p>
                      <a:r>
                        <a:rPr lang="en-IN" sz="1100" b="1"/>
                        <a:t>SAP Build Apps</a:t>
                      </a:r>
                      <a:endParaRPr lang="en-IN" sz="1100"/>
                    </a:p>
                  </a:txBody>
                  <a:tcPr marL="22784" marR="22784" marT="11392" marB="11392" anchor="ctr"/>
                </a:tc>
                <a:extLst>
                  <a:ext uri="{0D108BD9-81ED-4DB2-BD59-A6C34878D82A}">
                    <a16:rowId xmlns:a16="http://schemas.microsoft.com/office/drawing/2014/main" val="1078864104"/>
                  </a:ext>
                </a:extLst>
              </a:tr>
              <a:tr h="159489">
                <a:tc>
                  <a:txBody>
                    <a:bodyPr/>
                    <a:lstStyle/>
                    <a:p>
                      <a:r>
                        <a:rPr lang="en-IN" sz="1000" b="1" dirty="0"/>
                        <a:t>Development Approach</a:t>
                      </a:r>
                      <a:endParaRPr lang="en-IN" sz="1000" dirty="0"/>
                    </a:p>
                  </a:txBody>
                  <a:tcPr marL="22784" marR="22784" marT="11392" marB="11392" anchor="ctr"/>
                </a:tc>
                <a:tc>
                  <a:txBody>
                    <a:bodyPr/>
                    <a:lstStyle/>
                    <a:p>
                      <a:r>
                        <a:rPr lang="en-US" sz="1000" dirty="0"/>
                        <a:t>Full-code development (JavaScript, HTML, CSS)</a:t>
                      </a:r>
                    </a:p>
                  </a:txBody>
                  <a:tcPr marL="22784" marR="22784" marT="11392" marB="11392" anchor="ctr"/>
                </a:tc>
                <a:tc>
                  <a:txBody>
                    <a:bodyPr/>
                    <a:lstStyle/>
                    <a:p>
                      <a:r>
                        <a:rPr lang="en-US" sz="1000"/>
                        <a:t>Low-code/no-code (drag-and-drop, minimal code)</a:t>
                      </a:r>
                    </a:p>
                  </a:txBody>
                  <a:tcPr marL="22784" marR="22784" marT="11392" marB="11392" anchor="ctr"/>
                </a:tc>
                <a:extLst>
                  <a:ext uri="{0D108BD9-81ED-4DB2-BD59-A6C34878D82A}">
                    <a16:rowId xmlns:a16="http://schemas.microsoft.com/office/drawing/2014/main" val="1971287169"/>
                  </a:ext>
                </a:extLst>
              </a:tr>
              <a:tr h="227841">
                <a:tc>
                  <a:txBody>
                    <a:bodyPr/>
                    <a:lstStyle/>
                    <a:p>
                      <a:r>
                        <a:rPr lang="en-IN" sz="1000" b="1"/>
                        <a:t>Target Audience</a:t>
                      </a:r>
                      <a:endParaRPr lang="en-IN" sz="1000"/>
                    </a:p>
                  </a:txBody>
                  <a:tcPr marL="22784" marR="22784" marT="11392" marB="11392" anchor="ctr"/>
                </a:tc>
                <a:tc>
                  <a:txBody>
                    <a:bodyPr/>
                    <a:lstStyle/>
                    <a:p>
                      <a:r>
                        <a:rPr lang="en-IN" sz="1000"/>
                        <a:t>Frontend developers, UI/UX designers, SAP developers</a:t>
                      </a:r>
                    </a:p>
                  </a:txBody>
                  <a:tcPr marL="22784" marR="22784" marT="11392" marB="11392" anchor="ctr"/>
                </a:tc>
                <a:tc>
                  <a:txBody>
                    <a:bodyPr/>
                    <a:lstStyle/>
                    <a:p>
                      <a:r>
                        <a:rPr lang="en-US" sz="1000"/>
                        <a:t>Business users, citizen developers, IT teams</a:t>
                      </a:r>
                    </a:p>
                  </a:txBody>
                  <a:tcPr marL="22784" marR="22784" marT="11392" marB="11392" anchor="ctr"/>
                </a:tc>
                <a:extLst>
                  <a:ext uri="{0D108BD9-81ED-4DB2-BD59-A6C34878D82A}">
                    <a16:rowId xmlns:a16="http://schemas.microsoft.com/office/drawing/2014/main" val="524857799"/>
                  </a:ext>
                </a:extLst>
              </a:tr>
              <a:tr h="227841">
                <a:tc>
                  <a:txBody>
                    <a:bodyPr/>
                    <a:lstStyle/>
                    <a:p>
                      <a:r>
                        <a:rPr lang="en-IN" sz="1000" b="1"/>
                        <a:t>Customizability</a:t>
                      </a:r>
                      <a:endParaRPr lang="en-IN" sz="1000"/>
                    </a:p>
                  </a:txBody>
                  <a:tcPr marL="22784" marR="22784" marT="11392" marB="11392" anchor="ctr"/>
                </a:tc>
                <a:tc>
                  <a:txBody>
                    <a:bodyPr/>
                    <a:lstStyle/>
                    <a:p>
                      <a:r>
                        <a:rPr lang="en-US" sz="1000" dirty="0"/>
                        <a:t>Highly customizable, full control over design and logic</a:t>
                      </a:r>
                    </a:p>
                  </a:txBody>
                  <a:tcPr marL="22784" marR="22784" marT="11392" marB="11392" anchor="ctr"/>
                </a:tc>
                <a:tc>
                  <a:txBody>
                    <a:bodyPr/>
                    <a:lstStyle/>
                    <a:p>
                      <a:r>
                        <a:rPr lang="en-US" sz="1000"/>
                        <a:t>Flexible with limits; customization possible with code</a:t>
                      </a:r>
                    </a:p>
                  </a:txBody>
                  <a:tcPr marL="22784" marR="22784" marT="11392" marB="11392" anchor="ctr"/>
                </a:tc>
                <a:extLst>
                  <a:ext uri="{0D108BD9-81ED-4DB2-BD59-A6C34878D82A}">
                    <a16:rowId xmlns:a16="http://schemas.microsoft.com/office/drawing/2014/main" val="216765501"/>
                  </a:ext>
                </a:extLst>
              </a:tr>
              <a:tr h="159489">
                <a:tc>
                  <a:txBody>
                    <a:bodyPr/>
                    <a:lstStyle/>
                    <a:p>
                      <a:r>
                        <a:rPr lang="en-IN" sz="1000" b="1"/>
                        <a:t>Ease of Use</a:t>
                      </a:r>
                      <a:endParaRPr lang="en-IN" sz="1000"/>
                    </a:p>
                  </a:txBody>
                  <a:tcPr marL="22784" marR="22784" marT="11392" marB="11392" anchor="ctr"/>
                </a:tc>
                <a:tc>
                  <a:txBody>
                    <a:bodyPr/>
                    <a:lstStyle/>
                    <a:p>
                      <a:r>
                        <a:rPr lang="en-IN" sz="1000"/>
                        <a:t>Requires programming knowledge (JavaScript)</a:t>
                      </a:r>
                    </a:p>
                  </a:txBody>
                  <a:tcPr marL="22784" marR="22784" marT="11392" marB="11392" anchor="ctr"/>
                </a:tc>
                <a:tc>
                  <a:txBody>
                    <a:bodyPr/>
                    <a:lstStyle/>
                    <a:p>
                      <a:r>
                        <a:rPr lang="en-US" sz="1000" dirty="0"/>
                        <a:t>Very user-friendly, no/less programming required</a:t>
                      </a:r>
                    </a:p>
                  </a:txBody>
                  <a:tcPr marL="22784" marR="22784" marT="11392" marB="11392" anchor="ctr"/>
                </a:tc>
                <a:extLst>
                  <a:ext uri="{0D108BD9-81ED-4DB2-BD59-A6C34878D82A}">
                    <a16:rowId xmlns:a16="http://schemas.microsoft.com/office/drawing/2014/main" val="1344627193"/>
                  </a:ext>
                </a:extLst>
              </a:tr>
              <a:tr h="227841">
                <a:tc>
                  <a:txBody>
                    <a:bodyPr/>
                    <a:lstStyle/>
                    <a:p>
                      <a:r>
                        <a:rPr lang="en-IN" sz="1000" b="1"/>
                        <a:t>Platform Type</a:t>
                      </a:r>
                      <a:endParaRPr lang="en-IN" sz="1000"/>
                    </a:p>
                  </a:txBody>
                  <a:tcPr marL="22784" marR="22784" marT="11392" marB="11392" anchor="ctr"/>
                </a:tc>
                <a:tc>
                  <a:txBody>
                    <a:bodyPr/>
                    <a:lstStyle/>
                    <a:p>
                      <a:r>
                        <a:rPr lang="en-US" sz="1000" dirty="0"/>
                        <a:t>UI framework for building custom web apps, Suitable for both cloud and on-premise apps</a:t>
                      </a:r>
                    </a:p>
                  </a:txBody>
                  <a:tcPr marL="22784" marR="22784" marT="11392" marB="11392" anchor="ctr"/>
                </a:tc>
                <a:tc>
                  <a:txBody>
                    <a:bodyPr/>
                    <a:lstStyle/>
                    <a:p>
                      <a:r>
                        <a:rPr lang="en-US" sz="1000" dirty="0"/>
                        <a:t>Low-code platform for full app development (web, mobile) suitable for cloud and native apps</a:t>
                      </a:r>
                    </a:p>
                  </a:txBody>
                  <a:tcPr marL="22784" marR="22784" marT="11392" marB="11392" anchor="ctr"/>
                </a:tc>
                <a:extLst>
                  <a:ext uri="{0D108BD9-81ED-4DB2-BD59-A6C34878D82A}">
                    <a16:rowId xmlns:a16="http://schemas.microsoft.com/office/drawing/2014/main" val="3277582465"/>
                  </a:ext>
                </a:extLst>
              </a:tr>
              <a:tr h="227841">
                <a:tc>
                  <a:txBody>
                    <a:bodyPr/>
                    <a:lstStyle/>
                    <a:p>
                      <a:r>
                        <a:rPr lang="en-IN" sz="1000" b="1" dirty="0"/>
                        <a:t>APK support</a:t>
                      </a:r>
                      <a:endParaRPr lang="en-IN" sz="1000" dirty="0"/>
                    </a:p>
                  </a:txBody>
                  <a:tcPr marL="22784" marR="22784" marT="11392" marB="11392" anchor="ctr"/>
                </a:tc>
                <a:tc>
                  <a:txBody>
                    <a:bodyPr/>
                    <a:lstStyle/>
                    <a:p>
                      <a:r>
                        <a:rPr lang="en-US" sz="1000" dirty="0"/>
                        <a:t>Using Cordova plugin</a:t>
                      </a:r>
                    </a:p>
                  </a:txBody>
                  <a:tcPr marL="22784" marR="22784" marT="11392" marB="11392" anchor="ctr"/>
                </a:tc>
                <a:tc>
                  <a:txBody>
                    <a:bodyPr/>
                    <a:lstStyle/>
                    <a:p>
                      <a:r>
                        <a:rPr lang="en-US" sz="1000" dirty="0"/>
                        <a:t>Direct support to extract the APK</a:t>
                      </a:r>
                    </a:p>
                  </a:txBody>
                  <a:tcPr marL="22784" marR="22784" marT="11392" marB="11392" anchor="ctr"/>
                </a:tc>
                <a:extLst>
                  <a:ext uri="{0D108BD9-81ED-4DB2-BD59-A6C34878D82A}">
                    <a16:rowId xmlns:a16="http://schemas.microsoft.com/office/drawing/2014/main" val="1176057960"/>
                  </a:ext>
                </a:extLst>
              </a:tr>
              <a:tr h="227841">
                <a:tc>
                  <a:txBody>
                    <a:bodyPr/>
                    <a:lstStyle/>
                    <a:p>
                      <a:r>
                        <a:rPr lang="en-IN" sz="1000" b="1" dirty="0"/>
                        <a:t>UI Components</a:t>
                      </a:r>
                      <a:endParaRPr lang="en-IN" sz="1000" dirty="0"/>
                    </a:p>
                  </a:txBody>
                  <a:tcPr marL="22784" marR="22784" marT="11392" marB="11392" anchor="ctr"/>
                </a:tc>
                <a:tc>
                  <a:txBody>
                    <a:bodyPr/>
                    <a:lstStyle/>
                    <a:p>
                      <a:r>
                        <a:rPr lang="en-IN" sz="1000"/>
                        <a:t>Advanced, enterprise-grade UI components</a:t>
                      </a:r>
                    </a:p>
                  </a:txBody>
                  <a:tcPr marL="22784" marR="22784" marT="11392" marB="11392" anchor="ctr"/>
                </a:tc>
                <a:tc>
                  <a:txBody>
                    <a:bodyPr/>
                    <a:lstStyle/>
                    <a:p>
                      <a:r>
                        <a:rPr lang="en-US" sz="1000" dirty="0"/>
                        <a:t>Pre-built, basic UI components for rapid development</a:t>
                      </a:r>
                    </a:p>
                  </a:txBody>
                  <a:tcPr marL="22784" marR="22784" marT="11392" marB="11392" anchor="ctr"/>
                </a:tc>
                <a:extLst>
                  <a:ext uri="{0D108BD9-81ED-4DB2-BD59-A6C34878D82A}">
                    <a16:rowId xmlns:a16="http://schemas.microsoft.com/office/drawing/2014/main" val="1414030629"/>
                  </a:ext>
                </a:extLst>
              </a:tr>
              <a:tr h="227841">
                <a:tc>
                  <a:txBody>
                    <a:bodyPr/>
                    <a:lstStyle/>
                    <a:p>
                      <a:r>
                        <a:rPr lang="en-IN" sz="1000" b="1" dirty="0"/>
                        <a:t>Integration with SAP Systems</a:t>
                      </a:r>
                      <a:endParaRPr lang="en-IN" sz="1000" dirty="0"/>
                    </a:p>
                  </a:txBody>
                  <a:tcPr marL="22784" marR="22784" marT="11392" marB="11392" anchor="ctr"/>
                </a:tc>
                <a:tc>
                  <a:txBody>
                    <a:bodyPr/>
                    <a:lstStyle/>
                    <a:p>
                      <a:r>
                        <a:rPr lang="en-US" sz="1000" dirty="0"/>
                        <a:t>Seamless integration with SAP backend (S/4HANA, Fiori, etc.)</a:t>
                      </a:r>
                    </a:p>
                  </a:txBody>
                  <a:tcPr marL="22784" marR="22784" marT="11392" marB="11392" anchor="ctr"/>
                </a:tc>
                <a:tc>
                  <a:txBody>
                    <a:bodyPr/>
                    <a:lstStyle/>
                    <a:p>
                      <a:r>
                        <a:rPr lang="en-US" sz="1000"/>
                        <a:t>Integrates with SAP and non-SAP systems via APIs</a:t>
                      </a:r>
                    </a:p>
                  </a:txBody>
                  <a:tcPr marL="22784" marR="22784" marT="11392" marB="11392" anchor="ctr"/>
                </a:tc>
                <a:extLst>
                  <a:ext uri="{0D108BD9-81ED-4DB2-BD59-A6C34878D82A}">
                    <a16:rowId xmlns:a16="http://schemas.microsoft.com/office/drawing/2014/main" val="1765653281"/>
                  </a:ext>
                </a:extLst>
              </a:tr>
              <a:tr h="159489">
                <a:tc>
                  <a:txBody>
                    <a:bodyPr/>
                    <a:lstStyle/>
                    <a:p>
                      <a:r>
                        <a:rPr lang="en-IN" sz="1000" b="1" dirty="0"/>
                        <a:t>Integration with Third-Party Systems</a:t>
                      </a:r>
                      <a:endParaRPr lang="en-IN" sz="1000" dirty="0"/>
                    </a:p>
                  </a:txBody>
                  <a:tcPr marL="22784" marR="22784" marT="11392" marB="11392" anchor="ctr"/>
                </a:tc>
                <a:tc>
                  <a:txBody>
                    <a:bodyPr/>
                    <a:lstStyle/>
                    <a:p>
                      <a:r>
                        <a:rPr lang="en-IN" sz="1000" dirty="0"/>
                        <a:t>Typically requires custom development</a:t>
                      </a:r>
                    </a:p>
                  </a:txBody>
                  <a:tcPr marL="22784" marR="22784" marT="11392" marB="11392" anchor="ctr"/>
                </a:tc>
                <a:tc>
                  <a:txBody>
                    <a:bodyPr/>
                    <a:lstStyle/>
                    <a:p>
                      <a:r>
                        <a:rPr lang="en-US" sz="1000"/>
                        <a:t>Easy integration with third-party systems via APIs</a:t>
                      </a:r>
                    </a:p>
                  </a:txBody>
                  <a:tcPr marL="22784" marR="22784" marT="11392" marB="11392" anchor="ctr"/>
                </a:tc>
                <a:extLst>
                  <a:ext uri="{0D108BD9-81ED-4DB2-BD59-A6C34878D82A}">
                    <a16:rowId xmlns:a16="http://schemas.microsoft.com/office/drawing/2014/main" val="3474205117"/>
                  </a:ext>
                </a:extLst>
              </a:tr>
              <a:tr h="227841">
                <a:tc>
                  <a:txBody>
                    <a:bodyPr/>
                    <a:lstStyle/>
                    <a:p>
                      <a:r>
                        <a:rPr lang="en-IN" sz="1000" b="1" dirty="0"/>
                        <a:t>Flexibility in Design</a:t>
                      </a:r>
                      <a:endParaRPr lang="en-IN" sz="1000" dirty="0"/>
                    </a:p>
                  </a:txBody>
                  <a:tcPr marL="22784" marR="22784" marT="11392" marB="11392" anchor="ctr"/>
                </a:tc>
                <a:tc>
                  <a:txBody>
                    <a:bodyPr/>
                    <a:lstStyle/>
                    <a:p>
                      <a:r>
                        <a:rPr lang="en-US" sz="1000" dirty="0"/>
                        <a:t>Full flexibility for custom designs and behaviors</a:t>
                      </a:r>
                    </a:p>
                  </a:txBody>
                  <a:tcPr marL="22784" marR="22784" marT="11392" marB="11392" anchor="ctr"/>
                </a:tc>
                <a:tc>
                  <a:txBody>
                    <a:bodyPr/>
                    <a:lstStyle/>
                    <a:p>
                      <a:r>
                        <a:rPr lang="en-US" sz="1000"/>
                        <a:t>Limited flexibility compared to full coding, but extensible with logic</a:t>
                      </a:r>
                    </a:p>
                  </a:txBody>
                  <a:tcPr marL="22784" marR="22784" marT="11392" marB="11392" anchor="ctr"/>
                </a:tc>
                <a:extLst>
                  <a:ext uri="{0D108BD9-81ED-4DB2-BD59-A6C34878D82A}">
                    <a16:rowId xmlns:a16="http://schemas.microsoft.com/office/drawing/2014/main" val="1799076693"/>
                  </a:ext>
                </a:extLst>
              </a:tr>
              <a:tr h="159489">
                <a:tc>
                  <a:txBody>
                    <a:bodyPr/>
                    <a:lstStyle/>
                    <a:p>
                      <a:r>
                        <a:rPr lang="en-IN" sz="1000" b="1" dirty="0"/>
                        <a:t>Complexity</a:t>
                      </a:r>
                      <a:endParaRPr lang="en-IN" sz="1000" dirty="0"/>
                    </a:p>
                  </a:txBody>
                  <a:tcPr marL="22784" marR="22784" marT="11392" marB="11392" anchor="ctr"/>
                </a:tc>
                <a:tc>
                  <a:txBody>
                    <a:bodyPr/>
                    <a:lstStyle/>
                    <a:p>
                      <a:r>
                        <a:rPr lang="en-US" sz="1000" dirty="0"/>
                        <a:t>High, requires technical knowledge and expertise</a:t>
                      </a:r>
                    </a:p>
                  </a:txBody>
                  <a:tcPr marL="22784" marR="22784" marT="11392" marB="11392" anchor="ctr"/>
                </a:tc>
                <a:tc>
                  <a:txBody>
                    <a:bodyPr/>
                    <a:lstStyle/>
                    <a:p>
                      <a:r>
                        <a:rPr lang="en-US" sz="1000"/>
                        <a:t>Low, accessible for non-technical users</a:t>
                      </a:r>
                    </a:p>
                  </a:txBody>
                  <a:tcPr marL="22784" marR="22784" marT="11392" marB="11392" anchor="ctr"/>
                </a:tc>
                <a:extLst>
                  <a:ext uri="{0D108BD9-81ED-4DB2-BD59-A6C34878D82A}">
                    <a16:rowId xmlns:a16="http://schemas.microsoft.com/office/drawing/2014/main" val="2320841512"/>
                  </a:ext>
                </a:extLst>
              </a:tr>
              <a:tr h="227841">
                <a:tc>
                  <a:txBody>
                    <a:bodyPr/>
                    <a:lstStyle/>
                    <a:p>
                      <a:r>
                        <a:rPr lang="en-IN" sz="1000" b="1" dirty="0"/>
                        <a:t>Speed of Development</a:t>
                      </a:r>
                      <a:endParaRPr lang="en-IN" sz="1000" dirty="0"/>
                    </a:p>
                  </a:txBody>
                  <a:tcPr marL="22784" marR="22784" marT="11392" marB="11392" anchor="ctr"/>
                </a:tc>
                <a:tc>
                  <a:txBody>
                    <a:bodyPr/>
                    <a:lstStyle/>
                    <a:p>
                      <a:r>
                        <a:rPr lang="en-US" sz="1000"/>
                        <a:t>Slower, due to custom coding and in-depth UI design</a:t>
                      </a:r>
                    </a:p>
                  </a:txBody>
                  <a:tcPr marL="22784" marR="22784" marT="11392" marB="11392" anchor="ctr"/>
                </a:tc>
                <a:tc>
                  <a:txBody>
                    <a:bodyPr/>
                    <a:lstStyle/>
                    <a:p>
                      <a:r>
                        <a:rPr lang="en-US" sz="1000" dirty="0"/>
                        <a:t>Faster, thanks to low-code/no-code approach</a:t>
                      </a:r>
                    </a:p>
                  </a:txBody>
                  <a:tcPr marL="22784" marR="22784" marT="11392" marB="11392" anchor="ctr"/>
                </a:tc>
                <a:extLst>
                  <a:ext uri="{0D108BD9-81ED-4DB2-BD59-A6C34878D82A}">
                    <a16:rowId xmlns:a16="http://schemas.microsoft.com/office/drawing/2014/main" val="433042983"/>
                  </a:ext>
                </a:extLst>
              </a:tr>
              <a:tr h="227841">
                <a:tc>
                  <a:txBody>
                    <a:bodyPr/>
                    <a:lstStyle/>
                    <a:p>
                      <a:r>
                        <a:rPr lang="en-IN" sz="1000" b="1" dirty="0"/>
                        <a:t>Cost</a:t>
                      </a:r>
                      <a:endParaRPr lang="en-IN" sz="1000" dirty="0"/>
                    </a:p>
                  </a:txBody>
                  <a:tcPr marL="22784" marR="22784" marT="11392" marB="11392" anchor="ctr"/>
                </a:tc>
                <a:tc>
                  <a:txBody>
                    <a:bodyPr/>
                    <a:lstStyle/>
                    <a:p>
                      <a:r>
                        <a:rPr lang="en-US" sz="1000" dirty="0"/>
                        <a:t>High</a:t>
                      </a:r>
                    </a:p>
                  </a:txBody>
                  <a:tcPr marL="22784" marR="22784" marT="11392" marB="11392" anchor="ctr"/>
                </a:tc>
                <a:tc>
                  <a:txBody>
                    <a:bodyPr/>
                    <a:lstStyle/>
                    <a:p>
                      <a:r>
                        <a:rPr lang="en-US" sz="1000" dirty="0"/>
                        <a:t>Less</a:t>
                      </a:r>
                    </a:p>
                  </a:txBody>
                  <a:tcPr marL="22784" marR="22784" marT="11392" marB="11392" anchor="ctr"/>
                </a:tc>
                <a:extLst>
                  <a:ext uri="{0D108BD9-81ED-4DB2-BD59-A6C34878D82A}">
                    <a16:rowId xmlns:a16="http://schemas.microsoft.com/office/drawing/2014/main" val="64431186"/>
                  </a:ext>
                </a:extLst>
              </a:tr>
              <a:tr h="227841">
                <a:tc>
                  <a:txBody>
                    <a:bodyPr/>
                    <a:lstStyle/>
                    <a:p>
                      <a:r>
                        <a:rPr lang="en-IN" sz="1000" b="1"/>
                        <a:t>Use Case</a:t>
                      </a:r>
                      <a:endParaRPr lang="en-IN" sz="1000"/>
                    </a:p>
                  </a:txBody>
                  <a:tcPr marL="22784" marR="22784" marT="11392" marB="11392" anchor="ctr"/>
                </a:tc>
                <a:tc>
                  <a:txBody>
                    <a:bodyPr/>
                    <a:lstStyle/>
                    <a:p>
                      <a:r>
                        <a:rPr lang="en-US" sz="1000"/>
                        <a:t>Custom, enterprise-level applications with detailed UI</a:t>
                      </a:r>
                    </a:p>
                  </a:txBody>
                  <a:tcPr marL="22784" marR="22784" marT="11392" marB="11392" anchor="ctr"/>
                </a:tc>
                <a:tc>
                  <a:txBody>
                    <a:bodyPr/>
                    <a:lstStyle/>
                    <a:p>
                      <a:r>
                        <a:rPr lang="en-US" sz="1000" dirty="0"/>
                        <a:t>Rapid prototyping and app development for business needs</a:t>
                      </a:r>
                    </a:p>
                  </a:txBody>
                  <a:tcPr marL="22784" marR="22784" marT="11392" marB="11392" anchor="ctr"/>
                </a:tc>
                <a:extLst>
                  <a:ext uri="{0D108BD9-81ED-4DB2-BD59-A6C34878D82A}">
                    <a16:rowId xmlns:a16="http://schemas.microsoft.com/office/drawing/2014/main" val="4275600967"/>
                  </a:ext>
                </a:extLst>
              </a:tr>
              <a:tr h="227841">
                <a:tc>
                  <a:txBody>
                    <a:bodyPr/>
                    <a:lstStyle/>
                    <a:p>
                      <a:r>
                        <a:rPr lang="en-IN" sz="1000" b="1"/>
                        <a:t>Extensibility</a:t>
                      </a:r>
                      <a:endParaRPr lang="en-IN" sz="1000"/>
                    </a:p>
                  </a:txBody>
                  <a:tcPr marL="22784" marR="22784" marT="11392" marB="11392" anchor="ctr"/>
                </a:tc>
                <a:tc>
                  <a:txBody>
                    <a:bodyPr/>
                    <a:lstStyle/>
                    <a:p>
                      <a:r>
                        <a:rPr lang="en-US" sz="1000"/>
                        <a:t>Fully extensible with custom code</a:t>
                      </a:r>
                    </a:p>
                  </a:txBody>
                  <a:tcPr marL="22784" marR="22784" marT="11392" marB="11392" anchor="ctr"/>
                </a:tc>
                <a:tc>
                  <a:txBody>
                    <a:bodyPr/>
                    <a:lstStyle/>
                    <a:p>
                      <a:r>
                        <a:rPr lang="en-US" sz="1000" dirty="0"/>
                        <a:t>Extensible with custom code but within a low-code environment</a:t>
                      </a:r>
                    </a:p>
                  </a:txBody>
                  <a:tcPr marL="22784" marR="22784" marT="11392" marB="11392" anchor="ctr"/>
                </a:tc>
                <a:extLst>
                  <a:ext uri="{0D108BD9-81ED-4DB2-BD59-A6C34878D82A}">
                    <a16:rowId xmlns:a16="http://schemas.microsoft.com/office/drawing/2014/main" val="3693689815"/>
                  </a:ext>
                </a:extLst>
              </a:tr>
              <a:tr h="227841">
                <a:tc>
                  <a:txBody>
                    <a:bodyPr/>
                    <a:lstStyle/>
                    <a:p>
                      <a:r>
                        <a:rPr lang="en-IN" sz="1000" b="1"/>
                        <a:t>Maintenance</a:t>
                      </a:r>
                      <a:endParaRPr lang="en-IN" sz="1000"/>
                    </a:p>
                  </a:txBody>
                  <a:tcPr marL="22784" marR="22784" marT="11392" marB="11392" anchor="ctr"/>
                </a:tc>
                <a:tc>
                  <a:txBody>
                    <a:bodyPr/>
                    <a:lstStyle/>
                    <a:p>
                      <a:r>
                        <a:rPr lang="en-US" sz="1000"/>
                        <a:t>Requires ongoing developer involvement for updates</a:t>
                      </a:r>
                    </a:p>
                  </a:txBody>
                  <a:tcPr marL="22784" marR="22784" marT="11392" marB="11392" anchor="ctr"/>
                </a:tc>
                <a:tc>
                  <a:txBody>
                    <a:bodyPr/>
                    <a:lstStyle/>
                    <a:p>
                      <a:r>
                        <a:rPr lang="en-US" sz="1000" dirty="0"/>
                        <a:t>Easier to maintain, especially for non-technical teams</a:t>
                      </a:r>
                    </a:p>
                  </a:txBody>
                  <a:tcPr marL="22784" marR="22784" marT="11392" marB="11392" anchor="ctr"/>
                </a:tc>
                <a:extLst>
                  <a:ext uri="{0D108BD9-81ED-4DB2-BD59-A6C34878D82A}">
                    <a16:rowId xmlns:a16="http://schemas.microsoft.com/office/drawing/2014/main" val="1177527492"/>
                  </a:ext>
                </a:extLst>
              </a:tr>
              <a:tr h="159489">
                <a:tc>
                  <a:txBody>
                    <a:bodyPr/>
                    <a:lstStyle/>
                    <a:p>
                      <a:r>
                        <a:rPr lang="en-IN" sz="1000" b="1"/>
                        <a:t>Learning Curve</a:t>
                      </a:r>
                      <a:endParaRPr lang="en-IN" sz="1000"/>
                    </a:p>
                  </a:txBody>
                  <a:tcPr marL="22784" marR="22784" marT="11392" marB="11392" anchor="ctr"/>
                </a:tc>
                <a:tc>
                  <a:txBody>
                    <a:bodyPr/>
                    <a:lstStyle/>
                    <a:p>
                      <a:r>
                        <a:rPr lang="en-US" sz="1000"/>
                        <a:t>Steep learning curve for developers</a:t>
                      </a:r>
                    </a:p>
                  </a:txBody>
                  <a:tcPr marL="22784" marR="22784" marT="11392" marB="11392" anchor="ctr"/>
                </a:tc>
                <a:tc>
                  <a:txBody>
                    <a:bodyPr/>
                    <a:lstStyle/>
                    <a:p>
                      <a:r>
                        <a:rPr lang="en-US" sz="1000" dirty="0"/>
                        <a:t>Low learning curve for non-technical users</a:t>
                      </a:r>
                    </a:p>
                  </a:txBody>
                  <a:tcPr marL="22784" marR="22784" marT="11392" marB="11392" anchor="ctr"/>
                </a:tc>
                <a:extLst>
                  <a:ext uri="{0D108BD9-81ED-4DB2-BD59-A6C34878D82A}">
                    <a16:rowId xmlns:a16="http://schemas.microsoft.com/office/drawing/2014/main" val="848069698"/>
                  </a:ext>
                </a:extLst>
              </a:tr>
            </a:tbl>
          </a:graphicData>
        </a:graphic>
      </p:graphicFrame>
    </p:spTree>
    <p:extLst>
      <p:ext uri="{BB962C8B-B14F-4D97-AF65-F5344CB8AC3E}">
        <p14:creationId xmlns:p14="http://schemas.microsoft.com/office/powerpoint/2010/main" val="2618559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267E1-D0D6-2AEF-4CBD-3FB5C659320A}"/>
            </a:ext>
          </a:extLst>
        </p:cNvPr>
        <p:cNvGrpSpPr/>
        <p:nvPr/>
      </p:nvGrpSpPr>
      <p:grpSpPr>
        <a:xfrm>
          <a:off x="0" y="0"/>
          <a:ext cx="0" cy="0"/>
          <a:chOff x="0" y="0"/>
          <a:chExt cx="0" cy="0"/>
        </a:xfrm>
      </p:grpSpPr>
      <p:sp>
        <p:nvSpPr>
          <p:cNvPr id="219" name="TextBox 218">
            <a:extLst>
              <a:ext uri="{FF2B5EF4-FFF2-40B4-BE49-F238E27FC236}">
                <a16:creationId xmlns:a16="http://schemas.microsoft.com/office/drawing/2014/main" id="{5D8BD4D4-962A-698E-8ED0-DBB85695A5F3}"/>
              </a:ext>
            </a:extLst>
          </p:cNvPr>
          <p:cNvSpPr txBox="1"/>
          <p:nvPr/>
        </p:nvSpPr>
        <p:spPr>
          <a:xfrm>
            <a:off x="108857" y="2475363"/>
            <a:ext cx="5257800" cy="707886"/>
          </a:xfrm>
          <a:prstGeom prst="rect">
            <a:avLst/>
          </a:prstGeom>
          <a:solidFill>
            <a:schemeClr val="bg2">
              <a:lumMod val="90000"/>
            </a:schemeClr>
          </a:solidFill>
        </p:spPr>
        <p:txBody>
          <a:bodyPr wrap="square" rtlCol="0">
            <a:spAutoFit/>
          </a:bodyPr>
          <a:lstStyle/>
          <a:p>
            <a:r>
              <a:rPr lang="en-US" b="1" dirty="0"/>
              <a:t>App variables</a:t>
            </a:r>
          </a:p>
          <a:p>
            <a:pPr algn="l">
              <a:buNone/>
            </a:pPr>
            <a:r>
              <a:rPr lang="en-US" sz="1100" b="0" i="0" dirty="0">
                <a:solidFill>
                  <a:srgbClr val="333333"/>
                </a:solidFill>
                <a:effectLst/>
                <a:latin typeface="72" panose="020B0503030000000003" pitchFamily="34" charset="0"/>
              </a:rPr>
              <a:t>App variables exist in the global context of the app. When the app opens for the first time, or is closed and reopened, app variables are reset.</a:t>
            </a:r>
          </a:p>
        </p:txBody>
      </p:sp>
      <p:sp>
        <p:nvSpPr>
          <p:cNvPr id="221" name="TextBox 220">
            <a:extLst>
              <a:ext uri="{FF2B5EF4-FFF2-40B4-BE49-F238E27FC236}">
                <a16:creationId xmlns:a16="http://schemas.microsoft.com/office/drawing/2014/main" id="{6E3AF881-1C3F-04F3-653E-B00C19201D34}"/>
              </a:ext>
            </a:extLst>
          </p:cNvPr>
          <p:cNvSpPr txBox="1"/>
          <p:nvPr/>
        </p:nvSpPr>
        <p:spPr>
          <a:xfrm>
            <a:off x="108857" y="3612447"/>
            <a:ext cx="5257800" cy="707886"/>
          </a:xfrm>
          <a:prstGeom prst="rect">
            <a:avLst/>
          </a:prstGeom>
          <a:solidFill>
            <a:schemeClr val="tx2">
              <a:lumMod val="20000"/>
              <a:lumOff val="80000"/>
            </a:schemeClr>
          </a:solidFill>
        </p:spPr>
        <p:txBody>
          <a:bodyPr wrap="square" rtlCol="0">
            <a:spAutoFit/>
          </a:bodyPr>
          <a:lstStyle/>
          <a:p>
            <a:r>
              <a:rPr lang="en-US" b="1" dirty="0"/>
              <a:t>Theme variables</a:t>
            </a:r>
          </a:p>
          <a:p>
            <a:pPr algn="l">
              <a:buNone/>
            </a:pPr>
            <a:r>
              <a:rPr lang="en-US" sz="1100" b="0" i="0" dirty="0">
                <a:solidFill>
                  <a:srgbClr val="333333"/>
                </a:solidFill>
                <a:effectLst/>
                <a:latin typeface="72" panose="020B0503030000000003" pitchFamily="34" charset="0"/>
              </a:rPr>
              <a:t>Theme variables define how the various view components look, giving you an easy way to change the whole look-and-feel of your app.</a:t>
            </a:r>
          </a:p>
        </p:txBody>
      </p:sp>
      <p:sp>
        <p:nvSpPr>
          <p:cNvPr id="3" name="Footer Placeholder 2">
            <a:extLst>
              <a:ext uri="{FF2B5EF4-FFF2-40B4-BE49-F238E27FC236}">
                <a16:creationId xmlns:a16="http://schemas.microsoft.com/office/drawing/2014/main" id="{53DEF2BE-D5CA-8FF4-57F5-05FD0F8B6F80}"/>
              </a:ext>
            </a:extLst>
          </p:cNvPr>
          <p:cNvSpPr>
            <a:spLocks noGrp="1"/>
          </p:cNvSpPr>
          <p:nvPr>
            <p:ph type="ftr" sz="quarter" idx="11"/>
          </p:nvPr>
        </p:nvSpPr>
        <p:spPr>
          <a:xfrm>
            <a:off x="-31820" y="4782623"/>
            <a:ext cx="2895600" cy="273844"/>
          </a:xfrm>
        </p:spPr>
        <p:txBody>
          <a:bodyPr/>
          <a:lstStyle/>
          <a:p>
            <a:r>
              <a:rPr lang="en-US" dirty="0"/>
              <a:t>www.anubhavtrainings.com</a:t>
            </a:r>
          </a:p>
        </p:txBody>
      </p:sp>
      <p:sp>
        <p:nvSpPr>
          <p:cNvPr id="4" name="Slide Number Placeholder 3">
            <a:extLst>
              <a:ext uri="{FF2B5EF4-FFF2-40B4-BE49-F238E27FC236}">
                <a16:creationId xmlns:a16="http://schemas.microsoft.com/office/drawing/2014/main" id="{0621D399-FFA3-7B61-4F5E-9279553C9BD0}"/>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7</a:t>
            </a:fld>
            <a:endParaRPr lang="en-US" dirty="0"/>
          </a:p>
        </p:txBody>
      </p:sp>
      <p:sp>
        <p:nvSpPr>
          <p:cNvPr id="5" name="Title 4">
            <a:extLst>
              <a:ext uri="{FF2B5EF4-FFF2-40B4-BE49-F238E27FC236}">
                <a16:creationId xmlns:a16="http://schemas.microsoft.com/office/drawing/2014/main" id="{1F79BD5A-386D-C9E3-5CFB-40FA142B267D}"/>
              </a:ext>
            </a:extLst>
          </p:cNvPr>
          <p:cNvSpPr>
            <a:spLocks noGrp="1"/>
          </p:cNvSpPr>
          <p:nvPr>
            <p:ph type="title"/>
          </p:nvPr>
        </p:nvSpPr>
        <p:spPr>
          <a:xfrm>
            <a:off x="76200" y="133350"/>
            <a:ext cx="8229600" cy="533401"/>
          </a:xfrm>
        </p:spPr>
        <p:txBody>
          <a:bodyPr/>
          <a:lstStyle/>
          <a:p>
            <a:r>
              <a:rPr lang="en-IN" sz="2500" dirty="0">
                <a:latin typeface="Cooper Black" panose="0208090404030B020404" pitchFamily="18" charset="0"/>
              </a:rPr>
              <a:t>Types of Dynamic variables</a:t>
            </a:r>
          </a:p>
        </p:txBody>
      </p:sp>
      <p:sp>
        <p:nvSpPr>
          <p:cNvPr id="2" name="TextBox 1">
            <a:extLst>
              <a:ext uri="{FF2B5EF4-FFF2-40B4-BE49-F238E27FC236}">
                <a16:creationId xmlns:a16="http://schemas.microsoft.com/office/drawing/2014/main" id="{4BAEC777-929F-7ADE-8D90-B437968ABBE2}"/>
              </a:ext>
            </a:extLst>
          </p:cNvPr>
          <p:cNvSpPr txBox="1"/>
          <p:nvPr/>
        </p:nvSpPr>
        <p:spPr>
          <a:xfrm>
            <a:off x="76200" y="673381"/>
            <a:ext cx="8839200" cy="533401"/>
          </a:xfrm>
          <a:prstGeom prst="rect">
            <a:avLst/>
          </a:prstGeom>
        </p:spPr>
        <p:txBody>
          <a:bodyPr vert="horz" lIns="91440" tIns="45720" rIns="91440" bIns="45720" rtlCol="0">
            <a:normAutofit/>
          </a:bodyPr>
          <a:lstStyle/>
          <a:p>
            <a:pPr algn="l">
              <a:buNone/>
            </a:pPr>
            <a:r>
              <a:rPr lang="en-US" sz="1400" b="0" i="0" dirty="0">
                <a:solidFill>
                  <a:srgbClr val="333333"/>
                </a:solidFill>
                <a:effectLst/>
                <a:latin typeface="72" panose="020B0503030000000003" pitchFamily="34" charset="0"/>
              </a:rPr>
              <a:t>Dynamic variables are the backbone of your app logic. For the most part, the data they contain at any given time is determined by what flow functions have been called during the app runtime so far.</a:t>
            </a:r>
          </a:p>
        </p:txBody>
      </p:sp>
      <p:sp>
        <p:nvSpPr>
          <p:cNvPr id="216" name="TextBox 215">
            <a:extLst>
              <a:ext uri="{FF2B5EF4-FFF2-40B4-BE49-F238E27FC236}">
                <a16:creationId xmlns:a16="http://schemas.microsoft.com/office/drawing/2014/main" id="{AAA76539-235D-B265-10F6-4EF3E30DF09F}"/>
              </a:ext>
            </a:extLst>
          </p:cNvPr>
          <p:cNvSpPr txBox="1"/>
          <p:nvPr/>
        </p:nvSpPr>
        <p:spPr>
          <a:xfrm>
            <a:off x="76200" y="1213412"/>
            <a:ext cx="5257800" cy="738664"/>
          </a:xfrm>
          <a:prstGeom prst="rect">
            <a:avLst/>
          </a:prstGeom>
          <a:solidFill>
            <a:schemeClr val="accent5">
              <a:lumMod val="40000"/>
              <a:lumOff val="60000"/>
            </a:schemeClr>
          </a:solidFill>
        </p:spPr>
        <p:txBody>
          <a:bodyPr wrap="square" rtlCol="0">
            <a:spAutoFit/>
          </a:bodyPr>
          <a:lstStyle/>
          <a:p>
            <a:r>
              <a:rPr lang="en-US" b="1" dirty="0"/>
              <a:t>Page variables</a:t>
            </a:r>
          </a:p>
          <a:p>
            <a:r>
              <a:rPr lang="en-US" sz="1200" dirty="0"/>
              <a:t>Page variables exist in the context of a single page. When a page is removed from the navigation stack, its page variables are reset.</a:t>
            </a:r>
            <a:endParaRPr lang="en-IN" sz="1200" dirty="0"/>
          </a:p>
        </p:txBody>
      </p:sp>
      <p:sp>
        <p:nvSpPr>
          <p:cNvPr id="218" name="TextBox 217">
            <a:extLst>
              <a:ext uri="{FF2B5EF4-FFF2-40B4-BE49-F238E27FC236}">
                <a16:creationId xmlns:a16="http://schemas.microsoft.com/office/drawing/2014/main" id="{1B710DCE-3F10-AE24-FB03-7AF150D7D4CA}"/>
              </a:ext>
            </a:extLst>
          </p:cNvPr>
          <p:cNvSpPr txBox="1"/>
          <p:nvPr/>
        </p:nvSpPr>
        <p:spPr>
          <a:xfrm>
            <a:off x="3962400" y="1914611"/>
            <a:ext cx="5257800" cy="877163"/>
          </a:xfrm>
          <a:prstGeom prst="rect">
            <a:avLst/>
          </a:prstGeom>
          <a:solidFill>
            <a:schemeClr val="accent4">
              <a:lumMod val="40000"/>
              <a:lumOff val="60000"/>
            </a:schemeClr>
          </a:solidFill>
        </p:spPr>
        <p:txBody>
          <a:bodyPr wrap="square" rtlCol="0">
            <a:spAutoFit/>
          </a:bodyPr>
          <a:lstStyle/>
          <a:p>
            <a:r>
              <a:rPr lang="en-US" b="1" dirty="0"/>
              <a:t>Data variables</a:t>
            </a:r>
          </a:p>
          <a:p>
            <a:pPr algn="l">
              <a:buNone/>
            </a:pPr>
            <a:r>
              <a:rPr lang="en-US" sz="1100" b="0" i="0" dirty="0">
                <a:solidFill>
                  <a:srgbClr val="333333"/>
                </a:solidFill>
                <a:effectLst/>
                <a:latin typeface="72" panose="020B0503030000000003" pitchFamily="34" charset="0"/>
              </a:rPr>
              <a:t>Data variables are like page variables, but their schema is defined by the data resource they are linked to. They also come with default logic that loads the associated data from the backend and stores it in the data variable.</a:t>
            </a:r>
          </a:p>
        </p:txBody>
      </p:sp>
      <p:sp>
        <p:nvSpPr>
          <p:cNvPr id="220" name="TextBox 219">
            <a:extLst>
              <a:ext uri="{FF2B5EF4-FFF2-40B4-BE49-F238E27FC236}">
                <a16:creationId xmlns:a16="http://schemas.microsoft.com/office/drawing/2014/main" id="{8B464AAF-CAB4-CA37-FFF7-A6FA5C9CF14D}"/>
              </a:ext>
            </a:extLst>
          </p:cNvPr>
          <p:cNvSpPr txBox="1"/>
          <p:nvPr/>
        </p:nvSpPr>
        <p:spPr>
          <a:xfrm>
            <a:off x="3962400" y="2984052"/>
            <a:ext cx="5257800" cy="877163"/>
          </a:xfrm>
          <a:prstGeom prst="rect">
            <a:avLst/>
          </a:prstGeom>
          <a:solidFill>
            <a:schemeClr val="accent6">
              <a:lumMod val="40000"/>
              <a:lumOff val="60000"/>
            </a:schemeClr>
          </a:solidFill>
        </p:spPr>
        <p:txBody>
          <a:bodyPr wrap="square" rtlCol="0">
            <a:spAutoFit/>
          </a:bodyPr>
          <a:lstStyle/>
          <a:p>
            <a:r>
              <a:rPr lang="en-US" b="1" dirty="0"/>
              <a:t>Page Parameters</a:t>
            </a:r>
          </a:p>
          <a:p>
            <a:pPr algn="l">
              <a:buNone/>
            </a:pPr>
            <a:r>
              <a:rPr lang="en-US" sz="1100" b="0" i="0" dirty="0">
                <a:solidFill>
                  <a:srgbClr val="333333"/>
                </a:solidFill>
                <a:effectLst/>
                <a:latin typeface="72" panose="020B0503030000000003" pitchFamily="34" charset="0"/>
              </a:rPr>
              <a:t>Page parameters can only be of the </a:t>
            </a:r>
            <a:r>
              <a:rPr lang="en-US" sz="1100" b="1" i="0" dirty="0">
                <a:solidFill>
                  <a:srgbClr val="333333"/>
                </a:solidFill>
                <a:effectLst/>
                <a:latin typeface="72" panose="020B0503030000000003" pitchFamily="34" charset="0"/>
              </a:rPr>
              <a:t>text</a:t>
            </a:r>
            <a:r>
              <a:rPr lang="en-US" sz="1100" b="0" i="0" dirty="0">
                <a:solidFill>
                  <a:srgbClr val="333333"/>
                </a:solidFill>
                <a:effectLst/>
                <a:latin typeface="72" panose="020B0503030000000003" pitchFamily="34" charset="0"/>
              </a:rPr>
              <a:t> type. Page parameters are read-only variables that can be set with the </a:t>
            </a:r>
            <a:r>
              <a:rPr lang="en-US" sz="1100" b="1" i="0" dirty="0">
                <a:solidFill>
                  <a:srgbClr val="333333"/>
                </a:solidFill>
                <a:effectLst/>
                <a:latin typeface="72" panose="020B0503030000000003" pitchFamily="34" charset="0"/>
              </a:rPr>
              <a:t>Open page</a:t>
            </a:r>
            <a:r>
              <a:rPr lang="en-US" sz="1100" b="0" i="0" dirty="0">
                <a:solidFill>
                  <a:srgbClr val="333333"/>
                </a:solidFill>
                <a:effectLst/>
                <a:latin typeface="72" panose="020B0503030000000003" pitchFamily="34" charset="0"/>
              </a:rPr>
              <a:t> flow function for the new page, e.g. ID of a product for a product details page. </a:t>
            </a:r>
          </a:p>
        </p:txBody>
      </p:sp>
      <p:sp>
        <p:nvSpPr>
          <p:cNvPr id="222" name="TextBox 221">
            <a:extLst>
              <a:ext uri="{FF2B5EF4-FFF2-40B4-BE49-F238E27FC236}">
                <a16:creationId xmlns:a16="http://schemas.microsoft.com/office/drawing/2014/main" id="{0FED470A-4F22-0AD0-96C7-A6E8B0E0589E}"/>
              </a:ext>
            </a:extLst>
          </p:cNvPr>
          <p:cNvSpPr txBox="1"/>
          <p:nvPr/>
        </p:nvSpPr>
        <p:spPr>
          <a:xfrm>
            <a:off x="3886200" y="4187821"/>
            <a:ext cx="5257800" cy="877163"/>
          </a:xfrm>
          <a:prstGeom prst="rect">
            <a:avLst/>
          </a:prstGeom>
          <a:solidFill>
            <a:schemeClr val="accent4">
              <a:lumMod val="40000"/>
              <a:lumOff val="60000"/>
            </a:schemeClr>
          </a:solidFill>
        </p:spPr>
        <p:txBody>
          <a:bodyPr wrap="square" rtlCol="0">
            <a:spAutoFit/>
          </a:bodyPr>
          <a:lstStyle/>
          <a:p>
            <a:r>
              <a:rPr lang="en-US" b="1" dirty="0"/>
              <a:t>System variables</a:t>
            </a:r>
          </a:p>
          <a:p>
            <a:pPr algn="l">
              <a:buNone/>
            </a:pPr>
            <a:r>
              <a:rPr lang="en-US" sz="1100" b="0" i="0" dirty="0">
                <a:solidFill>
                  <a:srgbClr val="333333"/>
                </a:solidFill>
                <a:effectLst/>
                <a:latin typeface="72" panose="020B0503030000000003" pitchFamily="34" charset="0"/>
              </a:rPr>
              <a:t>System variables define properties of the current app and the device its running on. They cannot be affected by the user directly, but change when the underlying property changes.</a:t>
            </a:r>
          </a:p>
        </p:txBody>
      </p:sp>
    </p:spTree>
    <p:extLst>
      <p:ext uri="{BB962C8B-B14F-4D97-AF65-F5344CB8AC3E}">
        <p14:creationId xmlns:p14="http://schemas.microsoft.com/office/powerpoint/2010/main" val="840941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352A4-AF02-298C-E10F-F941D116812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EE35A68-E986-3DFC-7C04-90BD44F2DFFA}"/>
              </a:ext>
            </a:extLst>
          </p:cNvPr>
          <p:cNvSpPr>
            <a:spLocks noGrp="1"/>
          </p:cNvSpPr>
          <p:nvPr>
            <p:ph type="ftr" sz="quarter" idx="11"/>
          </p:nvPr>
        </p:nvSpPr>
        <p:spPr/>
        <p:txBody>
          <a:bodyPr/>
          <a:lstStyle/>
          <a:p>
            <a:r>
              <a:rPr lang="en-US"/>
              <a:t>www.anubhavtrainings.com</a:t>
            </a:r>
            <a:endParaRPr lang="en-US" dirty="0"/>
          </a:p>
        </p:txBody>
      </p:sp>
      <p:sp>
        <p:nvSpPr>
          <p:cNvPr id="4" name="Slide Number Placeholder 3">
            <a:extLst>
              <a:ext uri="{FF2B5EF4-FFF2-40B4-BE49-F238E27FC236}">
                <a16:creationId xmlns:a16="http://schemas.microsoft.com/office/drawing/2014/main" id="{64B99C69-E55B-FAD2-2909-3E5A4413295F}"/>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8</a:t>
            </a:fld>
            <a:endParaRPr lang="en-US" dirty="0"/>
          </a:p>
        </p:txBody>
      </p:sp>
      <p:sp>
        <p:nvSpPr>
          <p:cNvPr id="5" name="Title 4">
            <a:extLst>
              <a:ext uri="{FF2B5EF4-FFF2-40B4-BE49-F238E27FC236}">
                <a16:creationId xmlns:a16="http://schemas.microsoft.com/office/drawing/2014/main" id="{53DB0368-9E3C-CAE8-A8A2-E73CBBBE65E9}"/>
              </a:ext>
            </a:extLst>
          </p:cNvPr>
          <p:cNvSpPr>
            <a:spLocks noGrp="1"/>
          </p:cNvSpPr>
          <p:nvPr>
            <p:ph type="title"/>
          </p:nvPr>
        </p:nvSpPr>
        <p:spPr>
          <a:xfrm>
            <a:off x="76200" y="209547"/>
            <a:ext cx="8229600" cy="533401"/>
          </a:xfrm>
        </p:spPr>
        <p:txBody>
          <a:bodyPr/>
          <a:lstStyle/>
          <a:p>
            <a:r>
              <a:rPr lang="en-US" sz="2500" dirty="0">
                <a:latin typeface="Cooper Black" panose="0208090404030B020404" pitchFamily="18" charset="0"/>
              </a:rPr>
              <a:t>Data Resources in BTP</a:t>
            </a:r>
            <a:endParaRPr lang="en-IN" sz="2500" dirty="0">
              <a:latin typeface="Cooper Black" panose="0208090404030B020404" pitchFamily="18" charset="0"/>
            </a:endParaRPr>
          </a:p>
        </p:txBody>
      </p:sp>
      <p:pic>
        <p:nvPicPr>
          <p:cNvPr id="1026" name="Picture 2" descr="Types of Data Storage">
            <a:extLst>
              <a:ext uri="{FF2B5EF4-FFF2-40B4-BE49-F238E27FC236}">
                <a16:creationId xmlns:a16="http://schemas.microsoft.com/office/drawing/2014/main" id="{110CA9D8-8091-6E26-AF53-84D08A99E36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3603" y="1657350"/>
            <a:ext cx="4570400" cy="226536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6897851-95FA-FAA0-5701-0FCFB2B58086}"/>
              </a:ext>
            </a:extLst>
          </p:cNvPr>
          <p:cNvSpPr txBox="1"/>
          <p:nvPr/>
        </p:nvSpPr>
        <p:spPr>
          <a:xfrm>
            <a:off x="152399" y="971549"/>
            <a:ext cx="4271203" cy="4069557"/>
          </a:xfrm>
          <a:prstGeom prst="rect">
            <a:avLst/>
          </a:prstGeom>
        </p:spPr>
        <p:txBody>
          <a:bodyPr vert="horz" lIns="91440" tIns="45720" rIns="91440" bIns="45720" rtlCol="0">
            <a:normAutofit/>
          </a:bodyPr>
          <a:lstStyle/>
          <a:p>
            <a:pPr algn="l" latinLnBrk="0">
              <a:buNone/>
            </a:pPr>
            <a:r>
              <a:rPr lang="en-US" sz="1400" b="0" i="0" dirty="0">
                <a:solidFill>
                  <a:srgbClr val="223548"/>
                </a:solidFill>
                <a:effectLst/>
                <a:latin typeface="72 Brand Variable"/>
              </a:rPr>
              <a:t>Applications live and die on their data, and without some form of data, an app wouldn’t be able to do much.</a:t>
            </a:r>
          </a:p>
          <a:p>
            <a:pPr algn="l" latinLnBrk="0">
              <a:buNone/>
            </a:pPr>
            <a:r>
              <a:rPr lang="en-US" sz="1400" b="0" i="0" dirty="0">
                <a:solidFill>
                  <a:srgbClr val="223548"/>
                </a:solidFill>
                <a:effectLst/>
                <a:latin typeface="72 Brand Variable"/>
              </a:rPr>
              <a:t>Some data is merely temporary and is stored while the app is running, such as:</a:t>
            </a:r>
          </a:p>
          <a:p>
            <a:pPr algn="l" latinLnBrk="0">
              <a:buNone/>
            </a:pPr>
            <a:endParaRPr lang="en-US" sz="1400" b="0" i="0" dirty="0">
              <a:solidFill>
                <a:srgbClr val="223548"/>
              </a:solidFill>
              <a:effectLst/>
              <a:latin typeface="72 Brand Variable"/>
            </a:endParaRPr>
          </a:p>
          <a:p>
            <a:pPr algn="l">
              <a:buFont typeface="Arial" panose="020B0604020202020204" pitchFamily="34" charset="0"/>
              <a:buChar char="•"/>
            </a:pPr>
            <a:r>
              <a:rPr lang="en-US" sz="1200" b="0" i="0" dirty="0">
                <a:solidFill>
                  <a:srgbClr val="223548"/>
                </a:solidFill>
                <a:effectLst/>
                <a:latin typeface="72 Brand Variable"/>
              </a:rPr>
              <a:t> Data entered by the user.</a:t>
            </a:r>
          </a:p>
          <a:p>
            <a:pPr algn="l">
              <a:buFont typeface="Arial" panose="020B0604020202020204" pitchFamily="34" charset="0"/>
              <a:buChar char="•"/>
            </a:pPr>
            <a:r>
              <a:rPr lang="en-US" sz="1200" b="0" i="0" dirty="0">
                <a:solidFill>
                  <a:srgbClr val="223548"/>
                </a:solidFill>
                <a:effectLst/>
                <a:latin typeface="72 Brand Variable"/>
              </a:rPr>
              <a:t> Data related to the state of the app; for example, while a user is playing a game, the app would need to store their score, name, and the current state of the board</a:t>
            </a:r>
          </a:p>
          <a:p>
            <a:pPr algn="l">
              <a:buFont typeface="Arial" panose="020B0604020202020204" pitchFamily="34" charset="0"/>
              <a:buChar char="•"/>
            </a:pPr>
            <a:endParaRPr lang="en-US" sz="1400" b="0" i="0" dirty="0">
              <a:solidFill>
                <a:srgbClr val="223548"/>
              </a:solidFill>
              <a:effectLst/>
              <a:latin typeface="72 Brand Variable"/>
            </a:endParaRPr>
          </a:p>
          <a:p>
            <a:pPr algn="l" latinLnBrk="0">
              <a:buNone/>
            </a:pPr>
            <a:r>
              <a:rPr lang="en-US" sz="1400" b="0" i="0" dirty="0">
                <a:solidFill>
                  <a:srgbClr val="223548"/>
                </a:solidFill>
                <a:effectLst/>
                <a:latin typeface="72 Brand Variable"/>
              </a:rPr>
              <a:t>Some data is stored in data stores or databases for use with other users, for example:</a:t>
            </a:r>
          </a:p>
          <a:p>
            <a:pPr algn="l" latinLnBrk="0">
              <a:buNone/>
            </a:pPr>
            <a:endParaRPr lang="en-US" sz="1400" b="0" i="0" dirty="0">
              <a:solidFill>
                <a:srgbClr val="223548"/>
              </a:solidFill>
              <a:effectLst/>
              <a:latin typeface="72 Brand Variable"/>
            </a:endParaRPr>
          </a:p>
          <a:p>
            <a:pPr algn="l">
              <a:buFont typeface="Arial" panose="020B0604020202020204" pitchFamily="34" charset="0"/>
              <a:buChar char="•"/>
            </a:pPr>
            <a:r>
              <a:rPr lang="en-US" sz="1200" b="0" i="0" dirty="0">
                <a:solidFill>
                  <a:srgbClr val="223548"/>
                </a:solidFill>
                <a:effectLst/>
                <a:latin typeface="72 Brand Variable"/>
              </a:rPr>
              <a:t> Business data, such as invoices and sales orders.</a:t>
            </a:r>
          </a:p>
          <a:p>
            <a:pPr algn="l">
              <a:buFont typeface="Arial" panose="020B0604020202020204" pitchFamily="34" charset="0"/>
              <a:buChar char="•"/>
            </a:pPr>
            <a:r>
              <a:rPr lang="en-US" sz="1200" b="0" i="0" dirty="0">
                <a:solidFill>
                  <a:srgbClr val="223548"/>
                </a:solidFill>
                <a:effectLst/>
                <a:latin typeface="72 Brand Variable"/>
              </a:rPr>
              <a:t> Sports data, such as teams and players and their statistics.</a:t>
            </a:r>
          </a:p>
          <a:p>
            <a:pPr algn="l">
              <a:buFont typeface="Arial" panose="020B0604020202020204" pitchFamily="34" charset="0"/>
              <a:buChar char="•"/>
            </a:pPr>
            <a:r>
              <a:rPr lang="en-US" sz="1200" b="0" i="0" dirty="0">
                <a:solidFill>
                  <a:srgbClr val="223548"/>
                </a:solidFill>
                <a:effectLst/>
                <a:latin typeface="72 Brand Variable"/>
              </a:rPr>
              <a:t> Geological data, such as earthquakes, their magnitude, and locations.</a:t>
            </a:r>
          </a:p>
        </p:txBody>
      </p:sp>
    </p:spTree>
    <p:extLst>
      <p:ext uri="{BB962C8B-B14F-4D97-AF65-F5344CB8AC3E}">
        <p14:creationId xmlns:p14="http://schemas.microsoft.com/office/powerpoint/2010/main" val="2175305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6666B-914E-3754-94F9-A705B165CD0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F8F893F-1FD4-73A7-2695-9D85A564819C}"/>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3C200A29-874B-FDCB-974E-F5966128D57B}"/>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9</a:t>
            </a:fld>
            <a:endParaRPr lang="en-US" dirty="0"/>
          </a:p>
        </p:txBody>
      </p:sp>
      <p:sp>
        <p:nvSpPr>
          <p:cNvPr id="5" name="Title 4">
            <a:extLst>
              <a:ext uri="{FF2B5EF4-FFF2-40B4-BE49-F238E27FC236}">
                <a16:creationId xmlns:a16="http://schemas.microsoft.com/office/drawing/2014/main" id="{DC4ADDD1-38B4-DFFF-B3ED-B161F42D9E3E}"/>
              </a:ext>
            </a:extLst>
          </p:cNvPr>
          <p:cNvSpPr>
            <a:spLocks noGrp="1"/>
          </p:cNvSpPr>
          <p:nvPr>
            <p:ph type="title"/>
          </p:nvPr>
        </p:nvSpPr>
        <p:spPr>
          <a:xfrm>
            <a:off x="76200" y="133350"/>
            <a:ext cx="8229600" cy="533401"/>
          </a:xfrm>
        </p:spPr>
        <p:txBody>
          <a:bodyPr/>
          <a:lstStyle/>
          <a:p>
            <a:r>
              <a:rPr lang="en-US" sz="2500" dirty="0">
                <a:latin typeface="Cooper Black" panose="0208090404030B020404" pitchFamily="18" charset="0"/>
              </a:rPr>
              <a:t>Types of Data Sources</a:t>
            </a:r>
            <a:endParaRPr lang="en-IN" sz="2500" dirty="0">
              <a:latin typeface="Cooper Black" panose="0208090404030B020404" pitchFamily="18" charset="0"/>
            </a:endParaRPr>
          </a:p>
        </p:txBody>
      </p:sp>
      <p:sp>
        <p:nvSpPr>
          <p:cNvPr id="2" name="TextBox 1">
            <a:extLst>
              <a:ext uri="{FF2B5EF4-FFF2-40B4-BE49-F238E27FC236}">
                <a16:creationId xmlns:a16="http://schemas.microsoft.com/office/drawing/2014/main" id="{47A6B9BA-8A19-8158-3BEB-2A13CBB32D77}"/>
              </a:ext>
            </a:extLst>
          </p:cNvPr>
          <p:cNvSpPr txBox="1"/>
          <p:nvPr/>
        </p:nvSpPr>
        <p:spPr>
          <a:xfrm>
            <a:off x="152400" y="822938"/>
            <a:ext cx="8839200" cy="4069557"/>
          </a:xfrm>
          <a:prstGeom prst="rect">
            <a:avLst/>
          </a:prstGeom>
        </p:spPr>
        <p:txBody>
          <a:bodyPr vert="horz" lIns="91440" tIns="45720" rIns="91440" bIns="45720" rtlCol="0">
            <a:normAutofit lnSpcReduction="10000"/>
          </a:bodyPr>
          <a:lstStyle/>
          <a:p>
            <a:pPr algn="l" latinLnBrk="0">
              <a:buNone/>
            </a:pPr>
            <a:r>
              <a:rPr lang="en-US" sz="1400" b="0" i="0" dirty="0">
                <a:solidFill>
                  <a:srgbClr val="223548"/>
                </a:solidFill>
                <a:effectLst/>
                <a:latin typeface="72 Brand Variable"/>
              </a:rPr>
              <a:t>There are different types of back-end systems from which you can retrieve data</a:t>
            </a:r>
          </a:p>
          <a:p>
            <a:pPr algn="l" latinLnBrk="0">
              <a:buNone/>
            </a:pPr>
            <a:endParaRPr lang="en-US" sz="1400" b="0" i="0" dirty="0">
              <a:solidFill>
                <a:srgbClr val="223548"/>
              </a:solidFill>
              <a:effectLst/>
              <a:latin typeface="72 Brand Variable"/>
            </a:endParaRPr>
          </a:p>
          <a:p>
            <a:pPr algn="l" latinLnBrk="0">
              <a:buNone/>
            </a:pPr>
            <a:r>
              <a:rPr lang="en-US" sz="1400" b="0" i="0" dirty="0">
                <a:solidFill>
                  <a:srgbClr val="223548"/>
                </a:solidFill>
                <a:effectLst/>
                <a:latin typeface="72 Brand Variable"/>
              </a:rPr>
              <a:t>SAP Build Apps lets you connect to the following:</a:t>
            </a:r>
          </a:p>
          <a:p>
            <a:pPr algn="l" latinLnBrk="0">
              <a:buNone/>
            </a:pPr>
            <a:endParaRPr lang="en-US" sz="1400" b="0" i="0" dirty="0">
              <a:solidFill>
                <a:srgbClr val="223548"/>
              </a:solidFill>
              <a:effectLst/>
              <a:latin typeface="72 Brand Variable"/>
            </a:endParaRPr>
          </a:p>
          <a:p>
            <a:pPr algn="l">
              <a:buFont typeface="Arial" panose="020B0604020202020204" pitchFamily="34" charset="0"/>
              <a:buChar char="•"/>
            </a:pPr>
            <a:r>
              <a:rPr lang="en-US" sz="1400" b="1" i="0" dirty="0">
                <a:solidFill>
                  <a:srgbClr val="223548"/>
                </a:solidFill>
                <a:effectLst/>
                <a:latin typeface="72 Brand Variable"/>
              </a:rPr>
              <a:t> OData Integration </a:t>
            </a:r>
            <a:r>
              <a:rPr lang="en-US" sz="1400" b="0" i="0" dirty="0">
                <a:solidFill>
                  <a:srgbClr val="223548"/>
                </a:solidFill>
                <a:effectLst/>
                <a:latin typeface="72 Brand Variable"/>
              </a:rPr>
              <a:t>- This type of data resource lets you connect to OData services. OData services are services you reach with a URL and are designed for supplying business data. OData services conform to a rigid set of rules for defining the format of the URLs and of the returned data.</a:t>
            </a:r>
          </a:p>
          <a:p>
            <a:pPr algn="l"/>
            <a:endParaRPr lang="en-US" sz="1400" b="0" i="0" dirty="0">
              <a:solidFill>
                <a:srgbClr val="223548"/>
              </a:solidFill>
              <a:effectLst/>
              <a:latin typeface="72 Brand Variable"/>
            </a:endParaRPr>
          </a:p>
          <a:p>
            <a:pPr algn="l">
              <a:buFont typeface="Arial" panose="020B0604020202020204" pitchFamily="34" charset="0"/>
              <a:buChar char="•"/>
            </a:pPr>
            <a:r>
              <a:rPr lang="en-US" sz="1400" b="1" i="0" dirty="0">
                <a:solidFill>
                  <a:srgbClr val="223548"/>
                </a:solidFill>
                <a:effectLst/>
                <a:latin typeface="72 Brand Variable"/>
              </a:rPr>
              <a:t> REST API Direct Integration </a:t>
            </a:r>
            <a:r>
              <a:rPr lang="en-US" sz="1400" b="0" i="0" dirty="0">
                <a:solidFill>
                  <a:srgbClr val="223548"/>
                </a:solidFill>
                <a:effectLst/>
                <a:latin typeface="72 Brand Variable"/>
              </a:rPr>
              <a:t>- This type of data resource lets you connect to REST services. REST services do not need to conform to the same rigid rules for URLs and responses, as OData services do. This can make REST services require a little more work to understand, and to configure within SAP Build Apps.</a:t>
            </a:r>
          </a:p>
          <a:p>
            <a:pPr algn="l"/>
            <a:endParaRPr lang="en-US" sz="1400" b="1" i="0" dirty="0">
              <a:solidFill>
                <a:srgbClr val="223548"/>
              </a:solidFill>
              <a:effectLst/>
              <a:latin typeface="72 Brand Variable"/>
            </a:endParaRPr>
          </a:p>
          <a:p>
            <a:pPr algn="l">
              <a:buFont typeface="Arial" panose="020B0604020202020204" pitchFamily="34" charset="0"/>
              <a:buChar char="•"/>
            </a:pPr>
            <a:r>
              <a:rPr lang="en-US" sz="1400" b="1" i="0" dirty="0">
                <a:solidFill>
                  <a:srgbClr val="223548"/>
                </a:solidFill>
                <a:effectLst/>
                <a:latin typeface="72 Brand Variable"/>
              </a:rPr>
              <a:t> On-Device Storage </a:t>
            </a:r>
            <a:r>
              <a:rPr lang="en-US" sz="1400" b="0" i="0" dirty="0">
                <a:solidFill>
                  <a:srgbClr val="223548"/>
                </a:solidFill>
                <a:effectLst/>
                <a:latin typeface="72 Brand Variable"/>
              </a:rPr>
              <a:t>- This data resource actually creates a data store on the device the user is using, as opposed to REST and OData data resources, which connect to existing data stores. Such data is only stored on the current user’s device, so it is used for data needed only by the current user and that does not have to be shared.</a:t>
            </a:r>
          </a:p>
          <a:p>
            <a:pPr algn="l"/>
            <a:endParaRPr lang="en-US" sz="1400" b="0" i="0" dirty="0">
              <a:solidFill>
                <a:srgbClr val="223548"/>
              </a:solidFill>
              <a:effectLst/>
              <a:latin typeface="72 Brand Variable"/>
            </a:endParaRPr>
          </a:p>
          <a:p>
            <a:pPr algn="l">
              <a:buFont typeface="Arial" panose="020B0604020202020204" pitchFamily="34" charset="0"/>
              <a:buChar char="•"/>
            </a:pPr>
            <a:r>
              <a:rPr lang="en-US" sz="1400" b="1" i="0" dirty="0">
                <a:solidFill>
                  <a:srgbClr val="223548"/>
                </a:solidFill>
                <a:effectLst/>
                <a:latin typeface="72 Brand Variable"/>
              </a:rPr>
              <a:t> Marketplace Data Resources </a:t>
            </a:r>
            <a:r>
              <a:rPr lang="en-US" sz="1400" b="0" i="0" dirty="0">
                <a:solidFill>
                  <a:srgbClr val="223548"/>
                </a:solidFill>
                <a:effectLst/>
                <a:latin typeface="72 Brand Variable"/>
              </a:rPr>
              <a:t>- Marketplace data resources can be of any type. They are data resources that are defined and stored in the Marketplace and can be quickly installed from there. You may want to use the few data resources prebuilt for you, or you may want to create a data resource and be able to quickly reuse it in multiple projects.</a:t>
            </a:r>
          </a:p>
        </p:txBody>
      </p:sp>
    </p:spTree>
    <p:extLst>
      <p:ext uri="{BB962C8B-B14F-4D97-AF65-F5344CB8AC3E}">
        <p14:creationId xmlns:p14="http://schemas.microsoft.com/office/powerpoint/2010/main" val="219005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3BCA9-CFCD-597D-1DAB-C01F7566B41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C1BF838-FFA3-8D49-497D-77D5661D7025}"/>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81648108-C9B3-B016-52FD-5090BB69C00F}"/>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10</a:t>
            </a:fld>
            <a:endParaRPr lang="en-US" dirty="0"/>
          </a:p>
        </p:txBody>
      </p:sp>
      <p:sp>
        <p:nvSpPr>
          <p:cNvPr id="5" name="Title 4">
            <a:extLst>
              <a:ext uri="{FF2B5EF4-FFF2-40B4-BE49-F238E27FC236}">
                <a16:creationId xmlns:a16="http://schemas.microsoft.com/office/drawing/2014/main" id="{98A2D139-4821-BFA6-161B-B1E8747D3BF1}"/>
              </a:ext>
            </a:extLst>
          </p:cNvPr>
          <p:cNvSpPr>
            <a:spLocks noGrp="1"/>
          </p:cNvSpPr>
          <p:nvPr>
            <p:ph type="title"/>
          </p:nvPr>
        </p:nvSpPr>
        <p:spPr>
          <a:xfrm>
            <a:off x="76200" y="133350"/>
            <a:ext cx="8229600" cy="533401"/>
          </a:xfrm>
        </p:spPr>
        <p:txBody>
          <a:bodyPr/>
          <a:lstStyle/>
          <a:p>
            <a:r>
              <a:rPr lang="en-US" sz="2500" dirty="0">
                <a:latin typeface="Cooper Black" panose="0208090404030B020404" pitchFamily="18" charset="0"/>
              </a:rPr>
              <a:t>Additional Data Resource types</a:t>
            </a:r>
            <a:endParaRPr lang="en-IN" sz="2500" dirty="0">
              <a:latin typeface="Cooper Black" panose="0208090404030B020404" pitchFamily="18" charset="0"/>
            </a:endParaRPr>
          </a:p>
        </p:txBody>
      </p:sp>
      <p:sp>
        <p:nvSpPr>
          <p:cNvPr id="2" name="TextBox 1">
            <a:extLst>
              <a:ext uri="{FF2B5EF4-FFF2-40B4-BE49-F238E27FC236}">
                <a16:creationId xmlns:a16="http://schemas.microsoft.com/office/drawing/2014/main" id="{C565383F-0933-2687-340E-3CD0BC8BD04B}"/>
              </a:ext>
            </a:extLst>
          </p:cNvPr>
          <p:cNvSpPr txBox="1"/>
          <p:nvPr/>
        </p:nvSpPr>
        <p:spPr>
          <a:xfrm>
            <a:off x="152400" y="971549"/>
            <a:ext cx="8839200" cy="4069557"/>
          </a:xfrm>
          <a:prstGeom prst="rect">
            <a:avLst/>
          </a:prstGeom>
        </p:spPr>
        <p:txBody>
          <a:bodyPr vert="horz" lIns="91440" tIns="45720" rIns="91440" bIns="45720" rtlCol="0">
            <a:normAutofit/>
          </a:bodyPr>
          <a:lstStyle/>
          <a:p>
            <a:pPr>
              <a:spcBef>
                <a:spcPct val="20000"/>
              </a:spcBef>
              <a:buFont typeface="Arial" pitchFamily="34" charset="0"/>
            </a:pPr>
            <a:r>
              <a:rPr lang="en-US" sz="1400" b="0" i="0" dirty="0">
                <a:solidFill>
                  <a:srgbClr val="223548"/>
                </a:solidFill>
                <a:effectLst/>
                <a:latin typeface="72 Brand Variable"/>
              </a:rPr>
              <a:t>There are some additional and important data resource types – especially for use in connecting to SAP back-ends – that depend on users being authenticated via SAP BTP</a:t>
            </a:r>
          </a:p>
          <a:p>
            <a:pPr>
              <a:spcBef>
                <a:spcPct val="20000"/>
              </a:spcBef>
              <a:buFont typeface="Arial" pitchFamily="34" charset="0"/>
            </a:pPr>
            <a:endParaRPr lang="en-US" sz="1400" dirty="0">
              <a:solidFill>
                <a:srgbClr val="223548"/>
              </a:solidFill>
              <a:latin typeface="72 Brand Variable"/>
            </a:endParaRPr>
          </a:p>
          <a:p>
            <a:pPr>
              <a:spcBef>
                <a:spcPct val="20000"/>
              </a:spcBef>
              <a:buFont typeface="Arial" pitchFamily="34" charset="0"/>
            </a:pPr>
            <a:r>
              <a:rPr lang="en-US" sz="1400" b="1" dirty="0"/>
              <a:t>Visual Cloud Functions Integration</a:t>
            </a:r>
            <a:r>
              <a:rPr lang="en-US" sz="1400" dirty="0"/>
              <a:t> - Visual Cloud Functions lets you easily create your own data store, not just connect to an existing one, and let multiple apps access it and let you share the data among many users.</a:t>
            </a:r>
          </a:p>
          <a:p>
            <a:pPr>
              <a:spcBef>
                <a:spcPct val="20000"/>
              </a:spcBef>
              <a:buFont typeface="Arial" pitchFamily="34" charset="0"/>
            </a:pPr>
            <a:r>
              <a:rPr lang="en-US" sz="1400" b="1" dirty="0"/>
              <a:t>OData Integration with BTP Destination</a:t>
            </a:r>
            <a:r>
              <a:rPr lang="en-US" sz="1400" dirty="0"/>
              <a:t> - OData with a BTP destination is the same as without except that the URL and authentication is defined by an SAP BTP destination.</a:t>
            </a:r>
          </a:p>
          <a:p>
            <a:pPr>
              <a:spcBef>
                <a:spcPct val="20000"/>
              </a:spcBef>
              <a:buFont typeface="Arial" pitchFamily="34" charset="0"/>
            </a:pPr>
            <a:r>
              <a:rPr lang="en-US" sz="1400" b="1" dirty="0"/>
              <a:t>REST Integration with BTP Destinations</a:t>
            </a:r>
            <a:r>
              <a:rPr lang="en-US" sz="1400" dirty="0"/>
              <a:t> - REST with a BTP destination is the same as without except that the URL and authentication is defined by an SAP BTP destination.</a:t>
            </a:r>
          </a:p>
          <a:p>
            <a:pPr>
              <a:spcBef>
                <a:spcPct val="20000"/>
              </a:spcBef>
              <a:buFont typeface="Arial" pitchFamily="34" charset="0"/>
            </a:pPr>
            <a:endParaRPr lang="en-US" sz="1400" dirty="0"/>
          </a:p>
        </p:txBody>
      </p:sp>
    </p:spTree>
    <p:extLst>
      <p:ext uri="{BB962C8B-B14F-4D97-AF65-F5344CB8AC3E}">
        <p14:creationId xmlns:p14="http://schemas.microsoft.com/office/powerpoint/2010/main" val="2002470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0D6BA-3567-668B-95CA-1594D6F9655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4E58177-4A88-4D15-D620-7BD57D356997}"/>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BCAF5441-0C97-DF54-0FED-E24830EC8A76}"/>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11</a:t>
            </a:fld>
            <a:endParaRPr lang="en-US" dirty="0"/>
          </a:p>
        </p:txBody>
      </p:sp>
      <p:sp>
        <p:nvSpPr>
          <p:cNvPr id="5" name="Title 4">
            <a:extLst>
              <a:ext uri="{FF2B5EF4-FFF2-40B4-BE49-F238E27FC236}">
                <a16:creationId xmlns:a16="http://schemas.microsoft.com/office/drawing/2014/main" id="{3488BEF7-4195-D3AC-D899-F2F442A4BA80}"/>
              </a:ext>
            </a:extLst>
          </p:cNvPr>
          <p:cNvSpPr>
            <a:spLocks noGrp="1"/>
          </p:cNvSpPr>
          <p:nvPr>
            <p:ph type="title"/>
          </p:nvPr>
        </p:nvSpPr>
        <p:spPr>
          <a:xfrm>
            <a:off x="76200" y="133350"/>
            <a:ext cx="8229600" cy="533401"/>
          </a:xfrm>
        </p:spPr>
        <p:txBody>
          <a:bodyPr/>
          <a:lstStyle/>
          <a:p>
            <a:r>
              <a:rPr lang="en-US" sz="2500" dirty="0">
                <a:latin typeface="Cooper Black" panose="0208090404030B020404" pitchFamily="18" charset="0"/>
              </a:rPr>
              <a:t>What is Destination in BTP</a:t>
            </a:r>
            <a:endParaRPr lang="en-IN" sz="2500" dirty="0">
              <a:latin typeface="Cooper Black" panose="0208090404030B020404" pitchFamily="18" charset="0"/>
            </a:endParaRPr>
          </a:p>
        </p:txBody>
      </p:sp>
      <p:sp>
        <p:nvSpPr>
          <p:cNvPr id="2" name="TextBox 1">
            <a:extLst>
              <a:ext uri="{FF2B5EF4-FFF2-40B4-BE49-F238E27FC236}">
                <a16:creationId xmlns:a16="http://schemas.microsoft.com/office/drawing/2014/main" id="{B8DAA500-1F14-B33A-76BA-60D0BB21A4B9}"/>
              </a:ext>
            </a:extLst>
          </p:cNvPr>
          <p:cNvSpPr txBox="1"/>
          <p:nvPr/>
        </p:nvSpPr>
        <p:spPr>
          <a:xfrm>
            <a:off x="152400" y="971549"/>
            <a:ext cx="8839200" cy="4069557"/>
          </a:xfrm>
          <a:prstGeom prst="rect">
            <a:avLst/>
          </a:prstGeom>
        </p:spPr>
        <p:txBody>
          <a:bodyPr vert="horz" lIns="91440" tIns="45720" rIns="91440" bIns="45720" rtlCol="0">
            <a:normAutofit/>
          </a:bodyPr>
          <a:lstStyle/>
          <a:p>
            <a:pPr>
              <a:spcBef>
                <a:spcPct val="20000"/>
              </a:spcBef>
              <a:buFont typeface="Arial" pitchFamily="34" charset="0"/>
            </a:pPr>
            <a:r>
              <a:rPr lang="en-US" sz="1400" b="1" dirty="0"/>
              <a:t>SAP BTP Destination</a:t>
            </a:r>
            <a:r>
              <a:rPr lang="en-US" sz="1400" dirty="0"/>
              <a:t> is a configuration object within </a:t>
            </a:r>
            <a:r>
              <a:rPr lang="en-US" sz="1400" b="1" dirty="0"/>
              <a:t>SAP Business Technology Platform (BTP)</a:t>
            </a:r>
            <a:r>
              <a:rPr lang="en-US" sz="1400" dirty="0"/>
              <a:t> that allows applications to connect to external systems or services in a secure and managed way. </a:t>
            </a:r>
          </a:p>
          <a:p>
            <a:pPr>
              <a:spcBef>
                <a:spcPct val="20000"/>
              </a:spcBef>
              <a:buFont typeface="Arial" pitchFamily="34" charset="0"/>
            </a:pPr>
            <a:endParaRPr lang="en-US" sz="1400" dirty="0"/>
          </a:p>
          <a:p>
            <a:pPr>
              <a:spcBef>
                <a:spcPct val="20000"/>
              </a:spcBef>
              <a:buFont typeface="Arial" pitchFamily="34" charset="0"/>
            </a:pPr>
            <a:r>
              <a:rPr lang="en-US" sz="1400" dirty="0"/>
              <a:t>These destinations store connection settings like URLs, authentication, and proxy settings, enabling seamless communication between your BTP applications (like those running on SAP CAP, UI5, or Fiori) and other systems (such as on-premise SAP systems, third-party APIs, or cloud services).</a:t>
            </a:r>
          </a:p>
        </p:txBody>
      </p:sp>
    </p:spTree>
    <p:extLst>
      <p:ext uri="{BB962C8B-B14F-4D97-AF65-F5344CB8AC3E}">
        <p14:creationId xmlns:p14="http://schemas.microsoft.com/office/powerpoint/2010/main" val="4208077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0DC5E-1566-E826-C33E-B4CA0F39484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BAC4DF9-ACFD-D3D2-4F56-996E5762CF56}"/>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B6FA06D6-8319-957F-0D04-E0324493B6B1}"/>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12</a:t>
            </a:fld>
            <a:endParaRPr lang="en-US" dirty="0"/>
          </a:p>
        </p:txBody>
      </p:sp>
      <p:sp>
        <p:nvSpPr>
          <p:cNvPr id="5" name="Title 4">
            <a:extLst>
              <a:ext uri="{FF2B5EF4-FFF2-40B4-BE49-F238E27FC236}">
                <a16:creationId xmlns:a16="http://schemas.microsoft.com/office/drawing/2014/main" id="{B0FF04E6-98FF-21E1-876D-205651B06E0D}"/>
              </a:ext>
            </a:extLst>
          </p:cNvPr>
          <p:cNvSpPr>
            <a:spLocks noGrp="1"/>
          </p:cNvSpPr>
          <p:nvPr>
            <p:ph type="title"/>
          </p:nvPr>
        </p:nvSpPr>
        <p:spPr>
          <a:xfrm>
            <a:off x="76200" y="133350"/>
            <a:ext cx="8229600" cy="533401"/>
          </a:xfrm>
        </p:spPr>
        <p:txBody>
          <a:bodyPr/>
          <a:lstStyle/>
          <a:p>
            <a:r>
              <a:rPr lang="en-US" sz="2500" dirty="0">
                <a:latin typeface="Cooper Black" panose="0208090404030B020404" pitchFamily="18" charset="0"/>
              </a:rPr>
              <a:t>Create destination to simple OData Service</a:t>
            </a:r>
            <a:endParaRPr lang="en-IN" sz="2500" dirty="0">
              <a:latin typeface="Cooper Black" panose="0208090404030B020404" pitchFamily="18" charset="0"/>
            </a:endParaRPr>
          </a:p>
        </p:txBody>
      </p:sp>
      <p:sp>
        <p:nvSpPr>
          <p:cNvPr id="2" name="TextBox 1">
            <a:extLst>
              <a:ext uri="{FF2B5EF4-FFF2-40B4-BE49-F238E27FC236}">
                <a16:creationId xmlns:a16="http://schemas.microsoft.com/office/drawing/2014/main" id="{92C3212D-7655-2215-3B4A-636791EA27F0}"/>
              </a:ext>
            </a:extLst>
          </p:cNvPr>
          <p:cNvSpPr txBox="1"/>
          <p:nvPr/>
        </p:nvSpPr>
        <p:spPr>
          <a:xfrm>
            <a:off x="152400" y="971549"/>
            <a:ext cx="8839200" cy="4069557"/>
          </a:xfrm>
          <a:prstGeom prst="rect">
            <a:avLst/>
          </a:prstGeom>
        </p:spPr>
        <p:txBody>
          <a:bodyPr vert="horz" lIns="91440" tIns="45720" rIns="91440" bIns="45720" rtlCol="0">
            <a:normAutofit/>
          </a:bodyPr>
          <a:lstStyle/>
          <a:p>
            <a:pPr>
              <a:spcBef>
                <a:spcPct val="20000"/>
              </a:spcBef>
              <a:buFont typeface="Arial" pitchFamily="34" charset="0"/>
            </a:pPr>
            <a:r>
              <a:rPr lang="en-US" sz="1400" b="0" i="0" dirty="0">
                <a:effectLst/>
              </a:rPr>
              <a:t>Type=HTTP</a:t>
            </a:r>
          </a:p>
          <a:p>
            <a:pPr>
              <a:spcBef>
                <a:spcPct val="20000"/>
              </a:spcBef>
              <a:buFont typeface="Arial" pitchFamily="34" charset="0"/>
            </a:pPr>
            <a:r>
              <a:rPr lang="en-US" sz="1400" b="0" i="0" dirty="0">
                <a:effectLst/>
              </a:rPr>
              <a:t>HTML5.DynamicDestination=true</a:t>
            </a:r>
          </a:p>
          <a:p>
            <a:pPr>
              <a:spcBef>
                <a:spcPct val="20000"/>
              </a:spcBef>
              <a:buFont typeface="Arial" pitchFamily="34" charset="0"/>
            </a:pPr>
            <a:r>
              <a:rPr lang="en-US" sz="1400" b="0" i="0" dirty="0">
                <a:effectLst/>
              </a:rPr>
              <a:t>Authentication=</a:t>
            </a:r>
            <a:r>
              <a:rPr lang="en-US" sz="1400" b="0" i="0" dirty="0" err="1">
                <a:effectLst/>
              </a:rPr>
              <a:t>NoAuthentication</a:t>
            </a:r>
            <a:endParaRPr lang="en-US" sz="1400" b="0" i="0" dirty="0">
              <a:effectLst/>
            </a:endParaRPr>
          </a:p>
          <a:p>
            <a:pPr>
              <a:spcBef>
                <a:spcPct val="20000"/>
              </a:spcBef>
              <a:buFont typeface="Arial" pitchFamily="34" charset="0"/>
            </a:pPr>
            <a:r>
              <a:rPr lang="en-US" sz="1400" b="0" i="0" dirty="0">
                <a:effectLst/>
              </a:rPr>
              <a:t>Name=</a:t>
            </a:r>
            <a:r>
              <a:rPr lang="en-US" sz="1400" b="0" i="0" dirty="0" err="1">
                <a:effectLst/>
              </a:rPr>
              <a:t>AnubhavOData</a:t>
            </a:r>
            <a:endParaRPr lang="en-US" sz="1400" b="0" i="0" dirty="0">
              <a:effectLst/>
            </a:endParaRPr>
          </a:p>
          <a:p>
            <a:pPr>
              <a:spcBef>
                <a:spcPct val="20000"/>
              </a:spcBef>
              <a:buFont typeface="Arial" pitchFamily="34" charset="0"/>
            </a:pPr>
            <a:r>
              <a:rPr lang="en-US" sz="1400" b="0" i="0" dirty="0" err="1">
                <a:effectLst/>
              </a:rPr>
              <a:t>WebIDEEnabled</a:t>
            </a:r>
            <a:r>
              <a:rPr lang="en-US" sz="1400" b="0" i="0" dirty="0">
                <a:effectLst/>
              </a:rPr>
              <a:t>=true</a:t>
            </a:r>
          </a:p>
          <a:p>
            <a:pPr>
              <a:spcBef>
                <a:spcPct val="20000"/>
              </a:spcBef>
              <a:buFont typeface="Arial" pitchFamily="34" charset="0"/>
            </a:pPr>
            <a:r>
              <a:rPr lang="en-US" sz="1400" b="0" i="0" dirty="0" err="1">
                <a:effectLst/>
              </a:rPr>
              <a:t>sap.processautomation.enabled</a:t>
            </a:r>
            <a:r>
              <a:rPr lang="en-US" sz="1400" b="0" i="0" dirty="0">
                <a:effectLst/>
              </a:rPr>
              <a:t>=true</a:t>
            </a:r>
          </a:p>
          <a:p>
            <a:pPr>
              <a:spcBef>
                <a:spcPct val="20000"/>
              </a:spcBef>
              <a:buFont typeface="Arial" pitchFamily="34" charset="0"/>
            </a:pPr>
            <a:r>
              <a:rPr lang="en-US" sz="1400" b="0" i="0" dirty="0" err="1">
                <a:effectLst/>
              </a:rPr>
              <a:t>sap.build.usage</a:t>
            </a:r>
            <a:r>
              <a:rPr lang="en-US" sz="1400" b="0" i="0" dirty="0">
                <a:effectLst/>
              </a:rPr>
              <a:t>=</a:t>
            </a:r>
            <a:r>
              <a:rPr lang="en-US" sz="1400" b="0" i="0" dirty="0" err="1">
                <a:effectLst/>
              </a:rPr>
              <a:t>odata_gen</a:t>
            </a:r>
            <a:endParaRPr lang="en-US" sz="1400" b="0" i="0" dirty="0">
              <a:effectLst/>
            </a:endParaRPr>
          </a:p>
          <a:p>
            <a:pPr>
              <a:spcBef>
                <a:spcPct val="20000"/>
              </a:spcBef>
              <a:buFont typeface="Arial" pitchFamily="34" charset="0"/>
            </a:pPr>
            <a:r>
              <a:rPr lang="en-US" sz="1400" b="0" i="0" dirty="0" err="1">
                <a:effectLst/>
              </a:rPr>
              <a:t>ProxyType</a:t>
            </a:r>
            <a:r>
              <a:rPr lang="en-US" sz="1400" b="0" i="0" dirty="0">
                <a:effectLst/>
              </a:rPr>
              <a:t>=Internet</a:t>
            </a:r>
          </a:p>
          <a:p>
            <a:pPr>
              <a:spcBef>
                <a:spcPct val="20000"/>
              </a:spcBef>
              <a:buFont typeface="Arial" pitchFamily="34" charset="0"/>
            </a:pPr>
            <a:r>
              <a:rPr lang="en-US" sz="1400" b="0" i="0" dirty="0">
                <a:effectLst/>
              </a:rPr>
              <a:t>URL=</a:t>
            </a:r>
            <a:r>
              <a:rPr lang="en-US" sz="1400" b="0" i="0" dirty="0">
                <a:effectLst/>
                <a:hlinkClick r:id="rId2"/>
              </a:rPr>
              <a:t>https://orderscapapp.cfapps.eu10.hana.ondemand.com/service/OrderManagement</a:t>
            </a:r>
            <a:endParaRPr lang="en-US" sz="1400" b="0" i="0" dirty="0">
              <a:effectLst/>
            </a:endParaRPr>
          </a:p>
          <a:p>
            <a:pPr>
              <a:spcBef>
                <a:spcPct val="20000"/>
              </a:spcBef>
              <a:buFont typeface="Arial" pitchFamily="34" charset="0"/>
            </a:pPr>
            <a:r>
              <a:rPr lang="en-US" sz="1400" b="0" i="0" dirty="0" err="1">
                <a:effectLst/>
              </a:rPr>
              <a:t>Appgyver.Enabled</a:t>
            </a:r>
            <a:r>
              <a:rPr lang="en-US" sz="1400" b="0" i="0" dirty="0">
                <a:effectLst/>
              </a:rPr>
              <a:t>=true</a:t>
            </a:r>
          </a:p>
          <a:p>
            <a:pPr>
              <a:spcBef>
                <a:spcPct val="20000"/>
              </a:spcBef>
              <a:buFont typeface="Arial" pitchFamily="34" charset="0"/>
            </a:pPr>
            <a:r>
              <a:rPr lang="en-US" sz="1400" b="0" i="0" dirty="0" err="1">
                <a:effectLst/>
              </a:rPr>
              <a:t>sap.applicationdevelopment.actions.enabled</a:t>
            </a:r>
            <a:r>
              <a:rPr lang="en-US" sz="1400" b="0" i="0" dirty="0">
                <a:effectLst/>
              </a:rPr>
              <a:t>=true</a:t>
            </a:r>
          </a:p>
          <a:p>
            <a:pPr>
              <a:spcBef>
                <a:spcPct val="20000"/>
              </a:spcBef>
              <a:buFont typeface="Arial" pitchFamily="34" charset="0"/>
            </a:pPr>
            <a:endParaRPr lang="en-US" sz="1400" dirty="0"/>
          </a:p>
          <a:p>
            <a:pPr>
              <a:spcBef>
                <a:spcPct val="20000"/>
              </a:spcBef>
              <a:buFont typeface="Arial" pitchFamily="34" charset="0"/>
            </a:pPr>
            <a:r>
              <a:rPr lang="en-US" sz="1400" dirty="0"/>
              <a:t>Images:</a:t>
            </a:r>
          </a:p>
          <a:p>
            <a:pPr>
              <a:spcBef>
                <a:spcPct val="20000"/>
              </a:spcBef>
              <a:buFont typeface="Arial" pitchFamily="34" charset="0"/>
            </a:pPr>
            <a:r>
              <a:rPr lang="en-US" sz="1400" dirty="0">
                <a:hlinkClick r:id="rId3"/>
              </a:rPr>
              <a:t>https://ui5.sap.com/test-resources/sap/m/demokit/cart/webapp/localService/mockdata/images/HT-1020.jpg</a:t>
            </a:r>
            <a:endParaRPr lang="en-US" sz="1400" dirty="0"/>
          </a:p>
          <a:p>
            <a:pPr>
              <a:spcBef>
                <a:spcPct val="20000"/>
              </a:spcBef>
              <a:buFont typeface="Arial" pitchFamily="34" charset="0"/>
            </a:pPr>
            <a:endParaRPr lang="en-US" sz="1400" dirty="0"/>
          </a:p>
        </p:txBody>
      </p:sp>
    </p:spTree>
    <p:extLst>
      <p:ext uri="{BB962C8B-B14F-4D97-AF65-F5344CB8AC3E}">
        <p14:creationId xmlns:p14="http://schemas.microsoft.com/office/powerpoint/2010/main" val="2078554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63B7F-D73C-B314-685F-FE5912A656F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15BAD24-F3AE-4B53-2ADD-4DAA336403D9}"/>
              </a:ext>
            </a:extLst>
          </p:cNvPr>
          <p:cNvSpPr>
            <a:spLocks noGrp="1"/>
          </p:cNvSpPr>
          <p:nvPr>
            <p:ph type="ftr" sz="quarter" idx="11"/>
          </p:nvPr>
        </p:nvSpPr>
        <p:spPr/>
        <p:txBody>
          <a:bodyPr/>
          <a:lstStyle/>
          <a:p>
            <a:r>
              <a:rPr lang="en-US"/>
              <a:t>www.anubhavtrainings.com</a:t>
            </a:r>
            <a:endParaRPr lang="en-US" dirty="0"/>
          </a:p>
        </p:txBody>
      </p:sp>
      <p:sp>
        <p:nvSpPr>
          <p:cNvPr id="4" name="Slide Number Placeholder 3">
            <a:extLst>
              <a:ext uri="{FF2B5EF4-FFF2-40B4-BE49-F238E27FC236}">
                <a16:creationId xmlns:a16="http://schemas.microsoft.com/office/drawing/2014/main" id="{53F6C8C1-160D-9728-CAB8-063F64A79E1E}"/>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13</a:t>
            </a:fld>
            <a:endParaRPr lang="en-US" dirty="0"/>
          </a:p>
        </p:txBody>
      </p:sp>
      <p:sp>
        <p:nvSpPr>
          <p:cNvPr id="5" name="Title 4">
            <a:extLst>
              <a:ext uri="{FF2B5EF4-FFF2-40B4-BE49-F238E27FC236}">
                <a16:creationId xmlns:a16="http://schemas.microsoft.com/office/drawing/2014/main" id="{CF9AD0A5-FBCE-4FE0-50ED-4BD18899F096}"/>
              </a:ext>
            </a:extLst>
          </p:cNvPr>
          <p:cNvSpPr>
            <a:spLocks noGrp="1"/>
          </p:cNvSpPr>
          <p:nvPr>
            <p:ph type="title"/>
          </p:nvPr>
        </p:nvSpPr>
        <p:spPr>
          <a:xfrm>
            <a:off x="76200" y="133350"/>
            <a:ext cx="8229600" cy="533401"/>
          </a:xfrm>
        </p:spPr>
        <p:txBody>
          <a:bodyPr/>
          <a:lstStyle/>
          <a:p>
            <a:r>
              <a:rPr lang="en-US" sz="2500">
                <a:latin typeface="Cooper Black" panose="0208090404030B020404" pitchFamily="18" charset="0"/>
              </a:rPr>
              <a:t>Scenario – Shopping cart App</a:t>
            </a:r>
            <a:endParaRPr lang="en-IN" sz="2500" dirty="0">
              <a:latin typeface="Cooper Black" panose="0208090404030B020404" pitchFamily="18" charset="0"/>
            </a:endParaRPr>
          </a:p>
        </p:txBody>
      </p:sp>
      <p:sp>
        <p:nvSpPr>
          <p:cNvPr id="7" name="TextBox 6">
            <a:extLst>
              <a:ext uri="{FF2B5EF4-FFF2-40B4-BE49-F238E27FC236}">
                <a16:creationId xmlns:a16="http://schemas.microsoft.com/office/drawing/2014/main" id="{7F3CBDE5-5451-80AE-5C54-56D7560461F2}"/>
              </a:ext>
            </a:extLst>
          </p:cNvPr>
          <p:cNvSpPr txBox="1"/>
          <p:nvPr/>
        </p:nvSpPr>
        <p:spPr>
          <a:xfrm>
            <a:off x="152400" y="1078139"/>
            <a:ext cx="8763000" cy="2031325"/>
          </a:xfrm>
          <a:prstGeom prst="rect">
            <a:avLst/>
          </a:prstGeom>
          <a:noFill/>
        </p:spPr>
        <p:txBody>
          <a:bodyPr wrap="square">
            <a:spAutoFit/>
          </a:bodyPr>
          <a:lstStyle/>
          <a:p>
            <a:pPr>
              <a:buNone/>
            </a:pPr>
            <a:r>
              <a:rPr lang="en-US" sz="1400" b="1" dirty="0"/>
              <a:t>🧑‍💼 Persona: Alex Taylor – Procurement Manager</a:t>
            </a:r>
          </a:p>
          <a:p>
            <a:pPr>
              <a:buFont typeface="Arial" panose="020B0604020202020204" pitchFamily="34" charset="0"/>
              <a:buChar char="•"/>
            </a:pPr>
            <a:r>
              <a:rPr lang="en-US" sz="1400" b="1" dirty="0"/>
              <a:t> Age:</a:t>
            </a:r>
            <a:r>
              <a:rPr lang="en-US" sz="1400" dirty="0"/>
              <a:t> 34</a:t>
            </a:r>
          </a:p>
          <a:p>
            <a:pPr>
              <a:buFont typeface="Arial" panose="020B0604020202020204" pitchFamily="34" charset="0"/>
              <a:buChar char="•"/>
            </a:pPr>
            <a:r>
              <a:rPr lang="en-US" sz="1400" b="1" dirty="0"/>
              <a:t> Location:</a:t>
            </a:r>
            <a:r>
              <a:rPr lang="en-US" sz="1400" dirty="0"/>
              <a:t> Chicago, USA</a:t>
            </a:r>
          </a:p>
          <a:p>
            <a:pPr>
              <a:buFont typeface="Arial" panose="020B0604020202020204" pitchFamily="34" charset="0"/>
              <a:buChar char="•"/>
            </a:pPr>
            <a:r>
              <a:rPr lang="en-US" sz="1400" b="1" dirty="0"/>
              <a:t> Industry:</a:t>
            </a:r>
            <a:r>
              <a:rPr lang="en-US" sz="1400" dirty="0"/>
              <a:t> Manufacturing</a:t>
            </a:r>
          </a:p>
          <a:p>
            <a:pPr>
              <a:buFont typeface="Arial" panose="020B0604020202020204" pitchFamily="34" charset="0"/>
              <a:buChar char="•"/>
            </a:pPr>
            <a:r>
              <a:rPr lang="en-US" sz="1400" b="1" dirty="0"/>
              <a:t> Role:</a:t>
            </a:r>
            <a:r>
              <a:rPr lang="en-US" sz="1400" dirty="0"/>
              <a:t> Manages procurement for factory suppliers</a:t>
            </a:r>
          </a:p>
          <a:p>
            <a:pPr>
              <a:buFont typeface="Arial" panose="020B0604020202020204" pitchFamily="34" charset="0"/>
              <a:buChar char="•"/>
            </a:pPr>
            <a:r>
              <a:rPr lang="en-US" sz="1400" b="1" dirty="0"/>
              <a:t> Goals:</a:t>
            </a:r>
            <a:endParaRPr lang="en-US" sz="1400" dirty="0"/>
          </a:p>
          <a:p>
            <a:pPr marL="742950" lvl="1" indent="-285750">
              <a:buFont typeface="Arial" panose="020B0604020202020204" pitchFamily="34" charset="0"/>
              <a:buChar char="•"/>
            </a:pPr>
            <a:r>
              <a:rPr lang="en-US" sz="1400" dirty="0"/>
              <a:t>Quickly find suppliers</a:t>
            </a:r>
          </a:p>
          <a:p>
            <a:pPr marL="742950" lvl="1" indent="-285750">
              <a:buFont typeface="Arial" panose="020B0604020202020204" pitchFamily="34" charset="0"/>
              <a:buChar char="•"/>
            </a:pPr>
            <a:r>
              <a:rPr lang="en-US" sz="1400" dirty="0"/>
              <a:t>Ensure availability to take orders based on size</a:t>
            </a:r>
          </a:p>
          <a:p>
            <a:pPr marL="742950" lvl="1" indent="-285750">
              <a:buFont typeface="Arial" panose="020B0604020202020204" pitchFamily="34" charset="0"/>
              <a:buChar char="•"/>
            </a:pPr>
            <a:r>
              <a:rPr lang="en-US" sz="1400" dirty="0" err="1"/>
              <a:t>anage</a:t>
            </a:r>
            <a:r>
              <a:rPr lang="en-US" sz="1400" dirty="0"/>
              <a:t> suppliers </a:t>
            </a:r>
          </a:p>
        </p:txBody>
      </p:sp>
      <p:sp>
        <p:nvSpPr>
          <p:cNvPr id="9" name="TextBox 8">
            <a:extLst>
              <a:ext uri="{FF2B5EF4-FFF2-40B4-BE49-F238E27FC236}">
                <a16:creationId xmlns:a16="http://schemas.microsoft.com/office/drawing/2014/main" id="{78D09F02-65AB-62F5-1542-AD95FB99E009}"/>
              </a:ext>
            </a:extLst>
          </p:cNvPr>
          <p:cNvSpPr txBox="1"/>
          <p:nvPr/>
        </p:nvSpPr>
        <p:spPr>
          <a:xfrm>
            <a:off x="152400" y="3260853"/>
            <a:ext cx="4572000" cy="1384995"/>
          </a:xfrm>
          <a:prstGeom prst="rect">
            <a:avLst/>
          </a:prstGeom>
          <a:noFill/>
        </p:spPr>
        <p:txBody>
          <a:bodyPr wrap="square">
            <a:spAutoFit/>
          </a:bodyPr>
          <a:lstStyle/>
          <a:p>
            <a:pPr>
              <a:buNone/>
            </a:pPr>
            <a:r>
              <a:rPr lang="en-US" sz="1400" b="1" dirty="0"/>
              <a:t>🎯 Objective</a:t>
            </a:r>
          </a:p>
          <a:p>
            <a:pPr>
              <a:buNone/>
            </a:pPr>
            <a:r>
              <a:rPr lang="en-US" sz="1400" dirty="0"/>
              <a:t>Design a user-friendly </a:t>
            </a:r>
            <a:r>
              <a:rPr lang="en-US" sz="1400" b="1" dirty="0"/>
              <a:t>mobile app</a:t>
            </a:r>
            <a:r>
              <a:rPr lang="en-US" sz="1400" dirty="0"/>
              <a:t> that allows Alex to:</a:t>
            </a:r>
          </a:p>
          <a:p>
            <a:pPr>
              <a:buFont typeface="Arial" panose="020B0604020202020204" pitchFamily="34" charset="0"/>
              <a:buChar char="•"/>
            </a:pPr>
            <a:r>
              <a:rPr lang="en-US" sz="1400" dirty="0"/>
              <a:t> Browse available products</a:t>
            </a:r>
          </a:p>
          <a:p>
            <a:pPr>
              <a:buFont typeface="Arial" panose="020B0604020202020204" pitchFamily="34" charset="0"/>
              <a:buChar char="•"/>
            </a:pPr>
            <a:r>
              <a:rPr lang="en-US" sz="1400" dirty="0"/>
              <a:t> View detailed product information</a:t>
            </a:r>
          </a:p>
          <a:p>
            <a:pPr>
              <a:buFont typeface="Arial" panose="020B0604020202020204" pitchFamily="34" charset="0"/>
              <a:buChar char="•"/>
            </a:pPr>
            <a:r>
              <a:rPr lang="en-US" sz="1400" dirty="0"/>
              <a:t> Add items to a shopping cart</a:t>
            </a:r>
          </a:p>
          <a:p>
            <a:pPr>
              <a:buFont typeface="Arial" panose="020B0604020202020204" pitchFamily="34" charset="0"/>
              <a:buChar char="•"/>
            </a:pPr>
            <a:r>
              <a:rPr lang="en-US" sz="1400" dirty="0"/>
              <a:t> Place and track orders</a:t>
            </a:r>
          </a:p>
        </p:txBody>
      </p:sp>
      <p:pic>
        <p:nvPicPr>
          <p:cNvPr id="10" name="Picture 2" descr="Man manager administrator consultant avatar Vector Image">
            <a:extLst>
              <a:ext uri="{FF2B5EF4-FFF2-40B4-BE49-F238E27FC236}">
                <a16:creationId xmlns:a16="http://schemas.microsoft.com/office/drawing/2014/main" id="{091F9B7B-6874-8056-E5A6-614891E5D0F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9218" t="8000" r="11483" b="18500"/>
          <a:stretch/>
        </p:blipFill>
        <p:spPr bwMode="auto">
          <a:xfrm>
            <a:off x="5334000" y="1041902"/>
            <a:ext cx="3295298" cy="3364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181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AE3F0-2804-265C-9E61-EE6FA4E20AB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0C5542A-DC96-626B-E5F6-190D12EE38BA}"/>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E271DA9A-72DF-1184-B710-D2128B603FDC}"/>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14</a:t>
            </a:fld>
            <a:endParaRPr lang="en-US" dirty="0"/>
          </a:p>
        </p:txBody>
      </p:sp>
      <p:sp>
        <p:nvSpPr>
          <p:cNvPr id="5" name="Title 4">
            <a:extLst>
              <a:ext uri="{FF2B5EF4-FFF2-40B4-BE49-F238E27FC236}">
                <a16:creationId xmlns:a16="http://schemas.microsoft.com/office/drawing/2014/main" id="{C2FF114F-62C7-5E71-E8BB-11CB01088A8C}"/>
              </a:ext>
            </a:extLst>
          </p:cNvPr>
          <p:cNvSpPr>
            <a:spLocks noGrp="1"/>
          </p:cNvSpPr>
          <p:nvPr>
            <p:ph type="title"/>
          </p:nvPr>
        </p:nvSpPr>
        <p:spPr>
          <a:xfrm>
            <a:off x="76200" y="133350"/>
            <a:ext cx="8229600" cy="533401"/>
          </a:xfrm>
        </p:spPr>
        <p:txBody>
          <a:bodyPr/>
          <a:lstStyle/>
          <a:p>
            <a:r>
              <a:rPr lang="en-US" sz="2500" dirty="0">
                <a:latin typeface="Cooper Black" panose="0208090404030B020404" pitchFamily="18" charset="0"/>
              </a:rPr>
              <a:t>Binding Concept</a:t>
            </a:r>
            <a:endParaRPr lang="en-IN" sz="2500" dirty="0">
              <a:latin typeface="Cooper Black" panose="0208090404030B020404" pitchFamily="18" charset="0"/>
            </a:endParaRPr>
          </a:p>
        </p:txBody>
      </p:sp>
      <p:sp>
        <p:nvSpPr>
          <p:cNvPr id="2" name="TextBox 1">
            <a:extLst>
              <a:ext uri="{FF2B5EF4-FFF2-40B4-BE49-F238E27FC236}">
                <a16:creationId xmlns:a16="http://schemas.microsoft.com/office/drawing/2014/main" id="{CD292EDF-818D-7ED7-4507-6F85E9B08B38}"/>
              </a:ext>
            </a:extLst>
          </p:cNvPr>
          <p:cNvSpPr txBox="1"/>
          <p:nvPr/>
        </p:nvSpPr>
        <p:spPr>
          <a:xfrm>
            <a:off x="152400" y="971549"/>
            <a:ext cx="8839200" cy="4069557"/>
          </a:xfrm>
          <a:prstGeom prst="rect">
            <a:avLst/>
          </a:prstGeom>
        </p:spPr>
        <p:txBody>
          <a:bodyPr vert="horz" lIns="91440" tIns="45720" rIns="91440" bIns="45720" rtlCol="0">
            <a:normAutofit/>
          </a:bodyPr>
          <a:lstStyle/>
          <a:p>
            <a:pPr algn="l">
              <a:lnSpc>
                <a:spcPts val="1800"/>
              </a:lnSpc>
              <a:spcAft>
                <a:spcPts val="1500"/>
              </a:spcAft>
              <a:buNone/>
            </a:pPr>
            <a:r>
              <a:rPr lang="en-US" sz="1400" b="0" i="0" dirty="0">
                <a:solidFill>
                  <a:srgbClr val="1F1F1F"/>
                </a:solidFill>
                <a:effectLst/>
                <a:latin typeface="72 Brand Variable"/>
              </a:rPr>
              <a:t>You created a data variable for the </a:t>
            </a:r>
            <a:r>
              <a:rPr lang="en-US" sz="1400" b="1" i="0" dirty="0">
                <a:solidFill>
                  <a:srgbClr val="1F1F1F"/>
                </a:solidFill>
                <a:effectLst/>
                <a:latin typeface="72 Brand Variable"/>
              </a:rPr>
              <a:t>Products</a:t>
            </a:r>
            <a:r>
              <a:rPr lang="en-US" sz="1400" b="0" i="0" dirty="0">
                <a:solidFill>
                  <a:srgbClr val="1F1F1F"/>
                </a:solidFill>
                <a:effectLst/>
                <a:latin typeface="72 Brand Variable"/>
              </a:rPr>
              <a:t> data, and the logic for retrieving the data was created automatically. Now you need to tell the app what to display.</a:t>
            </a:r>
          </a:p>
          <a:p>
            <a:pPr algn="l">
              <a:lnSpc>
                <a:spcPts val="1800"/>
              </a:lnSpc>
              <a:spcAft>
                <a:spcPts val="1500"/>
              </a:spcAft>
              <a:buNone/>
            </a:pPr>
            <a:r>
              <a:rPr lang="en-US" sz="1400" b="0" i="0" dirty="0">
                <a:solidFill>
                  <a:srgbClr val="1F1F1F"/>
                </a:solidFill>
                <a:effectLst/>
                <a:latin typeface="72 Brand Variable"/>
              </a:rPr>
              <a:t>To do this, you create bindings for your UI components, indicating what data you want to display in your component, whether from:</a:t>
            </a:r>
          </a:p>
          <a:p>
            <a:pPr algn="l">
              <a:lnSpc>
                <a:spcPts val="1800"/>
              </a:lnSpc>
              <a:buFont typeface="Arial" panose="020B0604020202020204" pitchFamily="34" charset="0"/>
              <a:buChar char="•"/>
            </a:pPr>
            <a:r>
              <a:rPr lang="en-US" sz="1400" b="0" i="0" dirty="0">
                <a:solidFill>
                  <a:srgbClr val="1F1F1F"/>
                </a:solidFill>
                <a:effectLst/>
                <a:latin typeface="72 Brand Variable"/>
              </a:rPr>
              <a:t>Static values</a:t>
            </a:r>
          </a:p>
          <a:p>
            <a:pPr algn="l">
              <a:lnSpc>
                <a:spcPts val="1800"/>
              </a:lnSpc>
              <a:buFont typeface="Arial" panose="020B0604020202020204" pitchFamily="34" charset="0"/>
              <a:buChar char="•"/>
            </a:pPr>
            <a:r>
              <a:rPr lang="en-US" sz="1400" b="0" i="0" dirty="0">
                <a:solidFill>
                  <a:srgbClr val="1F1F1F"/>
                </a:solidFill>
                <a:effectLst/>
                <a:latin typeface="72 Brand Variable"/>
              </a:rPr>
              <a:t>Calculated values</a:t>
            </a:r>
          </a:p>
          <a:p>
            <a:pPr algn="l">
              <a:lnSpc>
                <a:spcPts val="1800"/>
              </a:lnSpc>
              <a:buFont typeface="Arial" panose="020B0604020202020204" pitchFamily="34" charset="0"/>
              <a:buChar char="•"/>
            </a:pPr>
            <a:r>
              <a:rPr lang="en-US" sz="1400" b="0" i="0" dirty="0">
                <a:solidFill>
                  <a:srgbClr val="1F1F1F"/>
                </a:solidFill>
                <a:effectLst/>
                <a:latin typeface="72 Brand Variable"/>
              </a:rPr>
              <a:t>Values from variables</a:t>
            </a:r>
          </a:p>
          <a:p>
            <a:pPr algn="l">
              <a:lnSpc>
                <a:spcPts val="1800"/>
              </a:lnSpc>
              <a:buFont typeface="Arial" panose="020B0604020202020204" pitchFamily="34" charset="0"/>
              <a:buChar char="•"/>
            </a:pPr>
            <a:r>
              <a:rPr lang="en-US" sz="1400" b="0" i="0" dirty="0">
                <a:solidFill>
                  <a:srgbClr val="1F1F1F"/>
                </a:solidFill>
                <a:effectLst/>
                <a:latin typeface="72 Brand Variable"/>
              </a:rPr>
              <a:t>… or other sources</a:t>
            </a:r>
          </a:p>
          <a:p>
            <a:pPr algn="l">
              <a:lnSpc>
                <a:spcPts val="1800"/>
              </a:lnSpc>
              <a:buFont typeface="Arial" panose="020B0604020202020204" pitchFamily="34" charset="0"/>
              <a:buChar char="•"/>
            </a:pPr>
            <a:endParaRPr lang="en-US" sz="1400" dirty="0">
              <a:solidFill>
                <a:srgbClr val="1F1F1F"/>
              </a:solidFill>
              <a:latin typeface="72 Brand Variable"/>
            </a:endParaRPr>
          </a:p>
          <a:p>
            <a:pPr algn="l">
              <a:lnSpc>
                <a:spcPts val="1800"/>
              </a:lnSpc>
            </a:pPr>
            <a:r>
              <a:rPr lang="en-US" sz="1400" b="1" i="0" dirty="0">
                <a:solidFill>
                  <a:srgbClr val="1F1F1F"/>
                </a:solidFill>
                <a:effectLst/>
                <a:latin typeface="72 Brand Variable"/>
              </a:rPr>
              <a:t>How Binding works</a:t>
            </a:r>
          </a:p>
          <a:p>
            <a:pPr algn="l">
              <a:lnSpc>
                <a:spcPts val="1800"/>
              </a:lnSpc>
            </a:pPr>
            <a:r>
              <a:rPr lang="en-US" sz="1400" b="0" i="0" dirty="0">
                <a:solidFill>
                  <a:srgbClr val="1F1F1F"/>
                </a:solidFill>
                <a:effectLst/>
                <a:latin typeface="72 Brand Variable"/>
              </a:rPr>
              <a:t>When you configure a UI component (or later a logic component called a “flow function”), generally you do this with binding.</a:t>
            </a:r>
          </a:p>
          <a:p>
            <a:pPr algn="l">
              <a:lnSpc>
                <a:spcPts val="1800"/>
              </a:lnSpc>
            </a:pPr>
            <a:r>
              <a:rPr lang="en-US" sz="1400" b="0" i="0" dirty="0">
                <a:solidFill>
                  <a:srgbClr val="1F1F1F"/>
                </a:solidFill>
                <a:effectLst/>
                <a:latin typeface="72 Brand Variable"/>
              </a:rPr>
              <a:t>For most properties, there is a binding icon that indicates what type of binding is used. For example, you can use static text for a text field, or you can show text from a backend service and use a binding to a data variable.</a:t>
            </a:r>
          </a:p>
        </p:txBody>
      </p:sp>
    </p:spTree>
    <p:extLst>
      <p:ext uri="{BB962C8B-B14F-4D97-AF65-F5344CB8AC3E}">
        <p14:creationId xmlns:p14="http://schemas.microsoft.com/office/powerpoint/2010/main" val="423831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EF437-A219-1D5D-346E-39544ABE177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9401CC6-5248-ECE6-BB95-3CD9D669DF13}"/>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1ED2F5EA-C684-78C8-B973-28AAFE5B9098}"/>
              </a:ext>
            </a:extLst>
          </p:cNvPr>
          <p:cNvSpPr>
            <a:spLocks noGrp="1"/>
          </p:cNvSpPr>
          <p:nvPr>
            <p:ph type="sldNum" sz="quarter" idx="12"/>
          </p:nvPr>
        </p:nvSpPr>
        <p:spPr>
          <a:xfrm>
            <a:off x="152400" y="4781550"/>
            <a:ext cx="457200" cy="273844"/>
          </a:xfrm>
        </p:spPr>
        <p:txBody>
          <a:bodyPr/>
          <a:lstStyle/>
          <a:p>
            <a:fld id="{B6F15528-21DE-4FAA-801E-634DDDAF4B2B}" type="slidenum">
              <a:rPr lang="en-US" smtClean="0"/>
              <a:pPr/>
              <a:t>15</a:t>
            </a:fld>
            <a:endParaRPr lang="en-US" dirty="0"/>
          </a:p>
        </p:txBody>
      </p:sp>
      <p:sp>
        <p:nvSpPr>
          <p:cNvPr id="5" name="Title 4">
            <a:extLst>
              <a:ext uri="{FF2B5EF4-FFF2-40B4-BE49-F238E27FC236}">
                <a16:creationId xmlns:a16="http://schemas.microsoft.com/office/drawing/2014/main" id="{797718A0-B759-2B18-24DC-5BFCFDE32923}"/>
              </a:ext>
            </a:extLst>
          </p:cNvPr>
          <p:cNvSpPr>
            <a:spLocks noGrp="1"/>
          </p:cNvSpPr>
          <p:nvPr>
            <p:ph type="title"/>
          </p:nvPr>
        </p:nvSpPr>
        <p:spPr>
          <a:xfrm>
            <a:off x="76200" y="133350"/>
            <a:ext cx="8229600" cy="533401"/>
          </a:xfrm>
        </p:spPr>
        <p:txBody>
          <a:bodyPr/>
          <a:lstStyle/>
          <a:p>
            <a:r>
              <a:rPr lang="en-US" sz="2500" dirty="0">
                <a:latin typeface="Cooper Black" panose="0208090404030B020404" pitchFamily="18" charset="0"/>
              </a:rPr>
              <a:t>What is repeat?</a:t>
            </a:r>
            <a:endParaRPr lang="en-IN" sz="2500" dirty="0">
              <a:latin typeface="Cooper Black" panose="0208090404030B020404" pitchFamily="18" charset="0"/>
            </a:endParaRPr>
          </a:p>
        </p:txBody>
      </p:sp>
      <p:sp>
        <p:nvSpPr>
          <p:cNvPr id="2" name="TextBox 1">
            <a:extLst>
              <a:ext uri="{FF2B5EF4-FFF2-40B4-BE49-F238E27FC236}">
                <a16:creationId xmlns:a16="http://schemas.microsoft.com/office/drawing/2014/main" id="{1AB65789-E4EB-3F19-FF46-B2B53C6B3102}"/>
              </a:ext>
            </a:extLst>
          </p:cNvPr>
          <p:cNvSpPr txBox="1"/>
          <p:nvPr/>
        </p:nvSpPr>
        <p:spPr>
          <a:xfrm>
            <a:off x="152400" y="971549"/>
            <a:ext cx="8839200" cy="4069557"/>
          </a:xfrm>
          <a:prstGeom prst="rect">
            <a:avLst/>
          </a:prstGeom>
        </p:spPr>
        <p:txBody>
          <a:bodyPr vert="horz" lIns="91440" tIns="45720" rIns="91440" bIns="45720" rtlCol="0">
            <a:normAutofit/>
          </a:bodyPr>
          <a:lstStyle/>
          <a:p>
            <a:pPr algn="l">
              <a:lnSpc>
                <a:spcPts val="1800"/>
              </a:lnSpc>
              <a:spcAft>
                <a:spcPts val="1500"/>
              </a:spcAft>
              <a:buNone/>
            </a:pPr>
            <a:r>
              <a:rPr lang="en-US" sz="1400" b="0" i="0" dirty="0">
                <a:solidFill>
                  <a:srgbClr val="1F1F1F"/>
                </a:solidFill>
                <a:effectLst/>
                <a:latin typeface="72 Brand Variable"/>
              </a:rPr>
              <a:t>The </a:t>
            </a:r>
            <a:r>
              <a:rPr lang="en-US" sz="1400" b="1" i="0" dirty="0">
                <a:solidFill>
                  <a:srgbClr val="1F1F1F"/>
                </a:solidFill>
                <a:effectLst/>
                <a:latin typeface="72 Brand Variable"/>
              </a:rPr>
              <a:t>Repeat with</a:t>
            </a:r>
            <a:r>
              <a:rPr lang="en-US" sz="1400" b="0" i="0" dirty="0">
                <a:solidFill>
                  <a:srgbClr val="1F1F1F"/>
                </a:solidFill>
                <a:effectLst/>
                <a:latin typeface="72 Brand Variable"/>
              </a:rPr>
              <a:t> property lets you create multiple copies of a component by supplying a list – this will repeat the component based on the number of elements in your list, for example, the number of products in our list. The list can be hardcoded, or can be located in a variable (like in our case), or based on a formula.</a:t>
            </a:r>
          </a:p>
          <a:p>
            <a:pPr algn="l">
              <a:lnSpc>
                <a:spcPts val="1800"/>
              </a:lnSpc>
              <a:spcAft>
                <a:spcPts val="1500"/>
              </a:spcAft>
            </a:pPr>
            <a:r>
              <a:rPr lang="en-US" sz="1400" b="0" i="0" dirty="0">
                <a:solidFill>
                  <a:srgbClr val="1F1F1F"/>
                </a:solidFill>
                <a:effectLst/>
                <a:latin typeface="72 Brand Variable"/>
              </a:rPr>
              <a:t>Once you set the </a:t>
            </a:r>
            <a:r>
              <a:rPr lang="en-US" sz="1400" b="1" i="0" dirty="0">
                <a:solidFill>
                  <a:srgbClr val="1F1F1F"/>
                </a:solidFill>
                <a:effectLst/>
                <a:latin typeface="72 Brand Variable"/>
              </a:rPr>
              <a:t>Repeat with</a:t>
            </a:r>
            <a:r>
              <a:rPr lang="en-US" sz="1400" b="0" i="0" dirty="0">
                <a:solidFill>
                  <a:srgbClr val="1F1F1F"/>
                </a:solidFill>
                <a:effectLst/>
                <a:latin typeface="72 Brand Variable"/>
              </a:rPr>
              <a:t> property, you then get the </a:t>
            </a:r>
            <a:r>
              <a:rPr lang="en-US" sz="1400" b="1" i="0" dirty="0">
                <a:solidFill>
                  <a:srgbClr val="1F1F1F"/>
                </a:solidFill>
                <a:effectLst/>
                <a:latin typeface="72 Brand Variable"/>
              </a:rPr>
              <a:t>Data item in repeat</a:t>
            </a:r>
            <a:r>
              <a:rPr lang="en-US" sz="1400" b="0" i="0" dirty="0">
                <a:solidFill>
                  <a:srgbClr val="1F1F1F"/>
                </a:solidFill>
                <a:effectLst/>
                <a:latin typeface="72 Brand Variable"/>
              </a:rPr>
              <a:t> binding option for the other properties in the component. You can now access values within each list item. So the data in the first item will be displayed in the first copy of the component, the data in the second item in the second copy of the component, and so on.</a:t>
            </a:r>
          </a:p>
        </p:txBody>
      </p:sp>
    </p:spTree>
    <p:extLst>
      <p:ext uri="{BB962C8B-B14F-4D97-AF65-F5344CB8AC3E}">
        <p14:creationId xmlns:p14="http://schemas.microsoft.com/office/powerpoint/2010/main" val="3955144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15D2C93-0120-CCFC-9609-5065A85D5191}"/>
              </a:ext>
            </a:extLst>
          </p:cNvPr>
          <p:cNvSpPr>
            <a:spLocks noGrp="1"/>
          </p:cNvSpPr>
          <p:nvPr>
            <p:ph type="ftr" sz="quarter" idx="11"/>
          </p:nvPr>
        </p:nvSpPr>
        <p:spPr/>
        <p:txBody>
          <a:bodyPr/>
          <a:lstStyle/>
          <a:p>
            <a:r>
              <a:rPr lang="en-US"/>
              <a:t>www.anubhavtrainings.com</a:t>
            </a:r>
            <a:endParaRPr lang="en-US" dirty="0"/>
          </a:p>
        </p:txBody>
      </p:sp>
      <p:sp>
        <p:nvSpPr>
          <p:cNvPr id="3" name="Slide Number Placeholder 2">
            <a:extLst>
              <a:ext uri="{FF2B5EF4-FFF2-40B4-BE49-F238E27FC236}">
                <a16:creationId xmlns:a16="http://schemas.microsoft.com/office/drawing/2014/main" id="{8C7B24C2-E0A7-CEBF-F7A8-383001851AF8}"/>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4" name="Title 3">
            <a:extLst>
              <a:ext uri="{FF2B5EF4-FFF2-40B4-BE49-F238E27FC236}">
                <a16:creationId xmlns:a16="http://schemas.microsoft.com/office/drawing/2014/main" id="{3926B177-165E-9165-72C4-FD0C520A2E18}"/>
              </a:ext>
            </a:extLst>
          </p:cNvPr>
          <p:cNvSpPr>
            <a:spLocks noGrp="1"/>
          </p:cNvSpPr>
          <p:nvPr>
            <p:ph type="title"/>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AB080056-AF3B-2DD1-1233-CD37BCC6426B}"/>
                  </a:ext>
                </a:extLst>
              </p14:cNvPr>
              <p14:cNvContentPartPr/>
              <p14:nvPr/>
            </p14:nvContentPartPr>
            <p14:xfrm>
              <a:off x="1315357" y="-14658"/>
              <a:ext cx="360" cy="360"/>
            </p14:xfrm>
          </p:contentPart>
        </mc:Choice>
        <mc:Fallback xmlns="">
          <p:pic>
            <p:nvPicPr>
              <p:cNvPr id="5" name="Ink 4">
                <a:extLst>
                  <a:ext uri="{FF2B5EF4-FFF2-40B4-BE49-F238E27FC236}">
                    <a16:creationId xmlns:a16="http://schemas.microsoft.com/office/drawing/2014/main" id="{AB080056-AF3B-2DD1-1233-CD37BCC6426B}"/>
                  </a:ext>
                </a:extLst>
              </p:cNvPr>
              <p:cNvPicPr/>
              <p:nvPr/>
            </p:nvPicPr>
            <p:blipFill>
              <a:blip r:embed="rId3"/>
              <a:stretch>
                <a:fillRect/>
              </a:stretch>
            </p:blipFill>
            <p:spPr>
              <a:xfrm>
                <a:off x="1306357" y="-23658"/>
                <a:ext cx="18000" cy="18000"/>
              </a:xfrm>
              <a:prstGeom prst="rect">
                <a:avLst/>
              </a:prstGeom>
            </p:spPr>
          </p:pic>
        </mc:Fallback>
      </mc:AlternateContent>
    </p:spTree>
    <p:extLst>
      <p:ext uri="{BB962C8B-B14F-4D97-AF65-F5344CB8AC3E}">
        <p14:creationId xmlns:p14="http://schemas.microsoft.com/office/powerpoint/2010/main" val="720877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Connector 4"/>
          <p:cNvSpPr/>
          <p:nvPr/>
        </p:nvSpPr>
        <p:spPr>
          <a:xfrm>
            <a:off x="4355976" y="21622"/>
            <a:ext cx="4168026" cy="4101362"/>
          </a:xfrm>
          <a:prstGeom prst="flowChartConnector">
            <a:avLst/>
          </a:prstGeom>
          <a:gradFill flip="none" rotWithShape="1">
            <a:gsLst>
              <a:gs pos="0">
                <a:srgbClr val="55E96E"/>
              </a:gs>
              <a:gs pos="46000">
                <a:srgbClr val="0AEC25"/>
              </a:gs>
              <a:gs pos="100000">
                <a:srgbClr val="00B050"/>
              </a:gs>
            </a:gsLst>
            <a:path path="circle">
              <a:fillToRect l="50000" t="130000" r="50000" b="-3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6" name="Picture Placeholder 11">
            <a:extLst>
              <a:ext uri="{FF2B5EF4-FFF2-40B4-BE49-F238E27FC236}">
                <a16:creationId xmlns:a16="http://schemas.microsoft.com/office/drawing/2014/main" id="{420F5850-2D59-4C25-ADFF-E9013C5A6A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49" y="10551"/>
            <a:ext cx="5088657" cy="4690760"/>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p:spPr>
      </p:pic>
      <p:sp>
        <p:nvSpPr>
          <p:cNvPr id="7" name="Rectangle: Rounded Corners 3">
            <a:extLst>
              <a:ext uri="{FF2B5EF4-FFF2-40B4-BE49-F238E27FC236}">
                <a16:creationId xmlns:a16="http://schemas.microsoft.com/office/drawing/2014/main" id="{4DCA9A03-C201-42B6-AF8D-AB31333C8852}"/>
              </a:ext>
            </a:extLst>
          </p:cNvPr>
          <p:cNvSpPr/>
          <p:nvPr/>
        </p:nvSpPr>
        <p:spPr>
          <a:xfrm>
            <a:off x="4550245" y="735546"/>
            <a:ext cx="3973757" cy="2082201"/>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dirty="0"/>
          </a:p>
        </p:txBody>
      </p:sp>
      <p:sp>
        <p:nvSpPr>
          <p:cNvPr id="8" name="TextBox 7">
            <a:extLst>
              <a:ext uri="{FF2B5EF4-FFF2-40B4-BE49-F238E27FC236}">
                <a16:creationId xmlns:a16="http://schemas.microsoft.com/office/drawing/2014/main" id="{4B09D3EC-7881-4341-8189-469046CA259E}"/>
              </a:ext>
            </a:extLst>
          </p:cNvPr>
          <p:cNvSpPr txBox="1"/>
          <p:nvPr/>
        </p:nvSpPr>
        <p:spPr>
          <a:xfrm>
            <a:off x="4981951" y="1042138"/>
            <a:ext cx="3179963" cy="461665"/>
          </a:xfrm>
          <a:prstGeom prst="rect">
            <a:avLst/>
          </a:prstGeom>
          <a:noFill/>
        </p:spPr>
        <p:txBody>
          <a:bodyPr wrap="square" lIns="0" tIns="0" rIns="0" bIns="0" rtlCol="0">
            <a:spAutoFit/>
          </a:bodyPr>
          <a:lstStyle/>
          <a:p>
            <a:r>
              <a:rPr lang="en-IN" sz="3000" b="1" dirty="0">
                <a:solidFill>
                  <a:srgbClr val="75C042"/>
                </a:solidFill>
              </a:rPr>
              <a:t>What We </a:t>
            </a:r>
            <a:r>
              <a:rPr lang="en-IN" sz="3000" b="1" dirty="0">
                <a:solidFill>
                  <a:srgbClr val="55E96E"/>
                </a:solidFill>
                <a:latin typeface="Segoe UI Light" panose="020B0502040204020203" pitchFamily="34" charset="0"/>
                <a:cs typeface="Segoe UI Light" panose="020B0502040204020203" pitchFamily="34" charset="0"/>
              </a:rPr>
              <a:t>Did</a:t>
            </a:r>
          </a:p>
        </p:txBody>
      </p:sp>
      <p:sp>
        <p:nvSpPr>
          <p:cNvPr id="9" name="TextBox 8">
            <a:extLst>
              <a:ext uri="{FF2B5EF4-FFF2-40B4-BE49-F238E27FC236}">
                <a16:creationId xmlns:a16="http://schemas.microsoft.com/office/drawing/2014/main" id="{A0CBE2D0-9475-4BE8-AC62-B9A03DC275C3}"/>
              </a:ext>
            </a:extLst>
          </p:cNvPr>
          <p:cNvSpPr txBox="1"/>
          <p:nvPr/>
        </p:nvSpPr>
        <p:spPr>
          <a:xfrm>
            <a:off x="4981951" y="1610639"/>
            <a:ext cx="3179963" cy="461665"/>
          </a:xfrm>
          <a:prstGeom prst="rect">
            <a:avLst/>
          </a:prstGeom>
          <a:noFill/>
        </p:spPr>
        <p:txBody>
          <a:bodyPr wrap="square" lIns="0" tIns="0" rIns="0" bIns="0" rtlCol="0" anchor="t">
            <a:spAutoFit/>
          </a:bodyPr>
          <a:lstStyle/>
          <a:p>
            <a:r>
              <a:rPr lang="en-US" sz="3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3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10" name="Group 9">
            <a:extLst>
              <a:ext uri="{FF2B5EF4-FFF2-40B4-BE49-F238E27FC236}">
                <a16:creationId xmlns:a16="http://schemas.microsoft.com/office/drawing/2014/main" id="{CBADDFA3-0336-41F5-81AE-B9456B828C2C}"/>
              </a:ext>
            </a:extLst>
          </p:cNvPr>
          <p:cNvGrpSpPr/>
          <p:nvPr/>
        </p:nvGrpSpPr>
        <p:grpSpPr>
          <a:xfrm>
            <a:off x="4999393" y="2370854"/>
            <a:ext cx="463016" cy="82493"/>
            <a:chOff x="6006451" y="5603130"/>
            <a:chExt cx="617354" cy="109990"/>
          </a:xfrm>
        </p:grpSpPr>
        <p:sp>
          <p:nvSpPr>
            <p:cNvPr id="11"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rgbClr val="00B050"/>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sp>
          <p:nvSpPr>
            <p:cNvPr id="12"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rgbClr val="75C042"/>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sp>
          <p:nvSpPr>
            <p:cNvPr id="13"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rgbClr val="0AEC25"/>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grpSp>
      <p:sp>
        <p:nvSpPr>
          <p:cNvPr id="14" name="Google Shape;845;p16"/>
          <p:cNvSpPr/>
          <p:nvPr/>
        </p:nvSpPr>
        <p:spPr>
          <a:xfrm>
            <a:off x="1190" y="0"/>
            <a:ext cx="1494765" cy="736929"/>
          </a:xfrm>
          <a:custGeom>
            <a:avLst/>
            <a:gdLst/>
            <a:ahLst/>
            <a:cxnLst/>
            <a:rect l="l" t="t" r="r" b="b"/>
            <a:pathLst>
              <a:path w="1993020" h="1803466" extrusionOk="0">
                <a:moveTo>
                  <a:pt x="0" y="0"/>
                </a:moveTo>
                <a:lnTo>
                  <a:pt x="1993020" y="0"/>
                </a:lnTo>
                <a:lnTo>
                  <a:pt x="1229306" y="1803466"/>
                </a:lnTo>
                <a:lnTo>
                  <a:pt x="0" y="1803466"/>
                </a:lnTo>
                <a:lnTo>
                  <a:pt x="0" y="0"/>
                </a:lnTo>
                <a:close/>
              </a:path>
            </a:pathLst>
          </a:custGeom>
          <a:solidFill>
            <a:srgbClr val="75C042"/>
          </a:solidFill>
          <a:ln>
            <a:noFill/>
          </a:ln>
        </p:spPr>
        <p:txBody>
          <a:bodyPr spcFirstLastPara="1" wrap="square" lIns="68569" tIns="34275" rIns="68569" bIns="34275" anchor="ctr" anchorCtr="0">
            <a:noAutofit/>
          </a:bodyPr>
          <a:lstStyle/>
          <a:p>
            <a:pPr algn="ctr" defTabSz="685800">
              <a:buClr>
                <a:srgbClr val="000000"/>
              </a:buClr>
              <a:defRPr/>
            </a:pPr>
            <a:endParaRPr sz="1350" kern="0">
              <a:solidFill>
                <a:srgbClr val="75C042"/>
              </a:solidFill>
              <a:latin typeface="Calibri"/>
              <a:ea typeface="Calibri"/>
              <a:cs typeface="Calibri"/>
              <a:sym typeface="Calibri"/>
            </a:endParaRPr>
          </a:p>
        </p:txBody>
      </p:sp>
      <p:sp>
        <p:nvSpPr>
          <p:cNvPr id="16" name="Google Shape;552;p2"/>
          <p:cNvSpPr txBox="1"/>
          <p:nvPr/>
        </p:nvSpPr>
        <p:spPr>
          <a:xfrm>
            <a:off x="7108178" y="4873864"/>
            <a:ext cx="2251926" cy="253885"/>
          </a:xfrm>
          <a:prstGeom prst="rect">
            <a:avLst/>
          </a:prstGeom>
          <a:noFill/>
          <a:ln>
            <a:noFill/>
          </a:ln>
        </p:spPr>
        <p:txBody>
          <a:bodyPr spcFirstLastPara="1" wrap="square" lIns="68569" tIns="34275" rIns="68569" bIns="34275" anchor="t" anchorCtr="0">
            <a:spAutoFit/>
          </a:bodyPr>
          <a:lstStyle/>
          <a:p>
            <a:r>
              <a:rPr lang="en-US" sz="12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2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1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6139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par>
                                <p:cTn id="11" presetID="16" presetClass="entr" presetSubtype="21"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inVertical)">
                                      <p:cBhvr>
                                        <p:cTn id="13" dur="500"/>
                                        <p:tgtEl>
                                          <p:spTgt spid="1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inVertical)">
                                      <p:cBhvr>
                                        <p:cTn id="16" dur="500"/>
                                        <p:tgtEl>
                                          <p:spTgt spid="7"/>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inVertical)">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946764" y="2580648"/>
            <a:ext cx="4187536" cy="692497"/>
          </a:xfrm>
          <a:prstGeom prst="rect">
            <a:avLst/>
          </a:prstGeom>
          <a:noFill/>
        </p:spPr>
        <p:txBody>
          <a:bodyPr wrap="square" lIns="0" tIns="0" rIns="0" bIns="0" rtlCol="0">
            <a:spAutoFit/>
          </a:bodyPr>
          <a:lstStyle/>
          <a:p>
            <a:r>
              <a:rPr lang="en-IN" sz="4500" b="1" dirty="0">
                <a:solidFill>
                  <a:srgbClr val="75C042"/>
                </a:solidFill>
              </a:rPr>
              <a:t>Thank</a:t>
            </a:r>
            <a:r>
              <a:rPr lang="en-IN" sz="4500" b="1" dirty="0">
                <a:solidFill>
                  <a:schemeClr val="accent1"/>
                </a:solidFill>
              </a:rPr>
              <a:t> </a:t>
            </a:r>
            <a:r>
              <a:rPr lang="en-IN" sz="4500" b="1" dirty="0">
                <a:solidFill>
                  <a:srgbClr val="75C042"/>
                </a:solidFill>
              </a:rPr>
              <a:t>You</a:t>
            </a:r>
          </a:p>
        </p:txBody>
      </p:sp>
      <p:sp>
        <p:nvSpPr>
          <p:cNvPr id="3" name="TextBox 2">
            <a:extLst>
              <a:ext uri="{FF2B5EF4-FFF2-40B4-BE49-F238E27FC236}">
                <a16:creationId xmlns:a16="http://schemas.microsoft.com/office/drawing/2014/main" id="{CCD57203-1FF5-432E-8E3E-4DFC442AA54C}"/>
              </a:ext>
            </a:extLst>
          </p:cNvPr>
          <p:cNvSpPr txBox="1"/>
          <p:nvPr/>
        </p:nvSpPr>
        <p:spPr>
          <a:xfrm>
            <a:off x="946764" y="3435846"/>
            <a:ext cx="4187536" cy="692497"/>
          </a:xfrm>
          <a:prstGeom prst="rect">
            <a:avLst/>
          </a:prstGeom>
          <a:noFill/>
        </p:spPr>
        <p:txBody>
          <a:bodyPr wrap="square" lIns="0" tIns="0" rIns="0" bIns="0" rtlCol="0" anchor="t">
            <a:spAutoFit/>
          </a:bodyPr>
          <a:lstStyle/>
          <a:p>
            <a:r>
              <a:rPr lang="en-US" sz="4500" b="1" dirty="0">
                <a:solidFill>
                  <a:srgbClr val="75C042"/>
                </a:solidFill>
              </a:rPr>
              <a:t>End of </a:t>
            </a:r>
            <a:r>
              <a:rPr lang="en-US" sz="4050" b="1" kern="0">
                <a:solidFill>
                  <a:srgbClr val="75C042"/>
                </a:solidFill>
                <a:latin typeface="Segoe UI" panose="020B0502040204020203" pitchFamily="34" charset="0"/>
                <a:ea typeface="Calibri Light" charset="0"/>
                <a:cs typeface="Segoe UI" panose="020B0502040204020203" pitchFamily="34" charset="0"/>
              </a:rPr>
              <a:t>Day 21</a:t>
            </a:r>
            <a:endParaRPr lang="en-US" sz="4050" b="1" dirty="0">
              <a:solidFill>
                <a:srgbClr val="75C042"/>
              </a:solidFill>
              <a:latin typeface="Segoe UI" panose="020B0502040204020203" pitchFamily="34" charset="0"/>
              <a:ea typeface="Calibri Light" charset="0"/>
              <a:cs typeface="Segoe UI" panose="020B0502040204020203" pitchFamily="34" charset="0"/>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946763" y="4247149"/>
            <a:ext cx="983696" cy="278476"/>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grpSp>
      <p:sp>
        <p:nvSpPr>
          <p:cNvPr id="11" name="Rectangle 10">
            <a:extLst>
              <a:ext uri="{FF2B5EF4-FFF2-40B4-BE49-F238E27FC236}">
                <a16:creationId xmlns:a16="http://schemas.microsoft.com/office/drawing/2014/main" id="{DE739AA3-A794-9F54-6A5A-CA2C7ED598BB}"/>
              </a:ext>
            </a:extLst>
          </p:cNvPr>
          <p:cNvSpPr/>
          <p:nvPr/>
        </p:nvSpPr>
        <p:spPr>
          <a:xfrm>
            <a:off x="976712" y="1704281"/>
            <a:ext cx="3973328" cy="7397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www.anubhavtrainings.com</a:t>
            </a:r>
          </a:p>
        </p:txBody>
      </p:sp>
      <p:sp>
        <p:nvSpPr>
          <p:cNvPr id="12" name="Right Triangle 11"/>
          <p:cNvSpPr/>
          <p:nvPr/>
        </p:nvSpPr>
        <p:spPr>
          <a:xfrm rot="19603165">
            <a:off x="296953" y="-1026843"/>
            <a:ext cx="3143465" cy="2053685"/>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solidFill>
                  <a:srgbClr val="00B050"/>
                </a:solidFill>
              </a:ln>
              <a:solidFill>
                <a:srgbClr val="00B050"/>
              </a:solidFill>
            </a:endParaRPr>
          </a:p>
        </p:txBody>
      </p:sp>
      <p:sp>
        <p:nvSpPr>
          <p:cNvPr id="13" name="Right Triangle 12"/>
          <p:cNvSpPr/>
          <p:nvPr/>
        </p:nvSpPr>
        <p:spPr>
          <a:xfrm rot="16200000">
            <a:off x="5156848" y="1159118"/>
            <a:ext cx="3538845" cy="4433079"/>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solidFill>
                  <a:srgbClr val="00B050"/>
                </a:solidFill>
              </a:ln>
              <a:solidFill>
                <a:srgbClr val="00B050"/>
              </a:solidFill>
            </a:endParaRPr>
          </a:p>
        </p:txBody>
      </p:sp>
      <p:sp>
        <p:nvSpPr>
          <p:cNvPr id="14" name="Minus 13"/>
          <p:cNvSpPr/>
          <p:nvPr/>
        </p:nvSpPr>
        <p:spPr>
          <a:xfrm rot="19276189">
            <a:off x="3207527" y="3117933"/>
            <a:ext cx="7398364" cy="354149"/>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Google Shape;552;p2"/>
          <p:cNvSpPr txBox="1"/>
          <p:nvPr/>
        </p:nvSpPr>
        <p:spPr>
          <a:xfrm>
            <a:off x="7108178" y="4873864"/>
            <a:ext cx="2251926" cy="253885"/>
          </a:xfrm>
          <a:prstGeom prst="rect">
            <a:avLst/>
          </a:prstGeom>
          <a:noFill/>
          <a:ln>
            <a:noFill/>
          </a:ln>
        </p:spPr>
        <p:txBody>
          <a:bodyPr spcFirstLastPara="1" wrap="square" lIns="68569" tIns="34275" rIns="68569" bIns="34275" anchor="t" anchorCtr="0">
            <a:spAutoFit/>
          </a:bodyPr>
          <a:lstStyle/>
          <a:p>
            <a:r>
              <a:rPr lang="en-US" sz="1200" dirty="0">
                <a:latin typeface="Cambria" panose="02040503050406030204" pitchFamily="18" charset="0"/>
                <a:ea typeface="Cambria" panose="02040503050406030204" pitchFamily="18" charset="0"/>
                <a:cs typeface="Corben"/>
                <a:sym typeface="Corben"/>
              </a:rPr>
              <a:t>www.anubhavtrainings.com</a:t>
            </a:r>
            <a:endParaRPr sz="1200" dirty="0">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3997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2273307" y="1754585"/>
            <a:ext cx="6869499" cy="3388245"/>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191" y="670"/>
            <a:ext cx="9141619" cy="3657500"/>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381" y="670"/>
            <a:ext cx="9139239" cy="3657500"/>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572" y="-7047"/>
            <a:ext cx="9138048" cy="3665216"/>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en-US" sz="134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264117" y="4494008"/>
            <a:ext cx="2665023" cy="507575"/>
          </a:xfrm>
          <a:prstGeom prst="rect">
            <a:avLst/>
          </a:prstGeom>
        </p:spPr>
        <p:txBody>
          <a:bodyPr wrap="square">
            <a:spAutoFit/>
          </a:bodyPr>
          <a:lstStyle/>
          <a:p>
            <a:pPr defTabSz="685457">
              <a:defRPr/>
            </a:pPr>
            <a:r>
              <a:rPr lang="en-US" sz="1349" b="1" dirty="0">
                <a:solidFill>
                  <a:srgbClr val="44546A"/>
                </a:solidFill>
                <a:latin typeface="Arial" panose="020B0604020202020204" pitchFamily="34" charset="0"/>
                <a:cs typeface="Arial" panose="020B0604020202020204" pitchFamily="34" charset="0"/>
              </a:rPr>
              <a:t>Contact us today!</a:t>
            </a:r>
          </a:p>
          <a:p>
            <a:pPr defTabSz="685457">
              <a:defRPr/>
            </a:pPr>
            <a:r>
              <a:rPr lang="en-US" sz="134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6134855" y="2194523"/>
            <a:ext cx="2422082" cy="230832"/>
          </a:xfrm>
          <a:prstGeom prst="rect">
            <a:avLst/>
          </a:prstGeom>
        </p:spPr>
        <p:txBody>
          <a:bodyPr wrap="square">
            <a:spAutoFit/>
          </a:bodyPr>
          <a:lstStyle/>
          <a:p>
            <a:pPr algn="ctr" defTabSz="685595">
              <a:defRPr/>
            </a:pPr>
            <a:r>
              <a:rPr lang="en-IN" sz="900" spc="38"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900" spc="38"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917449" y="233539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250+ </a:t>
            </a:r>
          </a:p>
          <a:p>
            <a:pPr algn="ctr" defTabSz="685595">
              <a:defRPr/>
            </a:pPr>
            <a:r>
              <a:rPr lang="en-US" sz="9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120049" y="233539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30,000+</a:t>
            </a:r>
          </a:p>
          <a:p>
            <a:pPr algn="ctr" defTabSz="685595">
              <a:defRPr/>
            </a:pPr>
            <a:r>
              <a:rPr lang="en-US" sz="9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3372763" y="233362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25000+ </a:t>
            </a:r>
          </a:p>
          <a:p>
            <a:pPr algn="ctr" defTabSz="685595">
              <a:defRPr/>
            </a:pPr>
            <a:r>
              <a:rPr lang="en-US" sz="9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338537" y="1709881"/>
            <a:ext cx="480044" cy="480044"/>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2555339" y="1704574"/>
            <a:ext cx="503946" cy="503946"/>
          </a:xfrm>
          <a:prstGeom prst="rect">
            <a:avLst/>
          </a:prstGeom>
        </p:spPr>
      </p:pic>
      <p:sp>
        <p:nvSpPr>
          <p:cNvPr id="48" name="Rectangle 47"/>
          <p:cNvSpPr/>
          <p:nvPr/>
        </p:nvSpPr>
        <p:spPr>
          <a:xfrm>
            <a:off x="475582" y="519175"/>
            <a:ext cx="4928219" cy="876778"/>
          </a:xfrm>
          <a:prstGeom prst="rect">
            <a:avLst/>
          </a:prstGeom>
        </p:spPr>
        <p:txBody>
          <a:bodyPr wrap="square">
            <a:spAutoFit/>
          </a:bodyPr>
          <a:lstStyle/>
          <a:p>
            <a:pPr algn="ctr" defTabSz="685595">
              <a:defRPr/>
            </a:pPr>
            <a:r>
              <a:rPr lang="en-US" sz="1499" b="1" dirty="0">
                <a:solidFill>
                  <a:srgbClr val="FFFFFF"/>
                </a:solidFill>
                <a:latin typeface="Arial" panose="020B0604020202020204" pitchFamily="34" charset="0"/>
                <a:cs typeface="Arial" panose="020B0604020202020204" pitchFamily="34" charset="0"/>
              </a:rPr>
              <a:t>We’re committed to empower you to be</a:t>
            </a:r>
          </a:p>
          <a:p>
            <a:pPr algn="ctr" defTabSz="685595">
              <a:defRPr/>
            </a:pPr>
            <a:r>
              <a:rPr lang="en-US" sz="1499" b="1" dirty="0">
                <a:solidFill>
                  <a:srgbClr val="FFFFFF"/>
                </a:solidFill>
                <a:latin typeface="Arial" panose="020B0604020202020204" pitchFamily="34" charset="0"/>
                <a:cs typeface="Arial" panose="020B0604020202020204" pitchFamily="34" charset="0"/>
              </a:rPr>
              <a:t> </a:t>
            </a:r>
            <a:r>
              <a:rPr lang="en-US" sz="2099" b="1" dirty="0">
                <a:solidFill>
                  <a:srgbClr val="2AC6D1">
                    <a:lumMod val="40000"/>
                    <a:lumOff val="60000"/>
                  </a:srgbClr>
                </a:solidFill>
                <a:latin typeface="Arial" panose="020B0604020202020204" pitchFamily="34" charset="0"/>
                <a:cs typeface="Arial" panose="020B0604020202020204" pitchFamily="34" charset="0"/>
              </a:rPr>
              <a:t>#FutureReady </a:t>
            </a:r>
          </a:p>
          <a:p>
            <a:pPr algn="ctr" defTabSz="685595">
              <a:defRPr/>
            </a:pPr>
            <a:r>
              <a:rPr lang="en-US" sz="14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264118" y="3748874"/>
            <a:ext cx="2925418" cy="692369"/>
          </a:xfrm>
          <a:prstGeom prst="rect">
            <a:avLst/>
          </a:prstGeom>
        </p:spPr>
        <p:txBody>
          <a:bodyPr wrap="square">
            <a:spAutoFit/>
          </a:bodyPr>
          <a:lstStyle/>
          <a:p>
            <a:pPr defTabSz="685595">
              <a:defRPr/>
            </a:pPr>
            <a:r>
              <a:rPr lang="en-US" sz="1499" b="1" spc="75" dirty="0">
                <a:solidFill>
                  <a:srgbClr val="F97700"/>
                </a:solidFill>
                <a:latin typeface="Arial" panose="020B0604020202020204"/>
              </a:rPr>
              <a:t>FREE WEBINARS </a:t>
            </a:r>
          </a:p>
          <a:p>
            <a:pPr defTabSz="685595">
              <a:defRPr/>
            </a:pPr>
            <a:r>
              <a:rPr lang="en-US" sz="12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3714780" y="1646020"/>
            <a:ext cx="638899" cy="638899"/>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4889390" y="2526841"/>
            <a:ext cx="4208388" cy="2535645"/>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3370618" y="4181066"/>
            <a:ext cx="1647176" cy="4105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3300992" y="4117750"/>
            <a:ext cx="1647176" cy="41051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3603418" y="4192723"/>
            <a:ext cx="1146468" cy="299954"/>
          </a:xfrm>
          <a:prstGeom prst="rect">
            <a:avLst/>
          </a:prstGeom>
        </p:spPr>
        <p:txBody>
          <a:bodyPr wrap="none">
            <a:spAutoFit/>
          </a:bodyPr>
          <a:lstStyle/>
          <a:p>
            <a:pPr defTabSz="685595">
              <a:defRPr/>
            </a:pPr>
            <a:r>
              <a:rPr lang="en-US" sz="1349" b="1" dirty="0">
                <a:solidFill>
                  <a:srgbClr val="44546A"/>
                </a:solidFill>
                <a:latin typeface="Arial" panose="020B0604020202020204"/>
              </a:rPr>
              <a:t>Enroll Now!</a:t>
            </a:r>
            <a:endParaRPr lang="en-US" sz="134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62869" y="333098"/>
            <a:ext cx="1742621" cy="1721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2395</TotalTime>
  <Words>1952</Words>
  <Application>Microsoft Office PowerPoint</Application>
  <PresentationFormat>On-screen Show (16:9)</PresentationFormat>
  <Paragraphs>213</Paragraphs>
  <Slides>19</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72</vt:lpstr>
      <vt:lpstr>72 Brand Variable</vt:lpstr>
      <vt:lpstr>Arial</vt:lpstr>
      <vt:lpstr>Calibri</vt:lpstr>
      <vt:lpstr>Cambria</vt:lpstr>
      <vt:lpstr>Cooper Black</vt:lpstr>
      <vt:lpstr>Segoe UI</vt:lpstr>
      <vt:lpstr>Segoe UI Light</vt:lpstr>
      <vt:lpstr>Office Theme</vt:lpstr>
      <vt:lpstr>SAP Build Training for Corporate Professionals</vt:lpstr>
      <vt:lpstr>PowerPoint Presentation</vt:lpstr>
      <vt:lpstr>Agenda</vt:lpstr>
      <vt:lpstr>Parts</vt:lpstr>
      <vt:lpstr>Test data</vt:lpstr>
      <vt:lpstr>SAP UI5 v/s SAP Build Apps</vt:lpstr>
      <vt:lpstr>Types of Dynamic variables</vt:lpstr>
      <vt:lpstr>Data Resources in BTP</vt:lpstr>
      <vt:lpstr>Types of Data Sources</vt:lpstr>
      <vt:lpstr>Additional Data Resource types</vt:lpstr>
      <vt:lpstr>What is Destination in BTP</vt:lpstr>
      <vt:lpstr>Create destination to simple OData Service</vt:lpstr>
      <vt:lpstr>Scenario – Shopping cart App</vt:lpstr>
      <vt:lpstr>Binding Concept</vt:lpstr>
      <vt:lpstr>What is repeat?</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Anubhav Oberoy</cp:lastModifiedBy>
  <cp:revision>143</cp:revision>
  <dcterms:created xsi:type="dcterms:W3CDTF">2013-12-05T19:37:13Z</dcterms:created>
  <dcterms:modified xsi:type="dcterms:W3CDTF">2025-08-12T04:01:12Z</dcterms:modified>
</cp:coreProperties>
</file>