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handoutMasterIdLst>
    <p:handoutMasterId r:id="rId19"/>
  </p:handoutMasterIdLst>
  <p:sldIdLst>
    <p:sldId id="256" r:id="rId2"/>
    <p:sldId id="494" r:id="rId3"/>
    <p:sldId id="265" r:id="rId4"/>
    <p:sldId id="545" r:id="rId5"/>
    <p:sldId id="547" r:id="rId6"/>
    <p:sldId id="546" r:id="rId7"/>
    <p:sldId id="548" r:id="rId8"/>
    <p:sldId id="549" r:id="rId9"/>
    <p:sldId id="553" r:id="rId10"/>
    <p:sldId id="554" r:id="rId11"/>
    <p:sldId id="555" r:id="rId12"/>
    <p:sldId id="557" r:id="rId13"/>
    <p:sldId id="537" r:id="rId14"/>
    <p:sldId id="495" r:id="rId15"/>
    <p:sldId id="496" r:id="rId16"/>
    <p:sldId id="497" r:id="rId1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8/19/2025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3:39:48.605"/>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8/19/2025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19,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hyperlink" Target="https://www.oracle.com/in/java/technologies/javase/jdk11-archive-downloads.html"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71.png"/><Relationship Id="rId2" Type="http://schemas.openxmlformats.org/officeDocument/2006/relationships/customXml" Target="../ink/ink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jp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2.tiff"/><Relationship Id="rId5" Type="http://schemas.openxmlformats.org/officeDocument/2006/relationships/image" Target="../media/image11.tiff"/><Relationship Id="rId4" Type="http://schemas.openxmlformats.org/officeDocument/2006/relationships/image" Target="../media/image10.tiff"/><Relationship Id="rId9"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DAY-26</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738664"/>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Consume process in build apps</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Publish Process</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Deploy action and process</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Showing total</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46DC3-BFE9-444C-3330-990A32910D4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7A6D2E-59C9-BA98-EE2F-F9D26A0D7C6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AA82B10C-3EDB-259A-2A2E-865E52FAF74E}"/>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6888A3F7-AF8A-8880-F9F2-7668BA086D12}"/>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SAP Mobile Service</a:t>
            </a:r>
          </a:p>
        </p:txBody>
      </p:sp>
      <p:sp>
        <p:nvSpPr>
          <p:cNvPr id="2" name="TextBox 1">
            <a:extLst>
              <a:ext uri="{FF2B5EF4-FFF2-40B4-BE49-F238E27FC236}">
                <a16:creationId xmlns:a16="http://schemas.microsoft.com/office/drawing/2014/main" id="{CB709613-4DB6-B3DE-A60F-D4E43E217E02}"/>
              </a:ext>
            </a:extLst>
          </p:cNvPr>
          <p:cNvSpPr txBox="1"/>
          <p:nvPr/>
        </p:nvSpPr>
        <p:spPr>
          <a:xfrm>
            <a:off x="76200" y="834628"/>
            <a:ext cx="8839200" cy="4069557"/>
          </a:xfrm>
          <a:prstGeom prst="rect">
            <a:avLst/>
          </a:prstGeom>
        </p:spPr>
        <p:txBody>
          <a:bodyPr vert="horz" lIns="91440" tIns="45720" rIns="91440" bIns="45720" rtlCol="0">
            <a:normAutofit lnSpcReduction="10000"/>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SAP BTP Mobile Services is a key component of SAP Business Technology Platform (BTP) that provides tools and capabilities to build, manage, and run mobile applications securely and efficiently. It acts as a bridge between backend systems (like SAP S/4HANA, SAP BTP services, or other data sources) and mobile front-end apps, enabling developers to focus more on the user experience and business logic rather than infrastructure.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SAP BTP Mobile Services provides a </a:t>
            </a:r>
            <a:r>
              <a:rPr kumimoji="0" lang="en-IN" sz="1400" b="1" i="0" u="none" strike="noStrike" kern="1200" cap="none" spc="0" normalizeH="0" baseline="0" noProof="0" dirty="0">
                <a:ln>
                  <a:noFill/>
                </a:ln>
                <a:solidFill>
                  <a:prstClr val="black"/>
                </a:solidFill>
                <a:effectLst/>
                <a:uLnTx/>
                <a:uFillTx/>
                <a:latin typeface="Calibri"/>
                <a:ea typeface="+mn-ea"/>
                <a:cs typeface="+mn-cs"/>
              </a:rPr>
              <a:t>mobile backend-as-a-service (</a:t>
            </a:r>
            <a:r>
              <a:rPr kumimoji="0" lang="en-IN" sz="1400" b="1" i="0" u="none" strike="noStrike" kern="1200" cap="none" spc="0" normalizeH="0" baseline="0" noProof="0" dirty="0" err="1">
                <a:ln>
                  <a:noFill/>
                </a:ln>
                <a:solidFill>
                  <a:prstClr val="black"/>
                </a:solidFill>
                <a:effectLst/>
                <a:uLnTx/>
                <a:uFillTx/>
                <a:latin typeface="Calibri"/>
                <a:ea typeface="+mn-ea"/>
                <a:cs typeface="+mn-cs"/>
              </a:rPr>
              <a:t>mBaaS</a:t>
            </a:r>
            <a:r>
              <a:rPr kumimoji="0" lang="en-IN" sz="1400" b="1" i="0" u="none" strike="noStrike" kern="1200" cap="none" spc="0" normalizeH="0" baseline="0" noProof="0" dirty="0">
                <a:ln>
                  <a:noFill/>
                </a:ln>
                <a:solidFill>
                  <a:prstClr val="black"/>
                </a:solidFill>
                <a:effectLst/>
                <a:uLnTx/>
                <a:uFillTx/>
                <a:latin typeface="Calibri"/>
                <a:ea typeface="+mn-ea"/>
                <a:cs typeface="+mn-cs"/>
              </a:rPr>
              <a:t>)</a:t>
            </a:r>
            <a:r>
              <a:rPr kumimoji="0" lang="en-IN" sz="1400" b="0" i="0" u="none" strike="noStrike" kern="1200" cap="none" spc="0" normalizeH="0" baseline="0" noProof="0" dirty="0">
                <a:ln>
                  <a:noFill/>
                </a:ln>
                <a:solidFill>
                  <a:prstClr val="black"/>
                </a:solidFill>
                <a:effectLst/>
                <a:uLnTx/>
                <a:uFillTx/>
                <a:latin typeface="Calibri"/>
                <a:ea typeface="+mn-ea"/>
                <a:cs typeface="+mn-cs"/>
              </a:rPr>
              <a:t> that includes: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Connectivity</a:t>
            </a:r>
            <a:r>
              <a:rPr kumimoji="0" lang="en-IN" sz="1400" b="0" i="0" u="none" strike="noStrike" kern="1200" cap="none" spc="0" normalizeH="0" baseline="0" noProof="0" dirty="0">
                <a:ln>
                  <a:noFill/>
                </a:ln>
                <a:solidFill>
                  <a:prstClr val="black"/>
                </a:solidFill>
                <a:effectLst/>
                <a:uLnTx/>
                <a:uFillTx/>
                <a:latin typeface="Calibri"/>
                <a:ea typeface="+mn-ea"/>
                <a:cs typeface="+mn-cs"/>
              </a:rPr>
              <a:t> to backend systems (on-premise or cloud)</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Data synchronization</a:t>
            </a:r>
            <a:r>
              <a:rPr kumimoji="0" lang="en-IN" sz="1400" b="0" i="0" u="none" strike="noStrike" kern="1200" cap="none" spc="0" normalizeH="0" baseline="0" noProof="0" dirty="0">
                <a:ln>
                  <a:noFill/>
                </a:ln>
                <a:solidFill>
                  <a:prstClr val="black"/>
                </a:solidFill>
                <a:effectLst/>
                <a:uLnTx/>
                <a:uFillTx/>
                <a:latin typeface="Calibri"/>
                <a:ea typeface="+mn-ea"/>
                <a:cs typeface="+mn-cs"/>
              </a:rPr>
              <a:t> (online/offline)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Push notifications</a:t>
            </a: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Mobile app lifecycle management</a:t>
            </a: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Security</a:t>
            </a:r>
            <a:r>
              <a:rPr kumimoji="0" lang="en-IN" sz="1400" b="0" i="0" u="none" strike="noStrike" kern="1200" cap="none" spc="0" normalizeH="0" baseline="0" noProof="0" dirty="0">
                <a:ln>
                  <a:noFill/>
                </a:ln>
                <a:solidFill>
                  <a:prstClr val="black"/>
                </a:solidFill>
                <a:effectLst/>
                <a:uLnTx/>
                <a:uFillTx/>
                <a:latin typeface="Calibri"/>
                <a:ea typeface="+mn-ea"/>
                <a:cs typeface="+mn-cs"/>
              </a:rPr>
              <a:t> features (authentication, SSO, secure storage)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Analytics and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It supports different types of apps: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Native (iOS/Android)</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Hybrid (using MDK – Mobile Development Kit)</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SAP Mobile Services authenticates your mobile users with Cloud Identity Services and provides access to Integrations and SAP BTP services in your built mobile applications.</a:t>
            </a:r>
          </a:p>
        </p:txBody>
      </p:sp>
    </p:spTree>
    <p:extLst>
      <p:ext uri="{BB962C8B-B14F-4D97-AF65-F5344CB8AC3E}">
        <p14:creationId xmlns:p14="http://schemas.microsoft.com/office/powerpoint/2010/main" val="2449476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31B13-C953-86E7-3FBE-06459E531B5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29E294-0CE9-A7EA-A255-81CE5872A49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379A817F-FD5A-C211-B691-4222B5020FDD}"/>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B80A81A6-6E51-1CBD-1C7D-311DE64AD8A9}"/>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Usage in context of mobile service</a:t>
            </a:r>
          </a:p>
        </p:txBody>
      </p:sp>
      <p:graphicFrame>
        <p:nvGraphicFramePr>
          <p:cNvPr id="6" name="Table 5">
            <a:extLst>
              <a:ext uri="{FF2B5EF4-FFF2-40B4-BE49-F238E27FC236}">
                <a16:creationId xmlns:a16="http://schemas.microsoft.com/office/drawing/2014/main" id="{B51D4E29-0185-1E3C-46EF-32DCBA38DB4E}"/>
              </a:ext>
            </a:extLst>
          </p:cNvPr>
          <p:cNvGraphicFramePr>
            <a:graphicFrameLocks noGrp="1"/>
          </p:cNvGraphicFramePr>
          <p:nvPr/>
        </p:nvGraphicFramePr>
        <p:xfrm>
          <a:off x="457200" y="1091247"/>
          <a:ext cx="8229600" cy="3383280"/>
        </p:xfrm>
        <a:graphic>
          <a:graphicData uri="http://schemas.openxmlformats.org/drawingml/2006/table">
            <a:tbl>
              <a:tblPr>
                <a:tableStyleId>{69C7853C-536D-4A76-A0AE-DD22124D55A5}</a:tableStyleId>
              </a:tblPr>
              <a:tblGrid>
                <a:gridCol w="2743200">
                  <a:extLst>
                    <a:ext uri="{9D8B030D-6E8A-4147-A177-3AD203B41FA5}">
                      <a16:colId xmlns:a16="http://schemas.microsoft.com/office/drawing/2014/main" val="1463148184"/>
                    </a:ext>
                  </a:extLst>
                </a:gridCol>
                <a:gridCol w="2743200">
                  <a:extLst>
                    <a:ext uri="{9D8B030D-6E8A-4147-A177-3AD203B41FA5}">
                      <a16:colId xmlns:a16="http://schemas.microsoft.com/office/drawing/2014/main" val="3343654819"/>
                    </a:ext>
                  </a:extLst>
                </a:gridCol>
                <a:gridCol w="2743200">
                  <a:extLst>
                    <a:ext uri="{9D8B030D-6E8A-4147-A177-3AD203B41FA5}">
                      <a16:colId xmlns:a16="http://schemas.microsoft.com/office/drawing/2014/main" val="3306547928"/>
                    </a:ext>
                  </a:extLst>
                </a:gridCol>
              </a:tblGrid>
              <a:tr h="0">
                <a:tc>
                  <a:txBody>
                    <a:bodyPr/>
                    <a:lstStyle/>
                    <a:p>
                      <a:r>
                        <a:rPr lang="en-IN"/>
                        <a:t>Feature</a:t>
                      </a:r>
                    </a:p>
                  </a:txBody>
                  <a:tcPr anchor="ctr"/>
                </a:tc>
                <a:tc>
                  <a:txBody>
                    <a:bodyPr/>
                    <a:lstStyle/>
                    <a:p>
                      <a:r>
                        <a:rPr lang="en-IN"/>
                        <a:t>SAP Build Apps Alone</a:t>
                      </a:r>
                    </a:p>
                  </a:txBody>
                  <a:tcPr anchor="ctr"/>
                </a:tc>
                <a:tc>
                  <a:txBody>
                    <a:bodyPr/>
                    <a:lstStyle/>
                    <a:p>
                      <a:r>
                        <a:rPr lang="en-US"/>
                        <a:t>With SAP BTP Mobile Services</a:t>
                      </a:r>
                    </a:p>
                  </a:txBody>
                  <a:tcPr anchor="ctr"/>
                </a:tc>
                <a:extLst>
                  <a:ext uri="{0D108BD9-81ED-4DB2-BD59-A6C34878D82A}">
                    <a16:rowId xmlns:a16="http://schemas.microsoft.com/office/drawing/2014/main" val="1694189623"/>
                  </a:ext>
                </a:extLst>
              </a:tr>
              <a:tr h="0">
                <a:tc>
                  <a:txBody>
                    <a:bodyPr/>
                    <a:lstStyle/>
                    <a:p>
                      <a:r>
                        <a:rPr lang="en-IN"/>
                        <a:t>App Development</a:t>
                      </a:r>
                    </a:p>
                  </a:txBody>
                  <a:tcPr anchor="ctr"/>
                </a:tc>
                <a:tc>
                  <a:txBody>
                    <a:bodyPr/>
                    <a:lstStyle/>
                    <a:p>
                      <a:r>
                        <a:rPr lang="en-IN"/>
                        <a:t>✅</a:t>
                      </a:r>
                    </a:p>
                  </a:txBody>
                  <a:tcPr anchor="ctr"/>
                </a:tc>
                <a:tc>
                  <a:txBody>
                    <a:bodyPr/>
                    <a:lstStyle/>
                    <a:p>
                      <a:r>
                        <a:rPr lang="en-IN"/>
                        <a:t>✅</a:t>
                      </a:r>
                    </a:p>
                  </a:txBody>
                  <a:tcPr anchor="ctr"/>
                </a:tc>
                <a:extLst>
                  <a:ext uri="{0D108BD9-81ED-4DB2-BD59-A6C34878D82A}">
                    <a16:rowId xmlns:a16="http://schemas.microsoft.com/office/drawing/2014/main" val="1292155801"/>
                  </a:ext>
                </a:extLst>
              </a:tr>
              <a:tr h="0">
                <a:tc>
                  <a:txBody>
                    <a:bodyPr/>
                    <a:lstStyle/>
                    <a:p>
                      <a:r>
                        <a:rPr lang="en-IN"/>
                        <a:t>Push Notifications</a:t>
                      </a:r>
                    </a:p>
                  </a:txBody>
                  <a:tcPr anchor="ctr"/>
                </a:tc>
                <a:tc>
                  <a:txBody>
                    <a:bodyPr/>
                    <a:lstStyle/>
                    <a:p>
                      <a:r>
                        <a:rPr lang="en-IN"/>
                        <a:t>❌</a:t>
                      </a:r>
                    </a:p>
                  </a:txBody>
                  <a:tcPr anchor="ctr"/>
                </a:tc>
                <a:tc>
                  <a:txBody>
                    <a:bodyPr/>
                    <a:lstStyle/>
                    <a:p>
                      <a:r>
                        <a:rPr lang="en-IN"/>
                        <a:t>✅ (via Mobile Services)</a:t>
                      </a:r>
                    </a:p>
                  </a:txBody>
                  <a:tcPr anchor="ctr"/>
                </a:tc>
                <a:extLst>
                  <a:ext uri="{0D108BD9-81ED-4DB2-BD59-A6C34878D82A}">
                    <a16:rowId xmlns:a16="http://schemas.microsoft.com/office/drawing/2014/main" val="1521886190"/>
                  </a:ext>
                </a:extLst>
              </a:tr>
              <a:tr h="0">
                <a:tc>
                  <a:txBody>
                    <a:bodyPr/>
                    <a:lstStyle/>
                    <a:p>
                      <a:r>
                        <a:rPr lang="en-IN"/>
                        <a:t>Offline Data Sync</a:t>
                      </a:r>
                    </a:p>
                  </a:txBody>
                  <a:tcPr anchor="ctr"/>
                </a:tc>
                <a:tc>
                  <a:txBody>
                    <a:bodyPr/>
                    <a:lstStyle/>
                    <a:p>
                      <a:r>
                        <a:rPr lang="en-IN"/>
                        <a:t>❌ (Limited)</a:t>
                      </a:r>
                    </a:p>
                  </a:txBody>
                  <a:tcPr anchor="ctr"/>
                </a:tc>
                <a:tc>
                  <a:txBody>
                    <a:bodyPr/>
                    <a:lstStyle/>
                    <a:p>
                      <a:r>
                        <a:rPr lang="en-IN" dirty="0"/>
                        <a:t>✅</a:t>
                      </a:r>
                    </a:p>
                  </a:txBody>
                  <a:tcPr anchor="ctr"/>
                </a:tc>
                <a:extLst>
                  <a:ext uri="{0D108BD9-81ED-4DB2-BD59-A6C34878D82A}">
                    <a16:rowId xmlns:a16="http://schemas.microsoft.com/office/drawing/2014/main" val="168748862"/>
                  </a:ext>
                </a:extLst>
              </a:tr>
              <a:tr h="0">
                <a:tc>
                  <a:txBody>
                    <a:bodyPr/>
                    <a:lstStyle/>
                    <a:p>
                      <a:r>
                        <a:rPr lang="en-IN"/>
                        <a:t>Enterprise Auth Integration</a:t>
                      </a:r>
                    </a:p>
                  </a:txBody>
                  <a:tcPr anchor="ctr"/>
                </a:tc>
                <a:tc>
                  <a:txBody>
                    <a:bodyPr/>
                    <a:lstStyle/>
                    <a:p>
                      <a:r>
                        <a:rPr lang="en-IN"/>
                        <a:t>⚠️ (manual setup)</a:t>
                      </a:r>
                    </a:p>
                  </a:txBody>
                  <a:tcPr anchor="ctr"/>
                </a:tc>
                <a:tc>
                  <a:txBody>
                    <a:bodyPr/>
                    <a:lstStyle/>
                    <a:p>
                      <a:r>
                        <a:rPr lang="en-IN"/>
                        <a:t>✅ (pre-built options)</a:t>
                      </a:r>
                    </a:p>
                  </a:txBody>
                  <a:tcPr anchor="ctr"/>
                </a:tc>
                <a:extLst>
                  <a:ext uri="{0D108BD9-81ED-4DB2-BD59-A6C34878D82A}">
                    <a16:rowId xmlns:a16="http://schemas.microsoft.com/office/drawing/2014/main" val="74831517"/>
                  </a:ext>
                </a:extLst>
              </a:tr>
              <a:tr h="0">
                <a:tc>
                  <a:txBody>
                    <a:bodyPr/>
                    <a:lstStyle/>
                    <a:p>
                      <a:r>
                        <a:rPr lang="en-IN"/>
                        <a:t>Backend Connectivity</a:t>
                      </a:r>
                    </a:p>
                  </a:txBody>
                  <a:tcPr anchor="ctr"/>
                </a:tc>
                <a:tc>
                  <a:txBody>
                    <a:bodyPr/>
                    <a:lstStyle/>
                    <a:p>
                      <a:r>
                        <a:rPr lang="en-IN"/>
                        <a:t>✅</a:t>
                      </a:r>
                    </a:p>
                  </a:txBody>
                  <a:tcPr anchor="ctr"/>
                </a:tc>
                <a:tc>
                  <a:txBody>
                    <a:bodyPr/>
                    <a:lstStyle/>
                    <a:p>
                      <a:r>
                        <a:rPr lang="en-IN"/>
                        <a:t>✅ (enhanced with Mobile Services)</a:t>
                      </a:r>
                    </a:p>
                  </a:txBody>
                  <a:tcPr anchor="ctr"/>
                </a:tc>
                <a:extLst>
                  <a:ext uri="{0D108BD9-81ED-4DB2-BD59-A6C34878D82A}">
                    <a16:rowId xmlns:a16="http://schemas.microsoft.com/office/drawing/2014/main" val="690715823"/>
                  </a:ext>
                </a:extLst>
              </a:tr>
              <a:tr h="0">
                <a:tc>
                  <a:txBody>
                    <a:bodyPr/>
                    <a:lstStyle/>
                    <a:p>
                      <a:r>
                        <a:rPr lang="en-IN"/>
                        <a:t>Monitoring &amp; Lifecycle Mgmt</a:t>
                      </a:r>
                    </a:p>
                  </a:txBody>
                  <a:tcPr anchor="ctr"/>
                </a:tc>
                <a:tc>
                  <a:txBody>
                    <a:bodyPr/>
                    <a:lstStyle/>
                    <a:p>
                      <a:r>
                        <a:rPr lang="en-IN"/>
                        <a:t>❌</a:t>
                      </a:r>
                    </a:p>
                  </a:txBody>
                  <a:tcPr anchor="ctr"/>
                </a:tc>
                <a:tc>
                  <a:txBody>
                    <a:bodyPr/>
                    <a:lstStyle/>
                    <a:p>
                      <a:r>
                        <a:rPr lang="en-IN" dirty="0"/>
                        <a:t>✅</a:t>
                      </a:r>
                    </a:p>
                  </a:txBody>
                  <a:tcPr anchor="ctr"/>
                </a:tc>
                <a:extLst>
                  <a:ext uri="{0D108BD9-81ED-4DB2-BD59-A6C34878D82A}">
                    <a16:rowId xmlns:a16="http://schemas.microsoft.com/office/drawing/2014/main" val="501420791"/>
                  </a:ext>
                </a:extLst>
              </a:tr>
            </a:tbl>
          </a:graphicData>
        </a:graphic>
      </p:graphicFrame>
    </p:spTree>
    <p:extLst>
      <p:ext uri="{BB962C8B-B14F-4D97-AF65-F5344CB8AC3E}">
        <p14:creationId xmlns:p14="http://schemas.microsoft.com/office/powerpoint/2010/main" val="17703529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A4E21-5341-4AD3-9602-01340A204C7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2AE2BD-559D-4636-EAB1-C6C2F5A93521}"/>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13F8914C-3C01-42DE-770C-C0343D7F975D}"/>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29CBD67A-5F76-FC0D-258E-1FC4BC377825}"/>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Enabling SAP Mobile Service for Build Apps</a:t>
            </a:r>
          </a:p>
        </p:txBody>
      </p:sp>
      <p:sp>
        <p:nvSpPr>
          <p:cNvPr id="2" name="TextBox 1">
            <a:extLst>
              <a:ext uri="{FF2B5EF4-FFF2-40B4-BE49-F238E27FC236}">
                <a16:creationId xmlns:a16="http://schemas.microsoft.com/office/drawing/2014/main" id="{F4FEF4F1-2A84-40D0-5545-E805ADCA0C14}"/>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Prerequisites</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To be able to use SAP Mobile Services, verify that you have Subaccount entitlements of at least 1 unit for Mobile Services, resources plan.</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For all SAP BTP destinations (SAP Systems) that you want to use in the built application, you need to add a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MobileEnabled</a:t>
            </a:r>
            <a:r>
              <a:rPr kumimoji="0" lang="en-US" sz="1400" b="0" i="0" u="none" strike="noStrike" kern="1200" cap="none" spc="0" normalizeH="0" baseline="0" noProof="0" dirty="0">
                <a:ln>
                  <a:noFill/>
                </a:ln>
                <a:solidFill>
                  <a:prstClr val="black"/>
                </a:solidFill>
                <a:effectLst/>
                <a:uLnTx/>
                <a:uFillTx/>
                <a:latin typeface="Calibri"/>
                <a:ea typeface="+mn-ea"/>
                <a:cs typeface="+mn-cs"/>
              </a:rPr>
              <a:t> property with a value true to them.</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Additionally, verify that the SAP-Build-Apps-Runtime destination has the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MobileEnabled</a:t>
            </a:r>
            <a:r>
              <a:rPr kumimoji="0" lang="en-US" sz="1400" b="0" i="0" u="none" strike="noStrike" kern="1200" cap="none" spc="0" normalizeH="0" baseline="0" noProof="0" dirty="0">
                <a:ln>
                  <a:noFill/>
                </a:ln>
                <a:solidFill>
                  <a:prstClr val="black"/>
                </a:solidFill>
                <a:effectLst/>
                <a:uLnTx/>
                <a:uFillTx/>
                <a:latin typeface="Calibri"/>
                <a:ea typeface="+mn-ea"/>
                <a:cs typeface="+mn-cs"/>
              </a:rPr>
              <a:t> property as well.</a:t>
            </a:r>
          </a:p>
          <a:p>
            <a:pPr marL="0" marR="0" lvl="0" indent="0" algn="l" defTabSz="914400" rtl="0" eaLnBrk="1" fontAlgn="auto" latinLnBrk="0" hangingPunct="1">
              <a:lnSpc>
                <a:spcPct val="100000"/>
              </a:lnSpc>
              <a:spcBef>
                <a:spcPct val="2000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Steps</a:t>
            </a: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Enable SAP Mobile Services</a:t>
            </a: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Connect Build Apps to Mobile Services</a:t>
            </a:r>
          </a:p>
        </p:txBody>
      </p:sp>
    </p:spTree>
    <p:extLst>
      <p:ext uri="{BB962C8B-B14F-4D97-AF65-F5344CB8AC3E}">
        <p14:creationId xmlns:p14="http://schemas.microsoft.com/office/powerpoint/2010/main" val="992879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83C7-3B4A-AD00-2A9C-EFA6B27EE3F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813469-F9B1-41C7-642A-9CE501479AE9}"/>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4370CD12-34F0-A28E-AB8F-209918308D89}"/>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91125DE6-0659-44B4-C501-85517AD2064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Dependency between MS and Build Apps</a:t>
            </a:r>
          </a:p>
        </p:txBody>
      </p:sp>
      <p:sp>
        <p:nvSpPr>
          <p:cNvPr id="2" name="TextBox 1">
            <a:extLst>
              <a:ext uri="{FF2B5EF4-FFF2-40B4-BE49-F238E27FC236}">
                <a16:creationId xmlns:a16="http://schemas.microsoft.com/office/drawing/2014/main" id="{86F5671A-2F15-F49C-CD1B-80ACF799915D}"/>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Establish a dependency between SAP Build Apps and SAP Mobile Services. Use SAP Cloud Identity Services to link your app to SAP Build Apps API, ensuring seamless integration and access to mobile services.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Navigate to your SAP Cloud Identity Services dashboard and choose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Applications &amp; Resources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tab. On the left side panel, choose the application with name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{your-app-id}</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r>
              <a:rPr kumimoji="0" lang="en-US" sz="1200" b="1"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Tip</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If</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you don't know your app ID, go to your project in </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Buildapp</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ID from the URL. Take the number and add the prefix </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buildApps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for example buildApps123</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Scroll down in the newly opened tab and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Dependencies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Add</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to establish new dependency.</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Add API tab enter the following details: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Dependency Name</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field, enter sap-build-apps-</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api</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Application</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dropdown,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followed by your subaccount name. For example,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 (</a:t>
            </a:r>
            <a:r>
              <a:rPr kumimoji="0" lang="en-US" sz="1200" b="1"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MySubaccount</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API</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 backend projects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Select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Save</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to confirm.</a:t>
            </a:r>
          </a:p>
        </p:txBody>
      </p:sp>
    </p:spTree>
    <p:extLst>
      <p:ext uri="{BB962C8B-B14F-4D97-AF65-F5344CB8AC3E}">
        <p14:creationId xmlns:p14="http://schemas.microsoft.com/office/powerpoint/2010/main" val="709340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513E1-8056-FD98-72DC-DE5B57918D9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5DF5D9-5B10-B1F7-F788-B3A56A73994B}"/>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5819B095-EE20-F21D-5880-394D2D133609}"/>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B292DBC9-B2E2-60A0-52E6-7021CF45165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Certification</a:t>
            </a:r>
          </a:p>
        </p:txBody>
      </p:sp>
      <p:sp>
        <p:nvSpPr>
          <p:cNvPr id="2" name="TextBox 1">
            <a:extLst>
              <a:ext uri="{FF2B5EF4-FFF2-40B4-BE49-F238E27FC236}">
                <a16:creationId xmlns:a16="http://schemas.microsoft.com/office/drawing/2014/main" id="{8A783225-F387-854D-6DE4-7CCF2E626694}"/>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hlinkClick r:id="rId2"/>
              </a:rPr>
              <a:t>https://www.oracle.com/in/java/technologies/javase/jdk11-archive-downloads.html</a:t>
            </a: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err="1">
                <a:ln>
                  <a:noFill/>
                </a:ln>
                <a:solidFill>
                  <a:prstClr val="black"/>
                </a:solidFill>
                <a:effectLst/>
                <a:uLnTx/>
                <a:uFillTx/>
                <a:latin typeface="Calibri"/>
                <a:ea typeface="+mn-ea"/>
                <a:cs typeface="+mn-cs"/>
              </a:rPr>
              <a:t>keytool</a:t>
            </a:r>
            <a:r>
              <a:rPr kumimoji="0" lang="en-US" sz="1400" b="0" i="0" u="none" strike="noStrike" kern="1200" cap="none" spc="0" normalizeH="0" baseline="0" noProof="0" dirty="0">
                <a:ln>
                  <a:noFill/>
                </a:ln>
                <a:solidFill>
                  <a:prstClr val="black"/>
                </a:solidFill>
                <a:effectLst/>
                <a:uLnTx/>
                <a:uFillTx/>
                <a:latin typeface="Calibri"/>
                <a:ea typeface="+mn-ea"/>
                <a:cs typeface="+mn-cs"/>
              </a:rPr>
              <a:t>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genkey</a:t>
            </a:r>
            <a:r>
              <a:rPr kumimoji="0" lang="en-US" sz="1400" b="0" i="0" u="none" strike="noStrike" kern="1200" cap="none" spc="0" normalizeH="0" baseline="0" noProof="0" dirty="0">
                <a:ln>
                  <a:noFill/>
                </a:ln>
                <a:solidFill>
                  <a:prstClr val="black"/>
                </a:solidFill>
                <a:effectLst/>
                <a:uLnTx/>
                <a:uFillTx/>
                <a:latin typeface="Calibri"/>
                <a:ea typeface="+mn-ea"/>
                <a:cs typeface="+mn-cs"/>
              </a:rPr>
              <a:t> -v -keystore c:\temp\anubuildsc.keystore -alias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anubuildsc</a:t>
            </a:r>
            <a:r>
              <a:rPr kumimoji="0" lang="en-US" sz="1400" b="0" i="0" u="none" strike="noStrike" kern="1200" cap="none" spc="0" normalizeH="0" baseline="0" noProof="0" dirty="0">
                <a:ln>
                  <a:noFill/>
                </a:ln>
                <a:solidFill>
                  <a:prstClr val="black"/>
                </a:solidFill>
                <a:effectLst/>
                <a:uLnTx/>
                <a:uFillTx/>
                <a:latin typeface="Calibri"/>
                <a:ea typeface="+mn-ea"/>
                <a:cs typeface="+mn-cs"/>
              </a:rPr>
              <a:t>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keyalg</a:t>
            </a:r>
            <a:r>
              <a:rPr kumimoji="0" lang="en-US" sz="1400" b="0" i="0" u="none" strike="noStrike" kern="1200" cap="none" spc="0" normalizeH="0" baseline="0" noProof="0" dirty="0">
                <a:ln>
                  <a:noFill/>
                </a:ln>
                <a:solidFill>
                  <a:prstClr val="black"/>
                </a:solidFill>
                <a:effectLst/>
                <a:uLnTx/>
                <a:uFillTx/>
                <a:latin typeface="Calibri"/>
                <a:ea typeface="+mn-ea"/>
                <a:cs typeface="+mn-cs"/>
              </a:rPr>
              <a:t> RSA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keysize</a:t>
            </a:r>
            <a:r>
              <a:rPr kumimoji="0" lang="en-US" sz="1400" b="0" i="0" u="none" strike="noStrike" kern="1200" cap="none" spc="0" normalizeH="0" baseline="0" noProof="0" dirty="0">
                <a:ln>
                  <a:noFill/>
                </a:ln>
                <a:solidFill>
                  <a:prstClr val="black"/>
                </a:solidFill>
                <a:effectLst/>
                <a:uLnTx/>
                <a:uFillTx/>
                <a:latin typeface="Calibri"/>
                <a:ea typeface="+mn-ea"/>
                <a:cs typeface="+mn-cs"/>
              </a:rPr>
              <a:t> 2048 -validity 10000</a:t>
            </a:r>
          </a:p>
        </p:txBody>
      </p:sp>
    </p:spTree>
    <p:extLst>
      <p:ext uri="{BB962C8B-B14F-4D97-AF65-F5344CB8AC3E}">
        <p14:creationId xmlns:p14="http://schemas.microsoft.com/office/powerpoint/2010/main" val="242286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258A-6EA6-C5EA-8DD9-C024F5E200B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4936C6-C160-1EB7-D3C9-CA87EE1C879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6FDC4A2B-E335-784E-20A0-6F96E294D8F1}"/>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9</a:t>
            </a:fld>
            <a:endParaRPr lang="en-US" dirty="0"/>
          </a:p>
        </p:txBody>
      </p:sp>
      <p:sp>
        <p:nvSpPr>
          <p:cNvPr id="5" name="Title 4">
            <a:extLst>
              <a:ext uri="{FF2B5EF4-FFF2-40B4-BE49-F238E27FC236}">
                <a16:creationId xmlns:a16="http://schemas.microsoft.com/office/drawing/2014/main" id="{EFA7C545-BFE9-86EC-9AB3-17E992AEB782}"/>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SAP Build Cloud Functions</a:t>
            </a:r>
          </a:p>
        </p:txBody>
      </p:sp>
      <p:sp>
        <p:nvSpPr>
          <p:cNvPr id="2" name="TextBox 1">
            <a:extLst>
              <a:ext uri="{FF2B5EF4-FFF2-40B4-BE49-F238E27FC236}">
                <a16:creationId xmlns:a16="http://schemas.microsoft.com/office/drawing/2014/main" id="{9C2AA141-331E-85E7-0247-AD61F4793E6E}"/>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In SAP Build Apps, Cloud Functions refer to small, serverless pieces of backend logic that run on-demand, without needing to manage servers or infrastructure.</a:t>
            </a:r>
          </a:p>
          <a:p>
            <a:pPr>
              <a:spcBef>
                <a:spcPct val="20000"/>
              </a:spcBef>
              <a:buFont typeface="Arial" pitchFamily="34" charset="0"/>
            </a:pPr>
            <a:endParaRPr lang="en-US" sz="1400" dirty="0"/>
          </a:p>
          <a:p>
            <a:pPr>
              <a:spcBef>
                <a:spcPct val="20000"/>
              </a:spcBef>
              <a:buFont typeface="Arial" pitchFamily="34" charset="0"/>
            </a:pPr>
            <a:r>
              <a:rPr lang="en-US" sz="1400" b="1" i="0" dirty="0">
                <a:effectLst/>
              </a:rPr>
              <a:t>What Are Cloud Functions in SAP Build Apps?</a:t>
            </a:r>
          </a:p>
          <a:p>
            <a:pPr>
              <a:spcBef>
                <a:spcPct val="20000"/>
              </a:spcBef>
              <a:buFont typeface="Arial" pitchFamily="34" charset="0"/>
            </a:pPr>
            <a:endParaRPr lang="en-US" sz="1400" b="0" i="0" dirty="0">
              <a:effectLst/>
            </a:endParaRPr>
          </a:p>
          <a:p>
            <a:pPr>
              <a:spcBef>
                <a:spcPct val="20000"/>
              </a:spcBef>
              <a:buFont typeface="Arial" pitchFamily="34" charset="0"/>
            </a:pPr>
            <a:r>
              <a:rPr lang="en-US" sz="1400" b="0" i="0" dirty="0">
                <a:effectLst/>
              </a:rPr>
              <a:t>Cloud Functions </a:t>
            </a:r>
            <a:r>
              <a:rPr lang="en-US" sz="1400" b="0" i="0" dirty="0" err="1">
                <a:effectLst/>
              </a:rPr>
              <a:t>are:Custom</a:t>
            </a:r>
            <a:r>
              <a:rPr lang="en-US" sz="1400" b="0" i="0" dirty="0">
                <a:effectLst/>
              </a:rPr>
              <a:t> backend logic you can write (usually in JavaScript or Node.js).Deployed to SAP BTP (often via SAP BTP Kyma Runtime). Invoked via HTTP or events from SAP services, like SAP S/4HANA or SAP SuccessFactors. They're similar to AWS Lambda or Google Cloud Functions, but built to integrate with the SAP ecosystem.</a:t>
            </a:r>
          </a:p>
          <a:p>
            <a:pPr>
              <a:spcBef>
                <a:spcPct val="20000"/>
              </a:spcBef>
              <a:buFont typeface="Arial" pitchFamily="34" charset="0"/>
            </a:pPr>
            <a:endParaRPr lang="en-US" sz="1400" dirty="0"/>
          </a:p>
          <a:p>
            <a:pPr>
              <a:spcBef>
                <a:spcPct val="20000"/>
              </a:spcBef>
              <a:buFont typeface="Arial" pitchFamily="34" charset="0"/>
            </a:pPr>
            <a:endParaRPr lang="en-US" sz="1400" dirty="0"/>
          </a:p>
        </p:txBody>
      </p:sp>
    </p:spTree>
    <p:extLst>
      <p:ext uri="{BB962C8B-B14F-4D97-AF65-F5344CB8AC3E}">
        <p14:creationId xmlns:p14="http://schemas.microsoft.com/office/powerpoint/2010/main" val="3839039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C4FCF-43E1-961B-AF74-A46FD8CC45C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206C14-6F7A-F1D4-B421-FE1461DD5F96}"/>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5825250F-229D-D126-E4CC-0ADC2A67E3E5}"/>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10</a:t>
            </a:fld>
            <a:endParaRPr lang="en-US" dirty="0"/>
          </a:p>
        </p:txBody>
      </p:sp>
      <p:sp>
        <p:nvSpPr>
          <p:cNvPr id="5" name="Title 4">
            <a:extLst>
              <a:ext uri="{FF2B5EF4-FFF2-40B4-BE49-F238E27FC236}">
                <a16:creationId xmlns:a16="http://schemas.microsoft.com/office/drawing/2014/main" id="{3990734A-A02A-1C95-3EED-C64AFA5A1CDF}"/>
              </a:ext>
            </a:extLst>
          </p:cNvPr>
          <p:cNvSpPr>
            <a:spLocks noGrp="1"/>
          </p:cNvSpPr>
          <p:nvPr>
            <p:ph type="title"/>
          </p:nvPr>
        </p:nvSpPr>
        <p:spPr>
          <a:xfrm>
            <a:off x="76200" y="133350"/>
            <a:ext cx="8229600" cy="533401"/>
          </a:xfrm>
        </p:spPr>
        <p:txBody>
          <a:bodyPr/>
          <a:lstStyle/>
          <a:p>
            <a:r>
              <a:rPr lang="en-US" sz="2400" dirty="0"/>
              <a:t>Why Use Cloud Functions in SAP Build Apps?</a:t>
            </a:r>
            <a:endParaRPr lang="en-IN" sz="3600" dirty="0">
              <a:latin typeface="Cooper Black" panose="0208090404030B020404" pitchFamily="18" charset="0"/>
            </a:endParaRPr>
          </a:p>
        </p:txBody>
      </p:sp>
      <p:graphicFrame>
        <p:nvGraphicFramePr>
          <p:cNvPr id="6" name="Table 5">
            <a:extLst>
              <a:ext uri="{FF2B5EF4-FFF2-40B4-BE49-F238E27FC236}">
                <a16:creationId xmlns:a16="http://schemas.microsoft.com/office/drawing/2014/main" id="{413E0B81-603B-91F7-D0DE-3C1904E11FDB}"/>
              </a:ext>
            </a:extLst>
          </p:cNvPr>
          <p:cNvGraphicFramePr>
            <a:graphicFrameLocks noGrp="1"/>
          </p:cNvGraphicFramePr>
          <p:nvPr/>
        </p:nvGraphicFramePr>
        <p:xfrm>
          <a:off x="228600" y="971550"/>
          <a:ext cx="6792516" cy="3653232"/>
        </p:xfrm>
        <a:graphic>
          <a:graphicData uri="http://schemas.openxmlformats.org/drawingml/2006/table">
            <a:tbl>
              <a:tblPr>
                <a:tableStyleId>{69C7853C-536D-4A76-A0AE-DD22124D55A5}</a:tableStyleId>
              </a:tblPr>
              <a:tblGrid>
                <a:gridCol w="3396258">
                  <a:extLst>
                    <a:ext uri="{9D8B030D-6E8A-4147-A177-3AD203B41FA5}">
                      <a16:colId xmlns:a16="http://schemas.microsoft.com/office/drawing/2014/main" val="248604668"/>
                    </a:ext>
                  </a:extLst>
                </a:gridCol>
                <a:gridCol w="3396258">
                  <a:extLst>
                    <a:ext uri="{9D8B030D-6E8A-4147-A177-3AD203B41FA5}">
                      <a16:colId xmlns:a16="http://schemas.microsoft.com/office/drawing/2014/main" val="3504349648"/>
                    </a:ext>
                  </a:extLst>
                </a:gridCol>
              </a:tblGrid>
              <a:tr h="301890">
                <a:tc>
                  <a:txBody>
                    <a:bodyPr/>
                    <a:lstStyle/>
                    <a:p>
                      <a:r>
                        <a:rPr lang="en-IN" sz="1500" dirty="0"/>
                        <a:t>Purpose</a:t>
                      </a:r>
                    </a:p>
                  </a:txBody>
                  <a:tcPr marL="75472" marR="75472" marT="37736" marB="37736" anchor="ctr"/>
                </a:tc>
                <a:tc>
                  <a:txBody>
                    <a:bodyPr/>
                    <a:lstStyle/>
                    <a:p>
                      <a:r>
                        <a:rPr lang="en-IN" sz="1500"/>
                        <a:t>Why It's Useful</a:t>
                      </a:r>
                    </a:p>
                  </a:txBody>
                  <a:tcPr marL="75472" marR="75472" marT="37736" marB="37736" anchor="ctr"/>
                </a:tc>
                <a:extLst>
                  <a:ext uri="{0D108BD9-81ED-4DB2-BD59-A6C34878D82A}">
                    <a16:rowId xmlns:a16="http://schemas.microsoft.com/office/drawing/2014/main" val="3143588995"/>
                  </a:ext>
                </a:extLst>
              </a:tr>
              <a:tr h="754724">
                <a:tc>
                  <a:txBody>
                    <a:bodyPr/>
                    <a:lstStyle/>
                    <a:p>
                      <a:r>
                        <a:rPr lang="en-IN" sz="1500" b="1"/>
                        <a:t>Custom Business Logic</a:t>
                      </a:r>
                      <a:endParaRPr lang="en-IN" sz="1500"/>
                    </a:p>
                  </a:txBody>
                  <a:tcPr marL="75472" marR="75472" marT="37736" marB="37736" anchor="ctr"/>
                </a:tc>
                <a:tc>
                  <a:txBody>
                    <a:bodyPr/>
                    <a:lstStyle/>
                    <a:p>
                      <a:r>
                        <a:rPr lang="en-US" sz="1500"/>
                        <a:t>Write backend code that can't be done in visual tools (e.g. complex calculations, data transformation).</a:t>
                      </a:r>
                    </a:p>
                  </a:txBody>
                  <a:tcPr marL="75472" marR="75472" marT="37736" marB="37736" anchor="ctr"/>
                </a:tc>
                <a:extLst>
                  <a:ext uri="{0D108BD9-81ED-4DB2-BD59-A6C34878D82A}">
                    <a16:rowId xmlns:a16="http://schemas.microsoft.com/office/drawing/2014/main" val="2993724469"/>
                  </a:ext>
                </a:extLst>
              </a:tr>
              <a:tr h="528307">
                <a:tc>
                  <a:txBody>
                    <a:bodyPr/>
                    <a:lstStyle/>
                    <a:p>
                      <a:r>
                        <a:rPr lang="en-IN" sz="1500" b="1"/>
                        <a:t>Serverless &amp; Scalable</a:t>
                      </a:r>
                      <a:endParaRPr lang="en-IN" sz="1500"/>
                    </a:p>
                  </a:txBody>
                  <a:tcPr marL="75472" marR="75472" marT="37736" marB="37736" anchor="ctr"/>
                </a:tc>
                <a:tc>
                  <a:txBody>
                    <a:bodyPr/>
                    <a:lstStyle/>
                    <a:p>
                      <a:r>
                        <a:rPr lang="en-US" sz="1500"/>
                        <a:t>You don’t manage infrastructure. It scales automatically based on usage.</a:t>
                      </a:r>
                    </a:p>
                  </a:txBody>
                  <a:tcPr marL="75472" marR="75472" marT="37736" marB="37736" anchor="ctr"/>
                </a:tc>
                <a:extLst>
                  <a:ext uri="{0D108BD9-81ED-4DB2-BD59-A6C34878D82A}">
                    <a16:rowId xmlns:a16="http://schemas.microsoft.com/office/drawing/2014/main" val="889013067"/>
                  </a:ext>
                </a:extLst>
              </a:tr>
              <a:tr h="754724">
                <a:tc>
                  <a:txBody>
                    <a:bodyPr/>
                    <a:lstStyle/>
                    <a:p>
                      <a:r>
                        <a:rPr lang="en-IN" sz="1500" b="1"/>
                        <a:t>Integration</a:t>
                      </a:r>
                      <a:endParaRPr lang="en-IN" sz="1500"/>
                    </a:p>
                  </a:txBody>
                  <a:tcPr marL="75472" marR="75472" marT="37736" marB="37736" anchor="ctr"/>
                </a:tc>
                <a:tc>
                  <a:txBody>
                    <a:bodyPr/>
                    <a:lstStyle/>
                    <a:p>
                      <a:r>
                        <a:rPr lang="en-US" sz="1500"/>
                        <a:t>Connect SAP Build Apps with SAP services (S/4HANA, SuccessFactors, etc.) or third-party APIs.</a:t>
                      </a:r>
                    </a:p>
                  </a:txBody>
                  <a:tcPr marL="75472" marR="75472" marT="37736" marB="37736" anchor="ctr"/>
                </a:tc>
                <a:extLst>
                  <a:ext uri="{0D108BD9-81ED-4DB2-BD59-A6C34878D82A}">
                    <a16:rowId xmlns:a16="http://schemas.microsoft.com/office/drawing/2014/main" val="327631786"/>
                  </a:ext>
                </a:extLst>
              </a:tr>
              <a:tr h="528307">
                <a:tc>
                  <a:txBody>
                    <a:bodyPr/>
                    <a:lstStyle/>
                    <a:p>
                      <a:r>
                        <a:rPr lang="en-IN" sz="1500" b="1"/>
                        <a:t>Event-Driven</a:t>
                      </a:r>
                      <a:endParaRPr lang="en-IN" sz="1500"/>
                    </a:p>
                  </a:txBody>
                  <a:tcPr marL="75472" marR="75472" marT="37736" marB="37736" anchor="ctr"/>
                </a:tc>
                <a:tc>
                  <a:txBody>
                    <a:bodyPr/>
                    <a:lstStyle/>
                    <a:p>
                      <a:r>
                        <a:rPr lang="en-US" sz="1500"/>
                        <a:t>React to business events (like new sales orders) using Event Mesh or Kyma.</a:t>
                      </a:r>
                    </a:p>
                  </a:txBody>
                  <a:tcPr marL="75472" marR="75472" marT="37736" marB="37736" anchor="ctr"/>
                </a:tc>
                <a:extLst>
                  <a:ext uri="{0D108BD9-81ED-4DB2-BD59-A6C34878D82A}">
                    <a16:rowId xmlns:a16="http://schemas.microsoft.com/office/drawing/2014/main" val="844880145"/>
                  </a:ext>
                </a:extLst>
              </a:tr>
              <a:tr h="754724">
                <a:tc>
                  <a:txBody>
                    <a:bodyPr/>
                    <a:lstStyle/>
                    <a:p>
                      <a:r>
                        <a:rPr lang="en-IN" sz="1500" b="1"/>
                        <a:t>Security</a:t>
                      </a:r>
                      <a:endParaRPr lang="en-IN" sz="1500"/>
                    </a:p>
                  </a:txBody>
                  <a:tcPr marL="75472" marR="75472" marT="37736" marB="37736" anchor="ctr"/>
                </a:tc>
                <a:tc>
                  <a:txBody>
                    <a:bodyPr/>
                    <a:lstStyle/>
                    <a:p>
                      <a:r>
                        <a:rPr lang="en-US" sz="1500" dirty="0"/>
                        <a:t>Functions run in a secure SAP BTP environment, often integrated with SAP Identity services.</a:t>
                      </a:r>
                    </a:p>
                  </a:txBody>
                  <a:tcPr marL="75472" marR="75472" marT="37736" marB="37736" anchor="ctr"/>
                </a:tc>
                <a:extLst>
                  <a:ext uri="{0D108BD9-81ED-4DB2-BD59-A6C34878D82A}">
                    <a16:rowId xmlns:a16="http://schemas.microsoft.com/office/drawing/2014/main" val="3107097101"/>
                  </a:ext>
                </a:extLst>
              </a:tr>
            </a:tbl>
          </a:graphicData>
        </a:graphic>
      </p:graphicFrame>
    </p:spTree>
    <p:extLst>
      <p:ext uri="{BB962C8B-B14F-4D97-AF65-F5344CB8AC3E}">
        <p14:creationId xmlns:p14="http://schemas.microsoft.com/office/powerpoint/2010/main" val="1791813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A8D8C-6325-97C6-EF85-E4D7708C44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E73EE7-1DBA-DA05-A4E9-2D9081D176CB}"/>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23D022D9-EB87-3238-01DE-F8F05E45CC57}"/>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11</a:t>
            </a:fld>
            <a:endParaRPr lang="en-US" dirty="0"/>
          </a:p>
        </p:txBody>
      </p:sp>
      <p:sp>
        <p:nvSpPr>
          <p:cNvPr id="5" name="Title 4">
            <a:extLst>
              <a:ext uri="{FF2B5EF4-FFF2-40B4-BE49-F238E27FC236}">
                <a16:creationId xmlns:a16="http://schemas.microsoft.com/office/drawing/2014/main" id="{AC725F95-9CA3-974D-6009-D2C73393D3F3}"/>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JS Flow Functions</a:t>
            </a:r>
          </a:p>
        </p:txBody>
      </p:sp>
      <p:sp>
        <p:nvSpPr>
          <p:cNvPr id="2" name="TextBox 1">
            <a:extLst>
              <a:ext uri="{FF2B5EF4-FFF2-40B4-BE49-F238E27FC236}">
                <a16:creationId xmlns:a16="http://schemas.microsoft.com/office/drawing/2014/main" id="{ACD8D61F-BEDF-F7C7-D43D-4C0F6DDD5E80}"/>
              </a:ext>
            </a:extLst>
          </p:cNvPr>
          <p:cNvSpPr txBox="1"/>
          <p:nvPr/>
        </p:nvSpPr>
        <p:spPr>
          <a:xfrm>
            <a:off x="152400" y="971549"/>
            <a:ext cx="8839200" cy="4069557"/>
          </a:xfrm>
          <a:prstGeom prst="rect">
            <a:avLst/>
          </a:prstGeom>
        </p:spPr>
        <p:txBody>
          <a:bodyPr vert="horz" lIns="91440" tIns="45720" rIns="91440" bIns="45720" rtlCol="0">
            <a:normAutofit lnSpcReduction="10000"/>
          </a:bodyPr>
          <a:lstStyle/>
          <a:p>
            <a:pPr>
              <a:spcBef>
                <a:spcPct val="20000"/>
              </a:spcBef>
              <a:buFont typeface="Arial" pitchFamily="34" charset="0"/>
            </a:pPr>
            <a:r>
              <a:rPr lang="en-US" sz="1400" b="0" i="0" dirty="0">
                <a:effectLst/>
              </a:rPr>
              <a:t>In SAP Build Apps, the JavaScript (JS) flow function is used to execute custom JavaScript code as part of your app’s logic. It’s a powerful tool for cases where built-in flow functions or visual logic alone are not enough to achieve the desired functionality.</a:t>
            </a:r>
          </a:p>
          <a:p>
            <a:pPr>
              <a:spcBef>
                <a:spcPct val="20000"/>
              </a:spcBef>
              <a:buFont typeface="Arial" pitchFamily="34" charset="0"/>
            </a:pPr>
            <a:r>
              <a:rPr lang="en-US" sz="1400" b="0" i="0" dirty="0">
                <a:effectLst/>
              </a:rPr>
              <a:t>Main Uses of the JS Flow Function:</a:t>
            </a:r>
          </a:p>
          <a:p>
            <a:pPr>
              <a:spcBef>
                <a:spcPct val="20000"/>
              </a:spcBef>
              <a:buFont typeface="Arial" pitchFamily="34" charset="0"/>
            </a:pPr>
            <a:endParaRPr lang="en-US" sz="1400" b="0" i="0" dirty="0">
              <a:effectLst/>
            </a:endParaRPr>
          </a:p>
          <a:p>
            <a:pPr>
              <a:spcBef>
                <a:spcPct val="20000"/>
              </a:spcBef>
            </a:pPr>
            <a:r>
              <a:rPr lang="en-US" sz="1400" b="0" i="0" dirty="0">
                <a:effectLst/>
              </a:rPr>
              <a:t>1.	</a:t>
            </a:r>
            <a:r>
              <a:rPr lang="en-US" sz="1400" b="1" i="0" dirty="0">
                <a:effectLst/>
              </a:rPr>
              <a:t>Custom Calculations or Logic:</a:t>
            </a:r>
          </a:p>
          <a:p>
            <a:pPr>
              <a:spcBef>
                <a:spcPct val="20000"/>
              </a:spcBef>
            </a:pPr>
            <a:r>
              <a:rPr lang="en-US" sz="1400" b="0" i="0" dirty="0">
                <a:effectLst/>
              </a:rPr>
              <a:t>o	Perform operations that require complex math, string manipulation, or conditional logic not available in standard flow functions.</a:t>
            </a:r>
          </a:p>
          <a:p>
            <a:pPr>
              <a:spcBef>
                <a:spcPct val="20000"/>
              </a:spcBef>
            </a:pPr>
            <a:r>
              <a:rPr lang="en-US" sz="1400" b="0" i="0" dirty="0">
                <a:effectLst/>
              </a:rPr>
              <a:t>2.	</a:t>
            </a:r>
            <a:r>
              <a:rPr lang="en-US" sz="1400" b="1" i="0" dirty="0">
                <a:effectLst/>
              </a:rPr>
              <a:t>Data Transformation:</a:t>
            </a:r>
          </a:p>
          <a:p>
            <a:pPr>
              <a:spcBef>
                <a:spcPct val="20000"/>
              </a:spcBef>
            </a:pPr>
            <a:r>
              <a:rPr lang="en-US" sz="1400" b="0" i="0" dirty="0">
                <a:effectLst/>
              </a:rPr>
              <a:t>o	Transform data formats (e.g., converting arrays to objects, filtering lists, formatting dates) before displaying them or sending to a backend.</a:t>
            </a:r>
          </a:p>
          <a:p>
            <a:pPr>
              <a:spcBef>
                <a:spcPct val="20000"/>
              </a:spcBef>
            </a:pPr>
            <a:r>
              <a:rPr lang="en-US" sz="1400" b="0" i="0" dirty="0">
                <a:effectLst/>
              </a:rPr>
              <a:t>3.	</a:t>
            </a:r>
            <a:r>
              <a:rPr lang="en-US" sz="1400" b="1" i="0" dirty="0">
                <a:effectLst/>
              </a:rPr>
              <a:t>Reusable Logic:</a:t>
            </a:r>
          </a:p>
          <a:p>
            <a:pPr>
              <a:spcBef>
                <a:spcPct val="20000"/>
              </a:spcBef>
            </a:pPr>
            <a:r>
              <a:rPr lang="en-US" sz="1400" b="0" i="0" dirty="0">
                <a:effectLst/>
              </a:rPr>
              <a:t>o	Centralize and reuse logic across different parts of the app, especially if multiple components need similar processing.</a:t>
            </a:r>
          </a:p>
          <a:p>
            <a:pPr>
              <a:spcBef>
                <a:spcPct val="20000"/>
              </a:spcBef>
            </a:pPr>
            <a:r>
              <a:rPr lang="en-US" sz="1400" b="0" i="0" dirty="0">
                <a:effectLst/>
              </a:rPr>
              <a:t>4.	</a:t>
            </a:r>
            <a:r>
              <a:rPr lang="en-US" sz="1400" b="1" i="0" dirty="0">
                <a:effectLst/>
              </a:rPr>
              <a:t>Workarounds or Extensions:</a:t>
            </a:r>
          </a:p>
          <a:p>
            <a:pPr>
              <a:spcBef>
                <a:spcPct val="20000"/>
              </a:spcBef>
            </a:pPr>
            <a:r>
              <a:rPr lang="en-US" sz="1400" b="0" i="0" dirty="0">
                <a:effectLst/>
              </a:rPr>
              <a:t>o	Fill functionality gaps in SAP Build Apps by writing custom logic when something isn’t natively supported yet.</a:t>
            </a:r>
          </a:p>
        </p:txBody>
      </p:sp>
    </p:spTree>
    <p:extLst>
      <p:ext uri="{BB962C8B-B14F-4D97-AF65-F5344CB8AC3E}">
        <p14:creationId xmlns:p14="http://schemas.microsoft.com/office/powerpoint/2010/main" val="8130963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B737C-7A10-CC20-688C-9AA632EA269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DE0FF1-306B-F2A4-7D36-D74D16C5AB34}"/>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5BB612B9-59B1-5397-2A7C-DE462AAD66B2}"/>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12</a:t>
            </a:fld>
            <a:endParaRPr lang="en-US" dirty="0"/>
          </a:p>
        </p:txBody>
      </p:sp>
      <p:sp>
        <p:nvSpPr>
          <p:cNvPr id="5" name="Title 4">
            <a:extLst>
              <a:ext uri="{FF2B5EF4-FFF2-40B4-BE49-F238E27FC236}">
                <a16:creationId xmlns:a16="http://schemas.microsoft.com/office/drawing/2014/main" id="{0B56354B-8B77-9DBA-FD26-1DFE445A9CF3}"/>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Some Rules of using JS</a:t>
            </a:r>
          </a:p>
        </p:txBody>
      </p:sp>
      <p:sp>
        <p:nvSpPr>
          <p:cNvPr id="2" name="TextBox 1">
            <a:extLst>
              <a:ext uri="{FF2B5EF4-FFF2-40B4-BE49-F238E27FC236}">
                <a16:creationId xmlns:a16="http://schemas.microsoft.com/office/drawing/2014/main" id="{E63E73B3-F70F-7B31-9BD6-ED180CD1C30B}"/>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	The function must always return an object: return { ... }.</a:t>
            </a:r>
          </a:p>
          <a:p>
            <a:pPr>
              <a:spcBef>
                <a:spcPct val="20000"/>
              </a:spcBef>
              <a:buFont typeface="Arial" pitchFamily="34" charset="0"/>
            </a:pPr>
            <a:r>
              <a:rPr lang="en-US" sz="1400" b="0" i="0" dirty="0">
                <a:effectLst/>
              </a:rPr>
              <a:t>•	You define input parameters and output values via the function settings.</a:t>
            </a:r>
          </a:p>
          <a:p>
            <a:pPr>
              <a:spcBef>
                <a:spcPct val="20000"/>
              </a:spcBef>
              <a:buFont typeface="Arial" pitchFamily="34" charset="0"/>
            </a:pPr>
            <a:r>
              <a:rPr lang="en-US" sz="1400" b="0" i="0" dirty="0">
                <a:effectLst/>
              </a:rPr>
              <a:t>•	It runs synchronously and should not use async or await (use REST API flows for async calls).</a:t>
            </a:r>
          </a:p>
        </p:txBody>
      </p:sp>
    </p:spTree>
    <p:extLst>
      <p:ext uri="{BB962C8B-B14F-4D97-AF65-F5344CB8AC3E}">
        <p14:creationId xmlns:p14="http://schemas.microsoft.com/office/powerpoint/2010/main" val="1814851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5D2C93-0120-CCFC-9609-5065A85D5191}"/>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8C7B24C2-E0A7-CEBF-F7A8-383001851AF8}"/>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4" name="Title 3">
            <a:extLst>
              <a:ext uri="{FF2B5EF4-FFF2-40B4-BE49-F238E27FC236}">
                <a16:creationId xmlns:a16="http://schemas.microsoft.com/office/drawing/2014/main" id="{3926B177-165E-9165-72C4-FD0C520A2E18}"/>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AB080056-AF3B-2DD1-1233-CD37BCC6426B}"/>
                  </a:ext>
                </a:extLst>
              </p14:cNvPr>
              <p14:cNvContentPartPr/>
              <p14:nvPr/>
            </p14:nvContentPartPr>
            <p14:xfrm>
              <a:off x="1315357" y="-14658"/>
              <a:ext cx="360" cy="360"/>
            </p14:xfrm>
          </p:contentPart>
        </mc:Choice>
        <mc:Fallback xmlns="">
          <p:pic>
            <p:nvPicPr>
              <p:cNvPr id="5" name="Ink 4">
                <a:extLst>
                  <a:ext uri="{FF2B5EF4-FFF2-40B4-BE49-F238E27FC236}">
                    <a16:creationId xmlns:a16="http://schemas.microsoft.com/office/drawing/2014/main" id="{AB080056-AF3B-2DD1-1233-CD37BCC6426B}"/>
                  </a:ext>
                </a:extLst>
              </p:cNvPr>
              <p:cNvPicPr/>
              <p:nvPr/>
            </p:nvPicPr>
            <p:blipFill>
              <a:blip r:embed="rId3"/>
              <a:stretch>
                <a:fillRect/>
              </a:stretch>
            </p:blipFill>
            <p:spPr>
              <a:xfrm>
                <a:off x="1306357" y="-23658"/>
                <a:ext cx="18000" cy="18000"/>
              </a:xfrm>
              <a:prstGeom prst="rect">
                <a:avLst/>
              </a:prstGeom>
            </p:spPr>
          </p:pic>
        </mc:Fallback>
      </mc:AlternateContent>
    </p:spTree>
    <p:extLst>
      <p:ext uri="{BB962C8B-B14F-4D97-AF65-F5344CB8AC3E}">
        <p14:creationId xmlns:p14="http://schemas.microsoft.com/office/powerpoint/2010/main" val="720877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dirty="0">
                <a:solidFill>
                  <a:srgbClr val="75C042"/>
                </a:solidFill>
                <a:latin typeface="Segoe UI" panose="020B0502040204020203" pitchFamily="34" charset="0"/>
                <a:ea typeface="Calibri Light" charset="0"/>
                <a:cs typeface="Segoe UI" panose="020B0502040204020203" pitchFamily="34" charset="0"/>
              </a:rPr>
              <a:t>Day 26</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2788</TotalTime>
  <Words>1225</Words>
  <Application>Microsoft Office PowerPoint</Application>
  <PresentationFormat>On-screen Show (16:9)</PresentationFormat>
  <Paragraphs>158</Paragraphs>
  <Slides>16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72</vt:lpstr>
      <vt:lpstr>Arial</vt:lpstr>
      <vt:lpstr>Calibri</vt:lpstr>
      <vt:lpstr>Cambria</vt:lpstr>
      <vt:lpstr>Cooper Black</vt:lpstr>
      <vt:lpstr>Segoe UI</vt:lpstr>
      <vt:lpstr>Segoe UI Light</vt:lpstr>
      <vt:lpstr>Office Theme</vt:lpstr>
      <vt:lpstr>SAP Build Training for Corporate Professionals</vt:lpstr>
      <vt:lpstr>PowerPoint Presentation</vt:lpstr>
      <vt:lpstr>Agenda</vt:lpstr>
      <vt:lpstr>SAP Mobile Service</vt:lpstr>
      <vt:lpstr>Usage in context of mobile service</vt:lpstr>
      <vt:lpstr>Enabling SAP Mobile Service for Build Apps</vt:lpstr>
      <vt:lpstr>Dependency between MS and Build Apps</vt:lpstr>
      <vt:lpstr>Certification</vt:lpstr>
      <vt:lpstr>SAP Build Cloud Functions</vt:lpstr>
      <vt:lpstr>Why Use Cloud Functions in SAP Build Apps?</vt:lpstr>
      <vt:lpstr>JS Flow Functions</vt:lpstr>
      <vt:lpstr>Some Rules of using JS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159</cp:revision>
  <dcterms:created xsi:type="dcterms:W3CDTF">2013-12-05T19:37:13Z</dcterms:created>
  <dcterms:modified xsi:type="dcterms:W3CDTF">2025-08-19T06:16:48Z</dcterms:modified>
</cp:coreProperties>
</file>