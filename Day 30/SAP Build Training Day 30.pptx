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9" r:id="rId2"/>
  </p:sldMasterIdLst>
  <p:notesMasterIdLst>
    <p:notesMasterId r:id="rId14"/>
  </p:notesMasterIdLst>
  <p:handoutMasterIdLst>
    <p:handoutMasterId r:id="rId15"/>
  </p:handoutMasterIdLst>
  <p:sldIdLst>
    <p:sldId id="256" r:id="rId3"/>
    <p:sldId id="494" r:id="rId4"/>
    <p:sldId id="265" r:id="rId5"/>
    <p:sldId id="278" r:id="rId6"/>
    <p:sldId id="537" r:id="rId7"/>
    <p:sldId id="538" r:id="rId8"/>
    <p:sldId id="539" r:id="rId9"/>
    <p:sldId id="540" r:id="rId10"/>
    <p:sldId id="495" r:id="rId11"/>
    <p:sldId id="496" r:id="rId12"/>
    <p:sldId id="49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915338"/>
            <a:ext cx="7772400" cy="458115"/>
          </a:xfrm>
        </p:spPr>
        <p:txBody>
          <a:bodyPr/>
          <a:lstStyle>
            <a:lvl1pPr algn="ctr">
              <a:defRPr lang="en-US" sz="3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299265"/>
            <a:ext cx="6400800" cy="57333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1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151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823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6FA74D1-C1AD-506C-F330-406175E656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39" y="0"/>
            <a:ext cx="4159545" cy="5162550"/>
          </a:xfrm>
          <a:custGeom>
            <a:avLst/>
            <a:gdLst>
              <a:gd name="connsiteX0" fmla="*/ 0 w 5544616"/>
              <a:gd name="connsiteY0" fmla="*/ 0 h 6858000"/>
              <a:gd name="connsiteX1" fmla="*/ 5544616 w 5544616"/>
              <a:gd name="connsiteY1" fmla="*/ 0 h 6858000"/>
              <a:gd name="connsiteX2" fmla="*/ 5544616 w 5544616"/>
              <a:gd name="connsiteY2" fmla="*/ 6858000 h 6858000"/>
              <a:gd name="connsiteX3" fmla="*/ 0 w 55446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4616" h="6858000">
                <a:moveTo>
                  <a:pt x="0" y="0"/>
                </a:moveTo>
                <a:lnTo>
                  <a:pt x="5544616" y="0"/>
                </a:lnTo>
                <a:lnTo>
                  <a:pt x="5544616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835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E873BBA-9F06-F865-1FD2-AF4FDBC23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92227" y="0"/>
            <a:ext cx="4159545" cy="5181600"/>
          </a:xfrm>
          <a:custGeom>
            <a:avLst/>
            <a:gdLst>
              <a:gd name="connsiteX0" fmla="*/ 0 w 5544616"/>
              <a:gd name="connsiteY0" fmla="*/ 0 h 6858000"/>
              <a:gd name="connsiteX1" fmla="*/ 5544616 w 5544616"/>
              <a:gd name="connsiteY1" fmla="*/ 0 h 6858000"/>
              <a:gd name="connsiteX2" fmla="*/ 5544616 w 5544616"/>
              <a:gd name="connsiteY2" fmla="*/ 6858000 h 6858000"/>
              <a:gd name="connsiteX3" fmla="*/ 0 w 55446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4616" h="6858000">
                <a:moveTo>
                  <a:pt x="0" y="0"/>
                </a:moveTo>
                <a:lnTo>
                  <a:pt x="5544616" y="0"/>
                </a:lnTo>
                <a:lnTo>
                  <a:pt x="5544616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7375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E873BBA-9F06-F865-1FD2-AF4FDBC23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84455" y="0"/>
            <a:ext cx="4159545" cy="5181600"/>
          </a:xfrm>
          <a:custGeom>
            <a:avLst/>
            <a:gdLst>
              <a:gd name="connsiteX0" fmla="*/ 0 w 5544616"/>
              <a:gd name="connsiteY0" fmla="*/ 0 h 6858000"/>
              <a:gd name="connsiteX1" fmla="*/ 5544616 w 5544616"/>
              <a:gd name="connsiteY1" fmla="*/ 0 h 6858000"/>
              <a:gd name="connsiteX2" fmla="*/ 5544616 w 5544616"/>
              <a:gd name="connsiteY2" fmla="*/ 6858000 h 6858000"/>
              <a:gd name="connsiteX3" fmla="*/ 0 w 55446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4616" h="6858000">
                <a:moveTo>
                  <a:pt x="0" y="0"/>
                </a:moveTo>
                <a:lnTo>
                  <a:pt x="5544616" y="0"/>
                </a:lnTo>
                <a:lnTo>
                  <a:pt x="5544616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78474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E873BBA-9F06-F865-1FD2-AF4FDBC23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159545" cy="5181600"/>
          </a:xfrm>
          <a:custGeom>
            <a:avLst/>
            <a:gdLst>
              <a:gd name="connsiteX0" fmla="*/ 0 w 5544616"/>
              <a:gd name="connsiteY0" fmla="*/ 0 h 6858000"/>
              <a:gd name="connsiteX1" fmla="*/ 5544616 w 5544616"/>
              <a:gd name="connsiteY1" fmla="*/ 0 h 6858000"/>
              <a:gd name="connsiteX2" fmla="*/ 5544616 w 5544616"/>
              <a:gd name="connsiteY2" fmla="*/ 6858000 h 6858000"/>
              <a:gd name="connsiteX3" fmla="*/ 0 w 55446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4616" h="6858000">
                <a:moveTo>
                  <a:pt x="0" y="0"/>
                </a:moveTo>
                <a:lnTo>
                  <a:pt x="5544616" y="0"/>
                </a:lnTo>
                <a:lnTo>
                  <a:pt x="5544616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4623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14004" y="2152975"/>
            <a:ext cx="4449167" cy="533311"/>
          </a:xfrm>
        </p:spPr>
        <p:txBody>
          <a:bodyPr>
            <a:normAutofit/>
          </a:bodyPr>
          <a:lstStyle>
            <a:lvl1pPr algn="ctr">
              <a:defRPr sz="27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5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24,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331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853819"/>
            <a:ext cx="8229600" cy="3740804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1" y="4767264"/>
            <a:ext cx="2133600" cy="273844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81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txStyles>
    <p:titleStyle>
      <a:lvl1pPr algn="l" defTabSz="914240" rtl="0" eaLnBrk="1" latinLnBrk="0" hangingPunct="1"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40" indent="-342840" algn="l" defTabSz="914240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j-lt"/>
          <a:ea typeface="+mn-ea"/>
          <a:cs typeface="+mn-cs"/>
        </a:defRPr>
      </a:lvl1pPr>
      <a:lvl2pPr marL="742820" indent="-285700" algn="l" defTabSz="91424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2800" indent="-228560" algn="l" defTabSz="91424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599920" indent="-228560" algn="l" defTabSz="91424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040" indent="-228560" algn="l" defTabSz="91424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160" indent="-228560" algn="l" defTabSz="914240" rtl="0" eaLnBrk="1" latinLnBrk="0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2971280" indent="-228560" algn="l" defTabSz="914240" rtl="0" eaLnBrk="1" latinLnBrk="0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428400" indent="-228560" algn="l" defTabSz="914240" rtl="0" eaLnBrk="1" latinLnBrk="0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3885520" indent="-228560" algn="l" defTabSz="914240" rtl="0" eaLnBrk="1" latinLnBrk="0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6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8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0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2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4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60" algn="l" defTabSz="91424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tiff"/><Relationship Id="rId5" Type="http://schemas.openxmlformats.org/officeDocument/2006/relationships/image" Target="../media/image16.tiff"/><Relationship Id="rId4" Type="http://schemas.openxmlformats.org/officeDocument/2006/relationships/image" Target="../media/image15.tiff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DAY-30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Enable Operations and Service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CDS entity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Upload Data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Table in SAP ABAP on Cloud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2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EA54A1-38C4-FE32-4090-51EA16D8E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287BAE7-CBAE-6F97-7BD8-4B3E356C53D6}"/>
              </a:ext>
            </a:extLst>
          </p:cNvPr>
          <p:cNvGrpSpPr/>
          <p:nvPr/>
        </p:nvGrpSpPr>
        <p:grpSpPr>
          <a:xfrm>
            <a:off x="2735796" y="3867894"/>
            <a:ext cx="857724" cy="347367"/>
            <a:chOff x="4607507" y="320965"/>
            <a:chExt cx="1143632" cy="463156"/>
          </a:xfrm>
          <a:solidFill>
            <a:schemeClr val="bg1"/>
          </a:solidFill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D477ABD-8A94-8788-210B-D0287CFA4403}"/>
                </a:ext>
              </a:extLst>
            </p:cNvPr>
            <p:cNvSpPr/>
            <p:nvPr/>
          </p:nvSpPr>
          <p:spPr>
            <a:xfrm>
              <a:off x="5648256" y="675236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C15C6DD-4BFE-64BD-DAB9-6756B6347161}"/>
                </a:ext>
              </a:extLst>
            </p:cNvPr>
            <p:cNvSpPr/>
            <p:nvPr/>
          </p:nvSpPr>
          <p:spPr>
            <a:xfrm>
              <a:off x="5648256" y="320965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3DC80AC-B9EB-4562-5116-C3DE70E7B19F}"/>
                </a:ext>
              </a:extLst>
            </p:cNvPr>
            <p:cNvSpPr/>
            <p:nvPr/>
          </p:nvSpPr>
          <p:spPr>
            <a:xfrm>
              <a:off x="5301339" y="677237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E59E35-3868-074A-E0BD-DB24E9004AF8}"/>
                </a:ext>
              </a:extLst>
            </p:cNvPr>
            <p:cNvSpPr/>
            <p:nvPr/>
          </p:nvSpPr>
          <p:spPr>
            <a:xfrm>
              <a:off x="5301339" y="322966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123400-3898-1FD3-13AA-6B42236327A3}"/>
                </a:ext>
              </a:extLst>
            </p:cNvPr>
            <p:cNvSpPr/>
            <p:nvPr/>
          </p:nvSpPr>
          <p:spPr>
            <a:xfrm>
              <a:off x="4954423" y="679238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120184C-9869-2FA7-F031-A3CC11AB0601}"/>
                </a:ext>
              </a:extLst>
            </p:cNvPr>
            <p:cNvSpPr/>
            <p:nvPr/>
          </p:nvSpPr>
          <p:spPr>
            <a:xfrm>
              <a:off x="4954423" y="32502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22169D0-04FC-A50D-FE81-980FE1304FFB}"/>
                </a:ext>
              </a:extLst>
            </p:cNvPr>
            <p:cNvSpPr/>
            <p:nvPr/>
          </p:nvSpPr>
          <p:spPr>
            <a:xfrm>
              <a:off x="4607507" y="681239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01C1B69-522E-5E73-D1D7-85A67E98CFE9}"/>
                </a:ext>
              </a:extLst>
            </p:cNvPr>
            <p:cNvSpPr/>
            <p:nvPr/>
          </p:nvSpPr>
          <p:spPr>
            <a:xfrm>
              <a:off x="4607507" y="32702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</p:grpSp>
      <p:sp>
        <p:nvSpPr>
          <p:cNvPr id="9" name="Frame 8">
            <a:extLst>
              <a:ext uri="{FF2B5EF4-FFF2-40B4-BE49-F238E27FC236}">
                <a16:creationId xmlns:a16="http://schemas.microsoft.com/office/drawing/2014/main" id="{806384B5-6429-1A3D-2122-2BAD074E69D9}"/>
              </a:ext>
            </a:extLst>
          </p:cNvPr>
          <p:cNvSpPr/>
          <p:nvPr/>
        </p:nvSpPr>
        <p:spPr>
          <a:xfrm>
            <a:off x="-828600" y="-2006573"/>
            <a:ext cx="4512096" cy="4512096"/>
          </a:xfrm>
          <a:prstGeom prst="frame">
            <a:avLst>
              <a:gd name="adj1" fmla="val 17325"/>
            </a:avLst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40">
              <a:defRPr/>
            </a:pPr>
            <a:endParaRPr lang="en-IN">
              <a:solidFill>
                <a:prstClr val="black"/>
              </a:solidFill>
              <a:latin typeface="Segoe UI"/>
            </a:endParaRP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921BAA85-B46A-1CB4-696D-C73DED752F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16000"/>
                    </a14:imgEffect>
                    <a14:imgEffect>
                      <a14:brightnessContrast bright="17000" contrast="-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869" r="9869"/>
          <a:stretch/>
        </p:blipFill>
        <p:spPr>
          <a:xfrm>
            <a:off x="1191" y="0"/>
            <a:ext cx="4158854" cy="5181600"/>
          </a:xfr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046C1C7B-00D4-23A3-B578-396343291D90}"/>
              </a:ext>
            </a:extLst>
          </p:cNvPr>
          <p:cNvGrpSpPr/>
          <p:nvPr/>
        </p:nvGrpSpPr>
        <p:grpSpPr>
          <a:xfrm>
            <a:off x="2658633" y="411511"/>
            <a:ext cx="597537" cy="345866"/>
            <a:chOff x="4610662" y="6011331"/>
            <a:chExt cx="796716" cy="461155"/>
          </a:xfrm>
          <a:solidFill>
            <a:schemeClr val="bg1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826E714-ABAE-9ECD-F213-80DCE572D1CD}"/>
                </a:ext>
              </a:extLst>
            </p:cNvPr>
            <p:cNvSpPr/>
            <p:nvPr/>
          </p:nvSpPr>
          <p:spPr>
            <a:xfrm>
              <a:off x="5304495" y="636560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37E1A7F-D042-A911-3088-9513E9F7859C}"/>
                </a:ext>
              </a:extLst>
            </p:cNvPr>
            <p:cNvSpPr/>
            <p:nvPr/>
          </p:nvSpPr>
          <p:spPr>
            <a:xfrm>
              <a:off x="5304495" y="6011331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ED8DA7E-6E41-EEDF-D537-F4061C82D4BF}"/>
                </a:ext>
              </a:extLst>
            </p:cNvPr>
            <p:cNvSpPr/>
            <p:nvPr/>
          </p:nvSpPr>
          <p:spPr>
            <a:xfrm>
              <a:off x="4957578" y="6367603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38EDFCA-C791-8BE7-F555-A2F4D175383F}"/>
                </a:ext>
              </a:extLst>
            </p:cNvPr>
            <p:cNvSpPr/>
            <p:nvPr/>
          </p:nvSpPr>
          <p:spPr>
            <a:xfrm>
              <a:off x="4957578" y="601333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28112CC-2C58-1DAA-6D85-7D0F49C95D27}"/>
                </a:ext>
              </a:extLst>
            </p:cNvPr>
            <p:cNvSpPr/>
            <p:nvPr/>
          </p:nvSpPr>
          <p:spPr>
            <a:xfrm>
              <a:off x="4610662" y="6369604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F6615F0-5731-7ED3-75A7-CE6D7AF86517}"/>
                </a:ext>
              </a:extLst>
            </p:cNvPr>
            <p:cNvSpPr/>
            <p:nvPr/>
          </p:nvSpPr>
          <p:spPr>
            <a:xfrm>
              <a:off x="4610662" y="6015388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D189D917-EA23-1CC5-024C-14D953BBB9C8}"/>
              </a:ext>
            </a:extLst>
          </p:cNvPr>
          <p:cNvSpPr txBox="1"/>
          <p:nvPr/>
        </p:nvSpPr>
        <p:spPr>
          <a:xfrm>
            <a:off x="4409982" y="1388760"/>
            <a:ext cx="4285304" cy="9043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defTabSz="914240">
              <a:lnSpc>
                <a:spcPct val="110000"/>
              </a:lnSpc>
              <a:defRPr/>
            </a:pPr>
            <a:r>
              <a:rPr lang="en-US" sz="1050" dirty="0">
                <a:solidFill>
                  <a:prstClr val="white"/>
                </a:solidFill>
                <a:latin typeface="Segoe UI"/>
                <a:cs typeface="Segoe UI Light" panose="020B0502040204020203" pitchFamily="34" charset="0"/>
              </a:rPr>
              <a:t>Mia is a young entrepreneur owning a multi million-dollar business of manufacturing printers, projectors, &amp; smart phones. Her service team wants to manage customer service orders that basically a digital work ticket that tracks when Mia’s company needs to provide a service to a customer. She want to create a solution using SAP BTP which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249DD0-25E7-148C-E84E-ADC3AE48F074}"/>
              </a:ext>
            </a:extLst>
          </p:cNvPr>
          <p:cNvSpPr txBox="1"/>
          <p:nvPr/>
        </p:nvSpPr>
        <p:spPr>
          <a:xfrm>
            <a:off x="4409983" y="765472"/>
            <a:ext cx="3502319" cy="4566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240">
              <a:lnSpc>
                <a:spcPct val="90000"/>
              </a:lnSpc>
              <a:defRPr/>
            </a:pPr>
            <a:r>
              <a:rPr lang="en-US" sz="2700" dirty="0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Mia</a:t>
            </a:r>
          </a:p>
        </p:txBody>
      </p:sp>
      <p:sp>
        <p:nvSpPr>
          <p:cNvPr id="54" name="Frame 53">
            <a:extLst>
              <a:ext uri="{FF2B5EF4-FFF2-40B4-BE49-F238E27FC236}">
                <a16:creationId xmlns:a16="http://schemas.microsoft.com/office/drawing/2014/main" id="{BCBA03E2-70D6-FCE6-4B73-7595BF5B3E17}"/>
              </a:ext>
            </a:extLst>
          </p:cNvPr>
          <p:cNvSpPr/>
          <p:nvPr/>
        </p:nvSpPr>
        <p:spPr>
          <a:xfrm>
            <a:off x="7700336" y="3312914"/>
            <a:ext cx="3661172" cy="3661172"/>
          </a:xfrm>
          <a:prstGeom prst="frame">
            <a:avLst>
              <a:gd name="adj1" fmla="val 17325"/>
            </a:avLst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40">
              <a:defRPr/>
            </a:pPr>
            <a:endParaRPr lang="en-IN">
              <a:solidFill>
                <a:prstClr val="black"/>
              </a:solidFill>
              <a:latin typeface="Segoe UI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8F6DE63-7224-3A7C-5B2E-042304AD0E72}"/>
              </a:ext>
            </a:extLst>
          </p:cNvPr>
          <p:cNvGrpSpPr/>
          <p:nvPr/>
        </p:nvGrpSpPr>
        <p:grpSpPr>
          <a:xfrm rot="16200000">
            <a:off x="8226585" y="16971"/>
            <a:ext cx="597537" cy="345866"/>
            <a:chOff x="4610662" y="6011331"/>
            <a:chExt cx="796716" cy="461155"/>
          </a:xfrm>
          <a:solidFill>
            <a:schemeClr val="bg1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F330738-7565-346C-0263-5A4EC0CB7253}"/>
                </a:ext>
              </a:extLst>
            </p:cNvPr>
            <p:cNvSpPr/>
            <p:nvPr/>
          </p:nvSpPr>
          <p:spPr>
            <a:xfrm>
              <a:off x="5304495" y="636560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76CE33F-30DF-D34F-9086-EE0E7EAE15A3}"/>
                </a:ext>
              </a:extLst>
            </p:cNvPr>
            <p:cNvSpPr/>
            <p:nvPr/>
          </p:nvSpPr>
          <p:spPr>
            <a:xfrm>
              <a:off x="5304495" y="6011331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20 w 270319"/>
                <a:gd name="connsiteY1" fmla="*/ 135160 h 270319"/>
                <a:gd name="connsiteX2" fmla="*/ 270320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20" y="60484"/>
                    <a:pt x="270320" y="135160"/>
                  </a:cubicBezTo>
                  <a:lnTo>
                    <a:pt x="270320" y="135160"/>
                  </a:lnTo>
                  <a:cubicBezTo>
                    <a:pt x="270320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5B43C59-619B-716D-8BAE-C105DEA75D48}"/>
                </a:ext>
              </a:extLst>
            </p:cNvPr>
            <p:cNvSpPr/>
            <p:nvPr/>
          </p:nvSpPr>
          <p:spPr>
            <a:xfrm>
              <a:off x="4957578" y="6367603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5232571-AF68-C530-D9D7-34C9A827ACED}"/>
                </a:ext>
              </a:extLst>
            </p:cNvPr>
            <p:cNvSpPr/>
            <p:nvPr/>
          </p:nvSpPr>
          <p:spPr>
            <a:xfrm>
              <a:off x="4957578" y="6013332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29CDA6A-6F3B-E0BC-B3ED-5934352F935B}"/>
                </a:ext>
              </a:extLst>
            </p:cNvPr>
            <p:cNvSpPr/>
            <p:nvPr/>
          </p:nvSpPr>
          <p:spPr>
            <a:xfrm>
              <a:off x="4610662" y="6369604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20 h 270319"/>
                <a:gd name="connsiteX4" fmla="*/ 135160 w 270319"/>
                <a:gd name="connsiteY4" fmla="*/ 270320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20"/>
                    <a:pt x="135160" y="270320"/>
                  </a:cubicBezTo>
                  <a:lnTo>
                    <a:pt x="135160" y="270320"/>
                  </a:lnTo>
                  <a:cubicBezTo>
                    <a:pt x="60484" y="270320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4BCA082-43D6-DA81-7700-0C0E03BB9C24}"/>
                </a:ext>
              </a:extLst>
            </p:cNvPr>
            <p:cNvSpPr/>
            <p:nvPr/>
          </p:nvSpPr>
          <p:spPr>
            <a:xfrm>
              <a:off x="4610662" y="6015388"/>
              <a:ext cx="102883" cy="102882"/>
            </a:xfrm>
            <a:custGeom>
              <a:avLst/>
              <a:gdLst>
                <a:gd name="connsiteX0" fmla="*/ 135160 w 270319"/>
                <a:gd name="connsiteY0" fmla="*/ 0 h 270319"/>
                <a:gd name="connsiteX1" fmla="*/ 270319 w 270319"/>
                <a:gd name="connsiteY1" fmla="*/ 135160 h 270319"/>
                <a:gd name="connsiteX2" fmla="*/ 270319 w 270319"/>
                <a:gd name="connsiteY2" fmla="*/ 135160 h 270319"/>
                <a:gd name="connsiteX3" fmla="*/ 135160 w 270319"/>
                <a:gd name="connsiteY3" fmla="*/ 270319 h 270319"/>
                <a:gd name="connsiteX4" fmla="*/ 135160 w 270319"/>
                <a:gd name="connsiteY4" fmla="*/ 270319 h 270319"/>
                <a:gd name="connsiteX5" fmla="*/ 0 w 270319"/>
                <a:gd name="connsiteY5" fmla="*/ 135160 h 270319"/>
                <a:gd name="connsiteX6" fmla="*/ 0 w 270319"/>
                <a:gd name="connsiteY6" fmla="*/ 135160 h 270319"/>
                <a:gd name="connsiteX7" fmla="*/ 135160 w 270319"/>
                <a:gd name="connsiteY7" fmla="*/ 0 h 27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319" h="270319">
                  <a:moveTo>
                    <a:pt x="135160" y="0"/>
                  </a:moveTo>
                  <a:cubicBezTo>
                    <a:pt x="209836" y="0"/>
                    <a:pt x="270319" y="60484"/>
                    <a:pt x="270319" y="135160"/>
                  </a:cubicBezTo>
                  <a:lnTo>
                    <a:pt x="270319" y="135160"/>
                  </a:lnTo>
                  <a:cubicBezTo>
                    <a:pt x="270319" y="209836"/>
                    <a:pt x="209836" y="270319"/>
                    <a:pt x="135160" y="270319"/>
                  </a:cubicBezTo>
                  <a:lnTo>
                    <a:pt x="135160" y="270319"/>
                  </a:lnTo>
                  <a:cubicBezTo>
                    <a:pt x="60484" y="270319"/>
                    <a:pt x="0" y="209836"/>
                    <a:pt x="0" y="135160"/>
                  </a:cubicBezTo>
                  <a:lnTo>
                    <a:pt x="0" y="135160"/>
                  </a:lnTo>
                  <a:cubicBezTo>
                    <a:pt x="0" y="60484"/>
                    <a:pt x="60484" y="0"/>
                    <a:pt x="13516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914240">
                <a:defRPr/>
              </a:pPr>
              <a:endParaRPr lang="en-IN">
                <a:solidFill>
                  <a:prstClr val="black"/>
                </a:solidFill>
                <a:latin typeface="Segoe UI"/>
              </a:endParaRPr>
            </a:p>
          </p:txBody>
        </p:sp>
      </p:grpSp>
      <p:pic>
        <p:nvPicPr>
          <p:cNvPr id="62" name="Graphic 61" descr="Bullseye outline">
            <a:extLst>
              <a:ext uri="{FF2B5EF4-FFF2-40B4-BE49-F238E27FC236}">
                <a16:creationId xmlns:a16="http://schemas.microsoft.com/office/drawing/2014/main" id="{720D9B4D-DAFF-8E2E-D13A-A1E1A6FE8F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982" y="2522890"/>
            <a:ext cx="312392" cy="312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F32C2F50-61CB-05D5-D962-6C82CDF4046F}"/>
              </a:ext>
            </a:extLst>
          </p:cNvPr>
          <p:cNvSpPr txBox="1"/>
          <p:nvPr/>
        </p:nvSpPr>
        <p:spPr>
          <a:xfrm>
            <a:off x="4950042" y="2493796"/>
            <a:ext cx="3479540" cy="3705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240">
              <a:lnSpc>
                <a:spcPct val="110000"/>
              </a:lnSpc>
              <a:defRPr/>
            </a:pPr>
            <a:r>
              <a:rPr lang="en-US" sz="1050" dirty="0">
                <a:solidFill>
                  <a:prstClr val="white"/>
                </a:solidFill>
                <a:latin typeface="Segoe UI"/>
                <a:cs typeface="Segoe UI Light" panose="020B0502040204020203" pitchFamily="34" charset="0"/>
              </a:rPr>
              <a:t>Helps service foreman to track the status of service orders and items (material, product hierarchy) which needs to be repaired or replace.</a:t>
            </a:r>
          </a:p>
        </p:txBody>
      </p:sp>
      <p:pic>
        <p:nvPicPr>
          <p:cNvPr id="64" name="Graphic 63" descr="Bullseye outline">
            <a:extLst>
              <a:ext uri="{FF2B5EF4-FFF2-40B4-BE49-F238E27FC236}">
                <a16:creationId xmlns:a16="http://schemas.microsoft.com/office/drawing/2014/main" id="{945C4EFB-5CFC-3A20-59CC-2BCA9E1B7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982" y="3129238"/>
            <a:ext cx="312392" cy="312392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ACE7F997-B605-E6C1-D879-48CDEB07E688}"/>
              </a:ext>
            </a:extLst>
          </p:cNvPr>
          <p:cNvSpPr txBox="1"/>
          <p:nvPr/>
        </p:nvSpPr>
        <p:spPr>
          <a:xfrm>
            <a:off x="4950042" y="3100144"/>
            <a:ext cx="2750294" cy="3705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240">
              <a:lnSpc>
                <a:spcPct val="110000"/>
              </a:lnSpc>
              <a:defRPr/>
            </a:pPr>
            <a:r>
              <a:rPr lang="en-US" sz="1050" dirty="0">
                <a:solidFill>
                  <a:prstClr val="white"/>
                </a:solidFill>
                <a:latin typeface="Segoe UI"/>
                <a:cs typeface="Segoe UI Light" panose="020B0502040204020203" pitchFamily="34" charset="0"/>
              </a:rPr>
              <a:t>Provide secure Access of data to the users and upload excel data to service order tables.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C28168-A474-F779-CB7C-71141FADA75C}"/>
              </a:ext>
            </a:extLst>
          </p:cNvPr>
          <p:cNvSpPr txBox="1"/>
          <p:nvPr/>
        </p:nvSpPr>
        <p:spPr>
          <a:xfrm>
            <a:off x="4358463" y="3713606"/>
            <a:ext cx="3450326" cy="3705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240">
              <a:lnSpc>
                <a:spcPct val="110000"/>
              </a:lnSpc>
              <a:defRPr/>
            </a:pPr>
            <a:r>
              <a:rPr lang="en-US" sz="1050" dirty="0">
                <a:solidFill>
                  <a:prstClr val="white"/>
                </a:solidFill>
                <a:latin typeface="Segoe UI"/>
                <a:cs typeface="Segoe UI Light" panose="020B0502040204020203" pitchFamily="34" charset="0"/>
              </a:rPr>
              <a:t>For this purpose, we need to maintain tables, views, security and service in the SAP BTP ABAP Environment.</a:t>
            </a:r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ACCFBA8-B0FB-31C4-9F04-0DBDC25E9C42}"/>
              </a:ext>
            </a:extLst>
          </p:cNvPr>
          <p:cNvSpPr/>
          <p:nvPr/>
        </p:nvSpPr>
        <p:spPr>
          <a:xfrm rot="16200000">
            <a:off x="3064410" y="2529218"/>
            <a:ext cx="603861" cy="66017"/>
          </a:xfrm>
          <a:custGeom>
            <a:avLst/>
            <a:gdLst>
              <a:gd name="connsiteX0" fmla="*/ 785432 w 805148"/>
              <a:gd name="connsiteY0" fmla="*/ 12 h 88022"/>
              <a:gd name="connsiteX1" fmla="*/ 784384 w 805148"/>
              <a:gd name="connsiteY1" fmla="*/ 12 h 88022"/>
              <a:gd name="connsiteX2" fmla="*/ 723805 w 805148"/>
              <a:gd name="connsiteY2" fmla="*/ 32778 h 88022"/>
              <a:gd name="connsiteX3" fmla="*/ 688562 w 805148"/>
              <a:gd name="connsiteY3" fmla="*/ 54114 h 88022"/>
              <a:gd name="connsiteX4" fmla="*/ 653225 w 805148"/>
              <a:gd name="connsiteY4" fmla="*/ 32778 h 88022"/>
              <a:gd name="connsiteX5" fmla="*/ 592550 w 805148"/>
              <a:gd name="connsiteY5" fmla="*/ 12 h 88022"/>
              <a:gd name="connsiteX6" fmla="*/ 531876 w 805148"/>
              <a:gd name="connsiteY6" fmla="*/ 32778 h 88022"/>
              <a:gd name="connsiteX7" fmla="*/ 496634 w 805148"/>
              <a:gd name="connsiteY7" fmla="*/ 54114 h 88022"/>
              <a:gd name="connsiteX8" fmla="*/ 461296 w 805148"/>
              <a:gd name="connsiteY8" fmla="*/ 32778 h 88022"/>
              <a:gd name="connsiteX9" fmla="*/ 400622 w 805148"/>
              <a:gd name="connsiteY9" fmla="*/ 12 h 88022"/>
              <a:gd name="connsiteX10" fmla="*/ 340043 w 805148"/>
              <a:gd name="connsiteY10" fmla="*/ 32778 h 88022"/>
              <a:gd name="connsiteX11" fmla="*/ 304705 w 805148"/>
              <a:gd name="connsiteY11" fmla="*/ 54114 h 88022"/>
              <a:gd name="connsiteX12" fmla="*/ 269367 w 805148"/>
              <a:gd name="connsiteY12" fmla="*/ 32778 h 88022"/>
              <a:gd name="connsiteX13" fmla="*/ 208693 w 805148"/>
              <a:gd name="connsiteY13" fmla="*/ 12 h 88022"/>
              <a:gd name="connsiteX14" fmla="*/ 148019 w 805148"/>
              <a:gd name="connsiteY14" fmla="*/ 32778 h 88022"/>
              <a:gd name="connsiteX15" fmla="*/ 112681 w 805148"/>
              <a:gd name="connsiteY15" fmla="*/ 54114 h 88022"/>
              <a:gd name="connsiteX16" fmla="*/ 77438 w 805148"/>
              <a:gd name="connsiteY16" fmla="*/ 32778 h 88022"/>
              <a:gd name="connsiteX17" fmla="*/ 16955 w 805148"/>
              <a:gd name="connsiteY17" fmla="*/ 12 h 88022"/>
              <a:gd name="connsiteX18" fmla="*/ 0 w 805148"/>
              <a:gd name="connsiteY18" fmla="*/ 16966 h 88022"/>
              <a:gd name="connsiteX19" fmla="*/ 16955 w 805148"/>
              <a:gd name="connsiteY19" fmla="*/ 33921 h 88022"/>
              <a:gd name="connsiteX20" fmla="*/ 52197 w 805148"/>
              <a:gd name="connsiteY20" fmla="*/ 55257 h 88022"/>
              <a:gd name="connsiteX21" fmla="*/ 112776 w 805148"/>
              <a:gd name="connsiteY21" fmla="*/ 88023 h 88022"/>
              <a:gd name="connsiteX22" fmla="*/ 173450 w 805148"/>
              <a:gd name="connsiteY22" fmla="*/ 55257 h 88022"/>
              <a:gd name="connsiteX23" fmla="*/ 208788 w 805148"/>
              <a:gd name="connsiteY23" fmla="*/ 33921 h 88022"/>
              <a:gd name="connsiteX24" fmla="*/ 244126 w 805148"/>
              <a:gd name="connsiteY24" fmla="*/ 55257 h 88022"/>
              <a:gd name="connsiteX25" fmla="*/ 304800 w 805148"/>
              <a:gd name="connsiteY25" fmla="*/ 88023 h 88022"/>
              <a:gd name="connsiteX26" fmla="*/ 365474 w 805148"/>
              <a:gd name="connsiteY26" fmla="*/ 55257 h 88022"/>
              <a:gd name="connsiteX27" fmla="*/ 400717 w 805148"/>
              <a:gd name="connsiteY27" fmla="*/ 33921 h 88022"/>
              <a:gd name="connsiteX28" fmla="*/ 436055 w 805148"/>
              <a:gd name="connsiteY28" fmla="*/ 55257 h 88022"/>
              <a:gd name="connsiteX29" fmla="*/ 496729 w 805148"/>
              <a:gd name="connsiteY29" fmla="*/ 88023 h 88022"/>
              <a:gd name="connsiteX30" fmla="*/ 557403 w 805148"/>
              <a:gd name="connsiteY30" fmla="*/ 55257 h 88022"/>
              <a:gd name="connsiteX31" fmla="*/ 592741 w 805148"/>
              <a:gd name="connsiteY31" fmla="*/ 33921 h 88022"/>
              <a:gd name="connsiteX32" fmla="*/ 628079 w 805148"/>
              <a:gd name="connsiteY32" fmla="*/ 55257 h 88022"/>
              <a:gd name="connsiteX33" fmla="*/ 688753 w 805148"/>
              <a:gd name="connsiteY33" fmla="*/ 88023 h 88022"/>
              <a:gd name="connsiteX34" fmla="*/ 749427 w 805148"/>
              <a:gd name="connsiteY34" fmla="*/ 55257 h 88022"/>
              <a:gd name="connsiteX35" fmla="*/ 784670 w 805148"/>
              <a:gd name="connsiteY35" fmla="*/ 33921 h 88022"/>
              <a:gd name="connsiteX36" fmla="*/ 805148 w 805148"/>
              <a:gd name="connsiteY36" fmla="*/ 19157 h 88022"/>
              <a:gd name="connsiteX37" fmla="*/ 785432 w 805148"/>
              <a:gd name="connsiteY37" fmla="*/ 12 h 88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05148" h="88022">
                <a:moveTo>
                  <a:pt x="785432" y="12"/>
                </a:moveTo>
                <a:cubicBezTo>
                  <a:pt x="785432" y="12"/>
                  <a:pt x="784765" y="12"/>
                  <a:pt x="784384" y="12"/>
                </a:cubicBezTo>
                <a:cubicBezTo>
                  <a:pt x="752761" y="12"/>
                  <a:pt x="736663" y="18204"/>
                  <a:pt x="723805" y="32778"/>
                </a:cubicBezTo>
                <a:cubicBezTo>
                  <a:pt x="711708" y="46398"/>
                  <a:pt x="704088" y="54114"/>
                  <a:pt x="688562" y="54114"/>
                </a:cubicBezTo>
                <a:cubicBezTo>
                  <a:pt x="673037" y="54114"/>
                  <a:pt x="665321" y="46398"/>
                  <a:pt x="653225" y="32778"/>
                </a:cubicBezTo>
                <a:cubicBezTo>
                  <a:pt x="640271" y="18204"/>
                  <a:pt x="624173" y="12"/>
                  <a:pt x="592550" y="12"/>
                </a:cubicBezTo>
                <a:cubicBezTo>
                  <a:pt x="560927" y="12"/>
                  <a:pt x="544830" y="18204"/>
                  <a:pt x="531876" y="32778"/>
                </a:cubicBezTo>
                <a:cubicBezTo>
                  <a:pt x="519779" y="46398"/>
                  <a:pt x="512159" y="54114"/>
                  <a:pt x="496634" y="54114"/>
                </a:cubicBezTo>
                <a:cubicBezTo>
                  <a:pt x="481108" y="54114"/>
                  <a:pt x="473393" y="46398"/>
                  <a:pt x="461296" y="32778"/>
                </a:cubicBezTo>
                <a:cubicBezTo>
                  <a:pt x="448342" y="18204"/>
                  <a:pt x="432245" y="12"/>
                  <a:pt x="400622" y="12"/>
                </a:cubicBezTo>
                <a:cubicBezTo>
                  <a:pt x="368999" y="12"/>
                  <a:pt x="352901" y="18204"/>
                  <a:pt x="340043" y="32778"/>
                </a:cubicBezTo>
                <a:cubicBezTo>
                  <a:pt x="327946" y="46398"/>
                  <a:pt x="320326" y="54114"/>
                  <a:pt x="304705" y="54114"/>
                </a:cubicBezTo>
                <a:cubicBezTo>
                  <a:pt x="289084" y="54114"/>
                  <a:pt x="281464" y="46398"/>
                  <a:pt x="269367" y="32778"/>
                </a:cubicBezTo>
                <a:cubicBezTo>
                  <a:pt x="256413" y="18204"/>
                  <a:pt x="240316" y="12"/>
                  <a:pt x="208693" y="12"/>
                </a:cubicBezTo>
                <a:cubicBezTo>
                  <a:pt x="177070" y="12"/>
                  <a:pt x="160973" y="18204"/>
                  <a:pt x="148019" y="32778"/>
                </a:cubicBezTo>
                <a:cubicBezTo>
                  <a:pt x="135922" y="46398"/>
                  <a:pt x="128302" y="54114"/>
                  <a:pt x="112681" y="54114"/>
                </a:cubicBezTo>
                <a:cubicBezTo>
                  <a:pt x="97060" y="54114"/>
                  <a:pt x="89535" y="46398"/>
                  <a:pt x="77438" y="32778"/>
                </a:cubicBezTo>
                <a:cubicBezTo>
                  <a:pt x="64580" y="18204"/>
                  <a:pt x="48482" y="12"/>
                  <a:pt x="16955" y="12"/>
                </a:cubicBezTo>
                <a:cubicBezTo>
                  <a:pt x="7620" y="12"/>
                  <a:pt x="0" y="7536"/>
                  <a:pt x="0" y="16966"/>
                </a:cubicBezTo>
                <a:cubicBezTo>
                  <a:pt x="0" y="26396"/>
                  <a:pt x="7620" y="33921"/>
                  <a:pt x="16955" y="33921"/>
                </a:cubicBezTo>
                <a:cubicBezTo>
                  <a:pt x="32576" y="33921"/>
                  <a:pt x="40195" y="41636"/>
                  <a:pt x="52197" y="55257"/>
                </a:cubicBezTo>
                <a:cubicBezTo>
                  <a:pt x="65151" y="69830"/>
                  <a:pt x="81248" y="88023"/>
                  <a:pt x="112776" y="88023"/>
                </a:cubicBezTo>
                <a:cubicBezTo>
                  <a:pt x="144304" y="88023"/>
                  <a:pt x="160496" y="69830"/>
                  <a:pt x="173450" y="55257"/>
                </a:cubicBezTo>
                <a:cubicBezTo>
                  <a:pt x="185547" y="41636"/>
                  <a:pt x="193167" y="33921"/>
                  <a:pt x="208788" y="33921"/>
                </a:cubicBezTo>
                <a:cubicBezTo>
                  <a:pt x="224409" y="33921"/>
                  <a:pt x="232029" y="41636"/>
                  <a:pt x="244126" y="55257"/>
                </a:cubicBezTo>
                <a:cubicBezTo>
                  <a:pt x="257080" y="69830"/>
                  <a:pt x="273177" y="88023"/>
                  <a:pt x="304800" y="88023"/>
                </a:cubicBezTo>
                <a:cubicBezTo>
                  <a:pt x="336423" y="88023"/>
                  <a:pt x="352520" y="69830"/>
                  <a:pt x="365474" y="55257"/>
                </a:cubicBezTo>
                <a:cubicBezTo>
                  <a:pt x="377571" y="41636"/>
                  <a:pt x="385191" y="33921"/>
                  <a:pt x="400717" y="33921"/>
                </a:cubicBezTo>
                <a:cubicBezTo>
                  <a:pt x="416243" y="33921"/>
                  <a:pt x="423958" y="41636"/>
                  <a:pt x="436055" y="55257"/>
                </a:cubicBezTo>
                <a:cubicBezTo>
                  <a:pt x="449009" y="69830"/>
                  <a:pt x="465106" y="88023"/>
                  <a:pt x="496729" y="88023"/>
                </a:cubicBezTo>
                <a:cubicBezTo>
                  <a:pt x="528352" y="88023"/>
                  <a:pt x="544449" y="69830"/>
                  <a:pt x="557403" y="55257"/>
                </a:cubicBezTo>
                <a:cubicBezTo>
                  <a:pt x="569500" y="41636"/>
                  <a:pt x="577120" y="33921"/>
                  <a:pt x="592741" y="33921"/>
                </a:cubicBezTo>
                <a:cubicBezTo>
                  <a:pt x="608362" y="33921"/>
                  <a:pt x="615982" y="41636"/>
                  <a:pt x="628079" y="55257"/>
                </a:cubicBezTo>
                <a:cubicBezTo>
                  <a:pt x="641033" y="69830"/>
                  <a:pt x="657130" y="88023"/>
                  <a:pt x="688753" y="88023"/>
                </a:cubicBezTo>
                <a:cubicBezTo>
                  <a:pt x="720376" y="88023"/>
                  <a:pt x="736473" y="69830"/>
                  <a:pt x="749427" y="55257"/>
                </a:cubicBezTo>
                <a:cubicBezTo>
                  <a:pt x="761524" y="41636"/>
                  <a:pt x="769144" y="33921"/>
                  <a:pt x="784670" y="33921"/>
                </a:cubicBezTo>
                <a:cubicBezTo>
                  <a:pt x="785051" y="33921"/>
                  <a:pt x="805148" y="33444"/>
                  <a:pt x="805148" y="19157"/>
                </a:cubicBezTo>
                <a:cubicBezTo>
                  <a:pt x="804863" y="-1131"/>
                  <a:pt x="785432" y="12"/>
                  <a:pt x="785432" y="12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defTabSz="914240">
              <a:defRPr/>
            </a:pPr>
            <a:endParaRPr lang="en-IN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A3B30A39-9626-8381-7002-712B3F90E485}"/>
              </a:ext>
            </a:extLst>
          </p:cNvPr>
          <p:cNvSpPr/>
          <p:nvPr/>
        </p:nvSpPr>
        <p:spPr>
          <a:xfrm>
            <a:off x="7398405" y="4500741"/>
            <a:ext cx="603861" cy="66008"/>
          </a:xfrm>
          <a:custGeom>
            <a:avLst/>
            <a:gdLst>
              <a:gd name="connsiteX0" fmla="*/ 785527 w 805148"/>
              <a:gd name="connsiteY0" fmla="*/ 0 h 88011"/>
              <a:gd name="connsiteX1" fmla="*/ 784479 w 805148"/>
              <a:gd name="connsiteY1" fmla="*/ 0 h 88011"/>
              <a:gd name="connsiteX2" fmla="*/ 723900 w 805148"/>
              <a:gd name="connsiteY2" fmla="*/ 32766 h 88011"/>
              <a:gd name="connsiteX3" fmla="*/ 688658 w 805148"/>
              <a:gd name="connsiteY3" fmla="*/ 54102 h 88011"/>
              <a:gd name="connsiteX4" fmla="*/ 653320 w 805148"/>
              <a:gd name="connsiteY4" fmla="*/ 32766 h 88011"/>
              <a:gd name="connsiteX5" fmla="*/ 592646 w 805148"/>
              <a:gd name="connsiteY5" fmla="*/ 0 h 88011"/>
              <a:gd name="connsiteX6" fmla="*/ 531971 w 805148"/>
              <a:gd name="connsiteY6" fmla="*/ 32766 h 88011"/>
              <a:gd name="connsiteX7" fmla="*/ 496729 w 805148"/>
              <a:gd name="connsiteY7" fmla="*/ 54102 h 88011"/>
              <a:gd name="connsiteX8" fmla="*/ 461391 w 805148"/>
              <a:gd name="connsiteY8" fmla="*/ 32766 h 88011"/>
              <a:gd name="connsiteX9" fmla="*/ 400717 w 805148"/>
              <a:gd name="connsiteY9" fmla="*/ 0 h 88011"/>
              <a:gd name="connsiteX10" fmla="*/ 340138 w 805148"/>
              <a:gd name="connsiteY10" fmla="*/ 32766 h 88011"/>
              <a:gd name="connsiteX11" fmla="*/ 304800 w 805148"/>
              <a:gd name="connsiteY11" fmla="*/ 54102 h 88011"/>
              <a:gd name="connsiteX12" fmla="*/ 269462 w 805148"/>
              <a:gd name="connsiteY12" fmla="*/ 32766 h 88011"/>
              <a:gd name="connsiteX13" fmla="*/ 208788 w 805148"/>
              <a:gd name="connsiteY13" fmla="*/ 0 h 88011"/>
              <a:gd name="connsiteX14" fmla="*/ 148114 w 805148"/>
              <a:gd name="connsiteY14" fmla="*/ 32766 h 88011"/>
              <a:gd name="connsiteX15" fmla="*/ 112776 w 805148"/>
              <a:gd name="connsiteY15" fmla="*/ 54102 h 88011"/>
              <a:gd name="connsiteX16" fmla="*/ 77534 w 805148"/>
              <a:gd name="connsiteY16" fmla="*/ 32766 h 88011"/>
              <a:gd name="connsiteX17" fmla="*/ 16955 w 805148"/>
              <a:gd name="connsiteY17" fmla="*/ 0 h 88011"/>
              <a:gd name="connsiteX18" fmla="*/ 0 w 805148"/>
              <a:gd name="connsiteY18" fmla="*/ 16954 h 88011"/>
              <a:gd name="connsiteX19" fmla="*/ 16955 w 805148"/>
              <a:gd name="connsiteY19" fmla="*/ 33909 h 88011"/>
              <a:gd name="connsiteX20" fmla="*/ 52197 w 805148"/>
              <a:gd name="connsiteY20" fmla="*/ 55245 h 88011"/>
              <a:gd name="connsiteX21" fmla="*/ 112776 w 805148"/>
              <a:gd name="connsiteY21" fmla="*/ 88011 h 88011"/>
              <a:gd name="connsiteX22" fmla="*/ 173450 w 805148"/>
              <a:gd name="connsiteY22" fmla="*/ 55245 h 88011"/>
              <a:gd name="connsiteX23" fmla="*/ 208788 w 805148"/>
              <a:gd name="connsiteY23" fmla="*/ 33909 h 88011"/>
              <a:gd name="connsiteX24" fmla="*/ 244126 w 805148"/>
              <a:gd name="connsiteY24" fmla="*/ 55245 h 88011"/>
              <a:gd name="connsiteX25" fmla="*/ 304800 w 805148"/>
              <a:gd name="connsiteY25" fmla="*/ 88011 h 88011"/>
              <a:gd name="connsiteX26" fmla="*/ 365474 w 805148"/>
              <a:gd name="connsiteY26" fmla="*/ 55245 h 88011"/>
              <a:gd name="connsiteX27" fmla="*/ 400717 w 805148"/>
              <a:gd name="connsiteY27" fmla="*/ 33909 h 88011"/>
              <a:gd name="connsiteX28" fmla="*/ 436055 w 805148"/>
              <a:gd name="connsiteY28" fmla="*/ 55245 h 88011"/>
              <a:gd name="connsiteX29" fmla="*/ 496729 w 805148"/>
              <a:gd name="connsiteY29" fmla="*/ 88011 h 88011"/>
              <a:gd name="connsiteX30" fmla="*/ 557403 w 805148"/>
              <a:gd name="connsiteY30" fmla="*/ 55245 h 88011"/>
              <a:gd name="connsiteX31" fmla="*/ 592741 w 805148"/>
              <a:gd name="connsiteY31" fmla="*/ 33909 h 88011"/>
              <a:gd name="connsiteX32" fmla="*/ 628079 w 805148"/>
              <a:gd name="connsiteY32" fmla="*/ 55245 h 88011"/>
              <a:gd name="connsiteX33" fmla="*/ 688753 w 805148"/>
              <a:gd name="connsiteY33" fmla="*/ 88011 h 88011"/>
              <a:gd name="connsiteX34" fmla="*/ 749427 w 805148"/>
              <a:gd name="connsiteY34" fmla="*/ 55245 h 88011"/>
              <a:gd name="connsiteX35" fmla="*/ 784670 w 805148"/>
              <a:gd name="connsiteY35" fmla="*/ 33909 h 88011"/>
              <a:gd name="connsiteX36" fmla="*/ 805148 w 805148"/>
              <a:gd name="connsiteY36" fmla="*/ 19145 h 88011"/>
              <a:gd name="connsiteX37" fmla="*/ 785717 w 805148"/>
              <a:gd name="connsiteY37" fmla="*/ 95 h 8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05148" h="88011">
                <a:moveTo>
                  <a:pt x="785527" y="0"/>
                </a:moveTo>
                <a:cubicBezTo>
                  <a:pt x="785527" y="0"/>
                  <a:pt x="784860" y="0"/>
                  <a:pt x="784479" y="0"/>
                </a:cubicBezTo>
                <a:cubicBezTo>
                  <a:pt x="752856" y="0"/>
                  <a:pt x="736759" y="18193"/>
                  <a:pt x="723900" y="32766"/>
                </a:cubicBezTo>
                <a:cubicBezTo>
                  <a:pt x="711803" y="46387"/>
                  <a:pt x="704183" y="54102"/>
                  <a:pt x="688658" y="54102"/>
                </a:cubicBezTo>
                <a:cubicBezTo>
                  <a:pt x="673132" y="54102"/>
                  <a:pt x="665417" y="46387"/>
                  <a:pt x="653320" y="32766"/>
                </a:cubicBezTo>
                <a:cubicBezTo>
                  <a:pt x="640366" y="18193"/>
                  <a:pt x="624269" y="0"/>
                  <a:pt x="592646" y="0"/>
                </a:cubicBezTo>
                <a:cubicBezTo>
                  <a:pt x="561023" y="0"/>
                  <a:pt x="544925" y="18193"/>
                  <a:pt x="531971" y="32766"/>
                </a:cubicBezTo>
                <a:cubicBezTo>
                  <a:pt x="519875" y="46387"/>
                  <a:pt x="512255" y="54102"/>
                  <a:pt x="496729" y="54102"/>
                </a:cubicBezTo>
                <a:cubicBezTo>
                  <a:pt x="481203" y="54102"/>
                  <a:pt x="473488" y="46387"/>
                  <a:pt x="461391" y="32766"/>
                </a:cubicBezTo>
                <a:cubicBezTo>
                  <a:pt x="448437" y="18193"/>
                  <a:pt x="432340" y="0"/>
                  <a:pt x="400717" y="0"/>
                </a:cubicBezTo>
                <a:cubicBezTo>
                  <a:pt x="369094" y="0"/>
                  <a:pt x="352997" y="18193"/>
                  <a:pt x="340138" y="32766"/>
                </a:cubicBezTo>
                <a:cubicBezTo>
                  <a:pt x="328041" y="46387"/>
                  <a:pt x="320421" y="54102"/>
                  <a:pt x="304800" y="54102"/>
                </a:cubicBezTo>
                <a:cubicBezTo>
                  <a:pt x="289179" y="54102"/>
                  <a:pt x="281559" y="46387"/>
                  <a:pt x="269462" y="32766"/>
                </a:cubicBezTo>
                <a:cubicBezTo>
                  <a:pt x="256508" y="18193"/>
                  <a:pt x="240411" y="0"/>
                  <a:pt x="208788" y="0"/>
                </a:cubicBezTo>
                <a:cubicBezTo>
                  <a:pt x="177165" y="0"/>
                  <a:pt x="161068" y="18193"/>
                  <a:pt x="148114" y="32766"/>
                </a:cubicBezTo>
                <a:cubicBezTo>
                  <a:pt x="136017" y="46387"/>
                  <a:pt x="128397" y="54102"/>
                  <a:pt x="112776" y="54102"/>
                </a:cubicBezTo>
                <a:cubicBezTo>
                  <a:pt x="97155" y="54102"/>
                  <a:pt x="89630" y="46387"/>
                  <a:pt x="77534" y="32766"/>
                </a:cubicBezTo>
                <a:cubicBezTo>
                  <a:pt x="64580" y="18193"/>
                  <a:pt x="48482" y="0"/>
                  <a:pt x="16955" y="0"/>
                </a:cubicBezTo>
                <a:cubicBezTo>
                  <a:pt x="7620" y="0"/>
                  <a:pt x="0" y="7620"/>
                  <a:pt x="0" y="16954"/>
                </a:cubicBezTo>
                <a:cubicBezTo>
                  <a:pt x="0" y="26289"/>
                  <a:pt x="7620" y="33909"/>
                  <a:pt x="16955" y="33909"/>
                </a:cubicBezTo>
                <a:cubicBezTo>
                  <a:pt x="32576" y="33909"/>
                  <a:pt x="40196" y="41624"/>
                  <a:pt x="52197" y="55245"/>
                </a:cubicBezTo>
                <a:cubicBezTo>
                  <a:pt x="65151" y="69818"/>
                  <a:pt x="81248" y="88011"/>
                  <a:pt x="112776" y="88011"/>
                </a:cubicBezTo>
                <a:cubicBezTo>
                  <a:pt x="144304" y="88011"/>
                  <a:pt x="160496" y="69818"/>
                  <a:pt x="173450" y="55245"/>
                </a:cubicBezTo>
                <a:cubicBezTo>
                  <a:pt x="185547" y="41624"/>
                  <a:pt x="193167" y="33909"/>
                  <a:pt x="208788" y="33909"/>
                </a:cubicBezTo>
                <a:cubicBezTo>
                  <a:pt x="224409" y="33909"/>
                  <a:pt x="232029" y="41624"/>
                  <a:pt x="244126" y="55245"/>
                </a:cubicBezTo>
                <a:cubicBezTo>
                  <a:pt x="257080" y="69818"/>
                  <a:pt x="273177" y="88011"/>
                  <a:pt x="304800" y="88011"/>
                </a:cubicBezTo>
                <a:cubicBezTo>
                  <a:pt x="336423" y="88011"/>
                  <a:pt x="352520" y="69818"/>
                  <a:pt x="365474" y="55245"/>
                </a:cubicBezTo>
                <a:cubicBezTo>
                  <a:pt x="377571" y="41624"/>
                  <a:pt x="385191" y="33909"/>
                  <a:pt x="400717" y="33909"/>
                </a:cubicBezTo>
                <a:cubicBezTo>
                  <a:pt x="416243" y="33909"/>
                  <a:pt x="423958" y="41624"/>
                  <a:pt x="436055" y="55245"/>
                </a:cubicBezTo>
                <a:cubicBezTo>
                  <a:pt x="449009" y="69818"/>
                  <a:pt x="465106" y="88011"/>
                  <a:pt x="496729" y="88011"/>
                </a:cubicBezTo>
                <a:cubicBezTo>
                  <a:pt x="528352" y="88011"/>
                  <a:pt x="544449" y="69818"/>
                  <a:pt x="557403" y="55245"/>
                </a:cubicBezTo>
                <a:cubicBezTo>
                  <a:pt x="569500" y="41624"/>
                  <a:pt x="577120" y="33909"/>
                  <a:pt x="592741" y="33909"/>
                </a:cubicBezTo>
                <a:cubicBezTo>
                  <a:pt x="608362" y="33909"/>
                  <a:pt x="615982" y="41624"/>
                  <a:pt x="628079" y="55245"/>
                </a:cubicBezTo>
                <a:cubicBezTo>
                  <a:pt x="641033" y="69818"/>
                  <a:pt x="657130" y="88011"/>
                  <a:pt x="688753" y="88011"/>
                </a:cubicBezTo>
                <a:cubicBezTo>
                  <a:pt x="720376" y="88011"/>
                  <a:pt x="736473" y="69818"/>
                  <a:pt x="749427" y="55245"/>
                </a:cubicBezTo>
                <a:cubicBezTo>
                  <a:pt x="761524" y="41624"/>
                  <a:pt x="769144" y="33909"/>
                  <a:pt x="784670" y="33909"/>
                </a:cubicBezTo>
                <a:cubicBezTo>
                  <a:pt x="785051" y="33909"/>
                  <a:pt x="805148" y="33433"/>
                  <a:pt x="805148" y="19145"/>
                </a:cubicBezTo>
                <a:cubicBezTo>
                  <a:pt x="805148" y="-1048"/>
                  <a:pt x="785717" y="95"/>
                  <a:pt x="785717" y="95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defTabSz="914240">
              <a:defRPr/>
            </a:pPr>
            <a:endParaRPr lang="en-IN">
              <a:solidFill>
                <a:prstClr val="black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87639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Use Case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B50E17A-AC2E-0D77-F32D-BD73F96B1903}"/>
              </a:ext>
            </a:extLst>
          </p:cNvPr>
          <p:cNvSpPr txBox="1"/>
          <p:nvPr/>
        </p:nvSpPr>
        <p:spPr>
          <a:xfrm>
            <a:off x="76200" y="994199"/>
            <a:ext cx="5715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0" i="0">
                <a:solidFill>
                  <a:srgbClr val="222222"/>
                </a:solidFill>
                <a:effectLst/>
                <a:latin typeface="Amasis MT Pro Medium" panose="02040604050005020304" pitchFamily="18" charset="0"/>
              </a:rPr>
              <a:t>How to create custom tables ( Header/items ) on BTP with different data types (e.g., list, value help/F4 options)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0" i="0">
                <a:solidFill>
                  <a:srgbClr val="222222"/>
                </a:solidFill>
                <a:effectLst/>
                <a:latin typeface="Amasis MT Pro Medium" panose="02040604050005020304" pitchFamily="18" charset="0"/>
              </a:rPr>
              <a:t>Whether data types can be modified later and new fields can be created — and if so, does the whole table need to be regenerated?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0" i="0">
                <a:solidFill>
                  <a:srgbClr val="222222"/>
                </a:solidFill>
                <a:effectLst/>
                <a:latin typeface="Amasis MT Pro Medium" panose="02040604050005020304" pitchFamily="18" charset="0"/>
              </a:rPr>
              <a:t>How to apply basic authorization on the table to control data visibility/access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0" i="0">
                <a:solidFill>
                  <a:srgbClr val="222222"/>
                </a:solidFill>
                <a:effectLst/>
                <a:latin typeface="Amasis MT Pro Medium" panose="02040604050005020304" pitchFamily="18" charset="0"/>
              </a:rPr>
              <a:t>Upload data via excel.</a:t>
            </a:r>
            <a:endParaRPr lang="en-US" sz="1600" b="0" i="0" dirty="0">
              <a:solidFill>
                <a:srgbClr val="222222"/>
              </a:solidFill>
              <a:effectLst/>
              <a:latin typeface="Amasis MT Pro Medium" panose="020406040500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2B9887-E898-0D69-B650-2386205E1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520" y="2909251"/>
            <a:ext cx="5351488" cy="156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965A0-C316-1DCA-4174-0B81169FD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C8C53A6-435E-81BD-14EB-DE730DD58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C6B861-CBB6-CE41-0B42-DEC18471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4B5FF0-F5FD-023D-08D2-D77DFA2F7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ER Diagram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E8618F6-F16E-261E-5667-A482EFBE8BA6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883FEF4-42F4-8F18-A90F-6BC59CE4A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966" y="1131830"/>
            <a:ext cx="5950134" cy="3938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01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4576D-9BAA-8409-B6F8-153FEF8BA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AF8B40-95C7-BB90-A388-9942E53FB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5786C6-241F-8CA3-7D3C-6DAAB8E36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796CC-A5D7-7B90-311E-946D1F19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4ECD31C-617C-26E8-03C4-DE62D2F698EC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55781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F4924-25B7-A338-AD76-849887F67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CDA04CB-410F-E35A-3865-924276D22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EEB52-862B-7FAD-454D-B56560E7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68CF0A-5B58-7EBD-4C4A-D20F5F353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7CBDDC0-CE2D-6700-18C3-EC0AF44FEB4A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1902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28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Custom 265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24BB6"/>
      </a:accent1>
      <a:accent2>
        <a:srgbClr val="0197CA"/>
      </a:accent2>
      <a:accent3>
        <a:srgbClr val="EBFAFF"/>
      </a:accent3>
      <a:accent4>
        <a:srgbClr val="C2EFFE"/>
      </a:accent4>
      <a:accent5>
        <a:srgbClr val="1C2159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3153</TotalTime>
  <Words>384</Words>
  <Application>Microsoft Office PowerPoint</Application>
  <PresentationFormat>On-screen Show (16:9)</PresentationFormat>
  <Paragraphs>55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Amasis MT Pro Medium</vt:lpstr>
      <vt:lpstr>Arial</vt:lpstr>
      <vt:lpstr>Calibri</vt:lpstr>
      <vt:lpstr>Cambria</vt:lpstr>
      <vt:lpstr>Cooper Black</vt:lpstr>
      <vt:lpstr>Segoe UI</vt:lpstr>
      <vt:lpstr>Segoe UI Black</vt:lpstr>
      <vt:lpstr>Segoe UI Light</vt:lpstr>
      <vt:lpstr>Office Theme</vt:lpstr>
      <vt:lpstr>2_Office Theme</vt:lpstr>
      <vt:lpstr>SAP Build Training for Corporate Professionals</vt:lpstr>
      <vt:lpstr>PowerPoint Presentation</vt:lpstr>
      <vt:lpstr>Agenda</vt:lpstr>
      <vt:lpstr>PowerPoint Presentation</vt:lpstr>
      <vt:lpstr>Use Case</vt:lpstr>
      <vt:lpstr>ER Diagram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176</cp:revision>
  <dcterms:created xsi:type="dcterms:W3CDTF">2013-12-05T19:37:13Z</dcterms:created>
  <dcterms:modified xsi:type="dcterms:W3CDTF">2025-08-24T17:03:13Z</dcterms:modified>
</cp:coreProperties>
</file>