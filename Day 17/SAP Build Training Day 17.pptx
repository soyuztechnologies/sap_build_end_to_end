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94" r:id="rId3"/>
    <p:sldId id="265" r:id="rId4"/>
    <p:sldId id="498" r:id="rId5"/>
    <p:sldId id="499" r:id="rId6"/>
    <p:sldId id="390" r:id="rId7"/>
    <p:sldId id="391" r:id="rId8"/>
    <p:sldId id="392" r:id="rId9"/>
    <p:sldId id="393" r:id="rId10"/>
    <p:sldId id="394" r:id="rId11"/>
    <p:sldId id="495" r:id="rId12"/>
    <p:sldId id="496" r:id="rId13"/>
    <p:sldId id="49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ap.com/api/OP_API_PRODUCT_SRV_0001/overview" TargetMode="External"/><Relationship Id="rId2" Type="http://schemas.openxmlformats.org/officeDocument/2006/relationships/hyperlink" Target="https://api.sap.com/package/S4HANAOPAPI/odata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stsrvr.mynetgear.com:8021/sap/opu/odata/sap/API_PRODUCT_SRV/A_Product?$top=20&amp;$filter=ProductType%20eq%20%27FERT%27&amp;$expand=to_Description&amp;$select=Product,to_Description/ProductDescription&amp;$format=json" TargetMode="External"/><Relationship Id="rId4" Type="http://schemas.openxmlformats.org/officeDocument/2006/relationships/hyperlink" Target="http://stsrvr.mynetgear.com:8021/sap/opu/odata/sap/API_SALES_ORDER_SRV/A_SalesOrder('309')?$format=json&amp;$expand=to_Ite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ap.com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4dev.st.com:8021/sap/opu/odata/sap/API_SALES_ORDER_SRV/A_SalesOrder?$format=json&amp;$filter=TotalNetAmount%20gt%2010000&amp;$select=SalesOrder,SalesOrganization,TotalNetAmount" TargetMode="External"/><Relationship Id="rId2" Type="http://schemas.openxmlformats.org/officeDocument/2006/relationships/hyperlink" Target="https://help.sap.com/docs/process-visibility/process-visibility-capability/creating-visibility-scenario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tiff"/><Relationship Id="rId5" Type="http://schemas.openxmlformats.org/officeDocument/2006/relationships/image" Target="../media/image22.tiff"/><Relationship Id="rId4" Type="http://schemas.openxmlformats.org/officeDocument/2006/relationships/image" Target="../media/image21.tiff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DAY-17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Scenario Process visibility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SAP Standard API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Introduction to Cloud Connector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Accessing SAP S/4HANA System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94CE61-DD7E-F1B4-D177-104EE760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A24595-E4DB-D402-6A5A-D40E9479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BE6385-0C03-03E1-A968-DF5B2AE9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SAP Server Access</a:t>
            </a:r>
          </a:p>
        </p:txBody>
      </p:sp>
      <p:pic>
        <p:nvPicPr>
          <p:cNvPr id="1026" name="Picture 2" descr="What is a Server? — An Explanation for Beginner Developers | by designbygio  | JavaScript in Plain English">
            <a:extLst>
              <a:ext uri="{FF2B5EF4-FFF2-40B4-BE49-F238E27FC236}">
                <a16:creationId xmlns:a16="http://schemas.microsoft.com/office/drawing/2014/main" id="{A3FAB7BE-037C-805E-81AC-500A7B05D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317" y="1047750"/>
            <a:ext cx="5002683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1A5718-2304-E801-1D89-9F568A8ACA8E}"/>
              </a:ext>
            </a:extLst>
          </p:cNvPr>
          <p:cNvSpPr txBox="1"/>
          <p:nvPr/>
        </p:nvSpPr>
        <p:spPr>
          <a:xfrm>
            <a:off x="228600" y="120015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System Details</a:t>
            </a:r>
          </a:p>
          <a:p>
            <a:r>
              <a:rPr lang="en-IN" b="1" dirty="0"/>
              <a:t>103.207.171.202</a:t>
            </a:r>
          </a:p>
          <a:p>
            <a:r>
              <a:rPr lang="en-IN" b="1" dirty="0"/>
              <a:t>21</a:t>
            </a:r>
          </a:p>
          <a:p>
            <a:r>
              <a:rPr lang="en-IN" b="1" dirty="0"/>
              <a:t>S4D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5E7CB-B45C-6E3A-3C76-EEE75D3CC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70" y="2517403"/>
            <a:ext cx="3323460" cy="217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0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3581-3E3A-E78E-1647-B354EE6D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3F6435-64D6-5B09-F3C8-9D2E2B4D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E2CA4-6904-2E40-03CF-EF4623AF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221959-0296-97BD-8B92-735571D4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SAP Cloud Connector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B0BBC2-0E9D-FC01-63B8-675821336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02" y="1047750"/>
            <a:ext cx="9144000" cy="380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43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5A3D-8386-BD58-DEA9-BB2D4DB5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6B6A8B-B2FF-6B10-C200-4C432546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6B7D7-B0DD-DCC2-C835-463C3CC3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33DB3D-6EF2-E36D-A6FC-258FA1C0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/>
              <a:t>Study material</a:t>
            </a:r>
            <a:endParaRPr lang="en-IN" sz="2500" dirty="0">
              <a:latin typeface="Cooper Black" panose="0208090404030B0204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198ECC-57AE-29EF-5F5B-4B6730103BFD}"/>
              </a:ext>
            </a:extLst>
          </p:cNvPr>
          <p:cNvSpPr txBox="1"/>
          <p:nvPr/>
        </p:nvSpPr>
        <p:spPr>
          <a:xfrm>
            <a:off x="152400" y="742950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IN" sz="1400" b="1" i="0" dirty="0" err="1">
                <a:solidFill>
                  <a:srgbClr val="1F1F1F"/>
                </a:solidFill>
                <a:effectLst/>
                <a:latin typeface="72 Brand Variable"/>
              </a:rPr>
              <a:t>sap.processautomation.enabled</a:t>
            </a:r>
            <a:r>
              <a:rPr lang="en-IN" sz="1400" b="1" i="0" dirty="0">
                <a:solidFill>
                  <a:srgbClr val="1F1F1F"/>
                </a:solidFill>
                <a:effectLst/>
                <a:latin typeface="72 Brand Variable"/>
              </a:rPr>
              <a:t> = true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IN" sz="1400" b="1" dirty="0">
              <a:solidFill>
                <a:srgbClr val="1F1F1F"/>
              </a:solidFill>
              <a:latin typeface="72 Brand Variable"/>
            </a:endParaRP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IN" sz="1400" b="1" dirty="0">
                <a:solidFill>
                  <a:srgbClr val="1F1F1F"/>
                </a:solidFill>
                <a:latin typeface="72 Brand Variable"/>
              </a:rPr>
              <a:t>Explore the SAP provided standard APIs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>
                <a:hlinkClick r:id="rId2"/>
              </a:rPr>
              <a:t>https://api.sap.com/package/S4HANAOPAPI/odata</a:t>
            </a:r>
            <a:endParaRPr lang="en-IN" sz="1400" b="1" dirty="0">
              <a:solidFill>
                <a:srgbClr val="1F1F1F"/>
              </a:solidFill>
              <a:latin typeface="72 Brand Variable"/>
            </a:endParaRP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>
                <a:hlinkClick r:id="rId3"/>
              </a:rPr>
              <a:t>https://api.sap.com/api/OP_API_SALES_ORDER_SRV_0001/overview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>
                <a:hlinkClick r:id="rId3"/>
              </a:rPr>
              <a:t>https://api.sap.com/api/OP_API_PRODUCT_SRV_0001/overview</a:t>
            </a: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 err="1"/>
              <a:t>Tcodes</a:t>
            </a:r>
            <a:r>
              <a:rPr lang="en-US" sz="1400" dirty="0"/>
              <a:t> in S/4HANA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SMICM – to check the port numbers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/n/IWFND/MAINT_SERVICE – to check the available registered APIs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>
                <a:hlinkClick r:id="rId4"/>
              </a:rPr>
              <a:t>http://stsrvr.mynetgear.com:8021/sap/opu/odata/sap/API_SALES_ORDER_SRV/A_SalesOrder('309')?$format=json&amp;$expand=to_Item</a:t>
            </a: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>
                <a:hlinkClick r:id="rId5"/>
              </a:rPr>
              <a:t>http://stsrvr.mynetgear.com:8021/sap/opu/odata/sap/API_PRODUCT_SRV/A_Product?$top=20&amp;$filter=ProductType%20eq%20%27FERT%27&amp;$expand=to_Description&amp;$select=Product,to_Description/ProductDescription&amp;$format=json</a:t>
            </a: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414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DCDD-B314-0334-825D-0FC88082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C462E-7577-943B-4451-7FCE3806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05F36-DE99-49F3-2D93-34FD423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3B54BC-13C3-1C4E-D80D-137D7FEC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E8A38-842D-AF32-8B7E-556D2B24DC34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Go to </a:t>
            </a:r>
            <a:r>
              <a:rPr lang="en-US" sz="1400" dirty="0">
                <a:hlinkClick r:id="rId2"/>
              </a:rPr>
              <a:t>https://api.sap.com</a:t>
            </a:r>
            <a:endParaRPr lang="en-US" sz="14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Open S/4HANA product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Search the particular APIs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Download the API specification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Check if these services are active or not, if not activate them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sz="1400" dirty="0"/>
              <a:t>Test the </a:t>
            </a:r>
            <a:r>
              <a:rPr lang="en-US" sz="1400" dirty="0" err="1"/>
              <a:t>apis</a:t>
            </a:r>
            <a:r>
              <a:rPr lang="en-US" sz="1400" dirty="0"/>
              <a:t> in local browser and ensure what are all the filters, selections, conditions and data we want to select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0573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82DE-04DB-DA9D-ABAA-251EE545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4B0B6-9F8B-E9F0-B8B1-5E0EB9F1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F3B0-7B73-F2FE-B0B2-B94F45C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DBC62-8180-6D01-0995-E7ACA5FF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Output of 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400D6-DEA1-A177-15C3-D88F376D17F6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&lt;content&gt;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EF9412-7AF8-0E1E-A7BC-1975F26A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42950"/>
            <a:ext cx="4284978" cy="3257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9E5A5-4F0E-6CE5-4AF2-52C2F5382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971548"/>
            <a:ext cx="5288450" cy="261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4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E35B9-F38A-1D2E-2FA2-42F11B33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59D6A-EB84-95AE-0F89-15E294F5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D953C-063F-8EB2-1F0C-4AFAB4D9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BAA234-96D4-8ED4-8B31-36B3F83A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Scenario – Extract SAP S/4HANA Sales order</a:t>
            </a:r>
          </a:p>
        </p:txBody>
      </p:sp>
      <p:pic>
        <p:nvPicPr>
          <p:cNvPr id="1026" name="Picture 2" descr="SAP S/4HANA -">
            <a:extLst>
              <a:ext uri="{FF2B5EF4-FFF2-40B4-BE49-F238E27FC236}">
                <a16:creationId xmlns:a16="http://schemas.microsoft.com/office/drawing/2014/main" id="{EEDA9077-FAE5-8CB0-ED5F-57A517DA4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01" b="18447"/>
          <a:stretch/>
        </p:blipFill>
        <p:spPr bwMode="auto">
          <a:xfrm>
            <a:off x="3505200" y="3596372"/>
            <a:ext cx="19621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p icon sales order Vector Icons free download in SVG, PNG Format">
            <a:extLst>
              <a:ext uri="{FF2B5EF4-FFF2-40B4-BE49-F238E27FC236}">
                <a16:creationId xmlns:a16="http://schemas.microsoft.com/office/drawing/2014/main" id="{948413C3-DC5C-C9C5-259A-D04582154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7106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pp icon sales order Vector Icons free download in SVG, PNG Format">
            <a:extLst>
              <a:ext uri="{FF2B5EF4-FFF2-40B4-BE49-F238E27FC236}">
                <a16:creationId xmlns:a16="http://schemas.microsoft.com/office/drawing/2014/main" id="{B1CD5861-CA17-8991-C07B-28BF78168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8630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pp icon sales order Vector Icons free download in SVG, PNG Format">
            <a:extLst>
              <a:ext uri="{FF2B5EF4-FFF2-40B4-BE49-F238E27FC236}">
                <a16:creationId xmlns:a16="http://schemas.microsoft.com/office/drawing/2014/main" id="{3CA528F7-DF6D-DB27-5D68-998051D12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0154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pp icon sales order Vector Icons free download in SVG, PNG Format">
            <a:extLst>
              <a:ext uri="{FF2B5EF4-FFF2-40B4-BE49-F238E27FC236}">
                <a16:creationId xmlns:a16="http://schemas.microsoft.com/office/drawing/2014/main" id="{316229F2-E012-A557-5FDC-5CEB68DE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678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ACF2F2-CD5B-91AC-14A2-8D879F00479B}"/>
              </a:ext>
            </a:extLst>
          </p:cNvPr>
          <p:cNvSpPr txBox="1"/>
          <p:nvPr/>
        </p:nvSpPr>
        <p:spPr>
          <a:xfrm>
            <a:off x="6019800" y="386307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DD7C58-A905-2224-186C-33F3CDE9ED0A}"/>
              </a:ext>
            </a:extLst>
          </p:cNvPr>
          <p:cNvSpPr/>
          <p:nvPr/>
        </p:nvSpPr>
        <p:spPr>
          <a:xfrm>
            <a:off x="609600" y="2411143"/>
            <a:ext cx="3048000" cy="9449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SAP Build process Automation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9501A-1577-A94B-EDC0-9A1AA64ED515}"/>
              </a:ext>
            </a:extLst>
          </p:cNvPr>
          <p:cNvSpPr/>
          <p:nvPr/>
        </p:nvSpPr>
        <p:spPr>
          <a:xfrm>
            <a:off x="3733800" y="2407134"/>
            <a:ext cx="5181600" cy="9489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SAP Build work zone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02F5A0-AA71-7F94-60CD-5743F2490537}"/>
              </a:ext>
            </a:extLst>
          </p:cNvPr>
          <p:cNvSpPr/>
          <p:nvPr/>
        </p:nvSpPr>
        <p:spPr>
          <a:xfrm>
            <a:off x="1143000" y="2495550"/>
            <a:ext cx="1905000" cy="381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Build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6898F0-399D-635D-2588-1C7DAEFF0C26}"/>
              </a:ext>
            </a:extLst>
          </p:cNvPr>
          <p:cNvSpPr/>
          <p:nvPr/>
        </p:nvSpPr>
        <p:spPr>
          <a:xfrm>
            <a:off x="5602664" y="2467489"/>
            <a:ext cx="1582328" cy="381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 Inbox App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03723B-BBEB-CD7B-753E-E5A31441D9CC}"/>
              </a:ext>
            </a:extLst>
          </p:cNvPr>
          <p:cNvSpPr/>
          <p:nvPr/>
        </p:nvSpPr>
        <p:spPr>
          <a:xfrm>
            <a:off x="3850064" y="2467489"/>
            <a:ext cx="1636336" cy="381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 Trigger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171AB5-BBEC-6768-90EB-61CF4EDC5F4A}"/>
              </a:ext>
            </a:extLst>
          </p:cNvPr>
          <p:cNvSpPr/>
          <p:nvPr/>
        </p:nvSpPr>
        <p:spPr>
          <a:xfrm>
            <a:off x="7301256" y="2452074"/>
            <a:ext cx="1582328" cy="81561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Visibility Scenario Dashboard</a:t>
            </a:r>
          </a:p>
        </p:txBody>
      </p:sp>
      <p:pic>
        <p:nvPicPr>
          <p:cNvPr id="1030" name="Picture 6" descr="Developer - Free computer icons">
            <a:extLst>
              <a:ext uri="{FF2B5EF4-FFF2-40B4-BE49-F238E27FC236}">
                <a16:creationId xmlns:a16="http://schemas.microsoft.com/office/drawing/2014/main" id="{A3B8E747-F473-39F2-CBE1-775A85AB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6675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38642CC-71E7-6C93-B811-662567507D35}"/>
              </a:ext>
            </a:extLst>
          </p:cNvPr>
          <p:cNvCxnSpPr>
            <a:stCxn id="1030" idx="2"/>
            <a:endCxn id="10" idx="0"/>
          </p:cNvCxnSpPr>
          <p:nvPr/>
        </p:nvCxnSpPr>
        <p:spPr>
          <a:xfrm rot="5400000">
            <a:off x="1699554" y="1938997"/>
            <a:ext cx="906192" cy="381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50FB94-BCB4-39F2-CA91-5BB428B8E7FB}"/>
              </a:ext>
            </a:extLst>
          </p:cNvPr>
          <p:cNvSpPr txBox="1"/>
          <p:nvPr/>
        </p:nvSpPr>
        <p:spPr>
          <a:xfrm>
            <a:off x="0" y="1513157"/>
            <a:ext cx="2438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Citizen Developer</a:t>
            </a:r>
          </a:p>
          <a:p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Design and deploy the build business process with process visibility scenario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5BF858-ED8D-87ED-5CC6-FCEB50C683EA}"/>
              </a:ext>
            </a:extLst>
          </p:cNvPr>
          <p:cNvSpPr txBox="1"/>
          <p:nvPr/>
        </p:nvSpPr>
        <p:spPr>
          <a:xfrm>
            <a:off x="2857500" y="1505330"/>
            <a:ext cx="160020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Sales Representative</a:t>
            </a:r>
          </a:p>
          <a:p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Starts the sales order process by providing order no. for approval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636F2-B4E6-9D66-0965-9441B6B4F118}"/>
              </a:ext>
            </a:extLst>
          </p:cNvPr>
          <p:cNvSpPr txBox="1"/>
          <p:nvPr/>
        </p:nvSpPr>
        <p:spPr>
          <a:xfrm>
            <a:off x="4758965" y="1513157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Sales Manager</a:t>
            </a:r>
          </a:p>
          <a:p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Provides the necessary approval for the sales order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0328F-DC44-EDBC-3D81-CC25C9799298}"/>
              </a:ext>
            </a:extLst>
          </p:cNvPr>
          <p:cNvSpPr txBox="1"/>
          <p:nvPr/>
        </p:nvSpPr>
        <p:spPr>
          <a:xfrm>
            <a:off x="6705600" y="1513157"/>
            <a:ext cx="167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Sales Head</a:t>
            </a:r>
          </a:p>
          <a:p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Track the progress of business process and KPIs (transparency)</a:t>
            </a:r>
          </a:p>
        </p:txBody>
      </p:sp>
      <p:pic>
        <p:nvPicPr>
          <p:cNvPr id="1032" name="Picture 8" descr="Salesperson Icon Images – Browse 58,765 Stock Photos, Vectors, and Video |  Adobe Stock">
            <a:extLst>
              <a:ext uri="{FF2B5EF4-FFF2-40B4-BE49-F238E27FC236}">
                <a16:creationId xmlns:a16="http://schemas.microsoft.com/office/drawing/2014/main" id="{DFC72079-592E-6FFD-E207-ABE52FC0E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75259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D986337-CE5A-C1AD-CF4A-A3B28DF12422}"/>
              </a:ext>
            </a:extLst>
          </p:cNvPr>
          <p:cNvCxnSpPr>
            <a:stCxn id="1032" idx="3"/>
            <a:endCxn id="14" idx="0"/>
          </p:cNvCxnSpPr>
          <p:nvPr/>
        </p:nvCxnSpPr>
        <p:spPr>
          <a:xfrm>
            <a:off x="3943350" y="1133595"/>
            <a:ext cx="724882" cy="1333894"/>
          </a:xfrm>
          <a:prstGeom prst="bentConnector2">
            <a:avLst/>
          </a:prstGeom>
          <a:ln w="571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5BCDB7F-18F0-DD32-3D05-505AAFCE4C5B}"/>
              </a:ext>
            </a:extLst>
          </p:cNvPr>
          <p:cNvCxnSpPr/>
          <p:nvPr/>
        </p:nvCxnSpPr>
        <p:spPr>
          <a:xfrm>
            <a:off x="5718437" y="1130997"/>
            <a:ext cx="724882" cy="1333894"/>
          </a:xfrm>
          <a:prstGeom prst="bentConnector2">
            <a:avLst/>
          </a:prstGeom>
          <a:ln w="571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374760C-E45B-A4FD-CDBC-7D897075FC72}"/>
              </a:ext>
            </a:extLst>
          </p:cNvPr>
          <p:cNvCxnSpPr/>
          <p:nvPr/>
        </p:nvCxnSpPr>
        <p:spPr>
          <a:xfrm>
            <a:off x="7801073" y="1094417"/>
            <a:ext cx="724882" cy="1333894"/>
          </a:xfrm>
          <a:prstGeom prst="bentConnector2">
            <a:avLst/>
          </a:prstGeom>
          <a:ln w="571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Sales rep - Free professions and jobs icons">
            <a:extLst>
              <a:ext uri="{FF2B5EF4-FFF2-40B4-BE49-F238E27FC236}">
                <a16:creationId xmlns:a16="http://schemas.microsoft.com/office/drawing/2014/main" id="{863D0AE4-CBA6-7DE6-6A19-D958E3888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275" y="614918"/>
            <a:ext cx="997647" cy="99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Old Man Icon #194315 - Free Icons Library">
            <a:extLst>
              <a:ext uri="{FF2B5EF4-FFF2-40B4-BE49-F238E27FC236}">
                <a16:creationId xmlns:a16="http://schemas.microsoft.com/office/drawing/2014/main" id="{021A2DA6-7EB1-14A3-58E2-93A991A46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127" y="673232"/>
            <a:ext cx="825238" cy="82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6FE5304-6B9D-73E9-A454-C3DF8B3B6C2B}"/>
              </a:ext>
            </a:extLst>
          </p:cNvPr>
          <p:cNvCxnSpPr>
            <a:stCxn id="1026" idx="1"/>
            <a:endCxn id="10" idx="2"/>
          </p:cNvCxnSpPr>
          <p:nvPr/>
        </p:nvCxnSpPr>
        <p:spPr>
          <a:xfrm rot="10800000">
            <a:off x="2133600" y="3356104"/>
            <a:ext cx="1371600" cy="8117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CB3CE1A-283E-E88D-D393-A0EAE4572A09}"/>
              </a:ext>
            </a:extLst>
          </p:cNvPr>
          <p:cNvSpPr txBox="1"/>
          <p:nvPr/>
        </p:nvSpPr>
        <p:spPr>
          <a:xfrm>
            <a:off x="632381" y="3650590"/>
            <a:ext cx="283255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Requirement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Start the process    with order no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Retrieve the order details from S4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Determine the approver based on Sales organization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50" dirty="0">
                <a:latin typeface="Biome" panose="020B0502040204020203" pitchFamily="34" charset="0"/>
                <a:cs typeface="Biome" panose="020B0502040204020203" pitchFamily="34" charset="0"/>
              </a:rPr>
              <a:t>Allows monitoring of process through key KPIs</a:t>
            </a:r>
          </a:p>
        </p:txBody>
      </p:sp>
    </p:spTree>
    <p:extLst>
      <p:ext uri="{BB962C8B-B14F-4D97-AF65-F5344CB8AC3E}">
        <p14:creationId xmlns:p14="http://schemas.microsoft.com/office/powerpoint/2010/main" val="128448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6BDF9-0E23-BEF7-1BDD-B53213A8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9667A-14E1-2048-013C-A10976D5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BDFA9-5F68-9754-4B95-2FEAF8EE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C39F52-F1F7-1483-B65A-7F453D712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Process Visibility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F3A2D-011E-C897-59F4-57263D2E0229}"/>
              </a:ext>
            </a:extLst>
          </p:cNvPr>
          <p:cNvSpPr txBox="1"/>
          <p:nvPr/>
        </p:nvSpPr>
        <p:spPr>
          <a:xfrm>
            <a:off x="152400" y="742950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The process visibility capability within the SAP Workflow Management service provides end-to-end visibility and intelligence to processes, which run on cloud, on-premise, and in hybrid environments.</a:t>
            </a:r>
          </a:p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The Process Visibility capability provides visibility on business processes with their extensions to enable process excellence by:</a:t>
            </a:r>
          </a:p>
          <a:p>
            <a:pPr algn="l"/>
            <a:endParaRPr lang="en-US" sz="1400" b="0" i="0" dirty="0">
              <a:solidFill>
                <a:srgbClr val="333333"/>
              </a:solidFill>
              <a:effectLst/>
              <a:latin typeface="72" panose="020B05030300000000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Providing a real-time view of an entire process regardless of the platform it operates 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Providing actionable insights to steer the process forward.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Providing performance indicators for a business process to understand the current and the past performance.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333333"/>
              </a:solidFill>
              <a:effectLst/>
              <a:latin typeface="72" panose="020B0503030000000003" pitchFamily="34" charset="0"/>
            </a:endParaRPr>
          </a:p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The capability provides 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Process Workspace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72" panose="020B0503030000000003" pitchFamily="34" charset="0"/>
              </a:rPr>
              <a:t> to track processes in real-time, search and filter instances, analyze performance indicators, and view detailed information about an instance. </a:t>
            </a:r>
          </a:p>
          <a:p>
            <a:pPr algn="l"/>
            <a:endParaRPr lang="en-US" sz="1400" dirty="0">
              <a:solidFill>
                <a:srgbClr val="333333"/>
              </a:solidFill>
              <a:latin typeface="72" panose="020B0503030000000003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72" panose="020B0503030000000003" pitchFamily="34" charset="0"/>
                <a:hlinkClick r:id="rId2"/>
              </a:rPr>
              <a:t>https://help.sap.com/docs/process-visibility/process-visibility-capability/creating-visibility-scenario</a:t>
            </a:r>
            <a:endParaRPr lang="en-US" sz="1400" dirty="0">
              <a:solidFill>
                <a:srgbClr val="333333"/>
              </a:solidFill>
              <a:latin typeface="72" panose="020B0503030000000003" pitchFamily="34" charset="0"/>
            </a:endParaRPr>
          </a:p>
          <a:p>
            <a:endParaRPr lang="en-US" sz="1400" b="0" i="0" dirty="0">
              <a:solidFill>
                <a:srgbClr val="333333"/>
              </a:solidFill>
              <a:effectLst/>
              <a:latin typeface="72" panose="020B0503030000000003" pitchFamily="34" charset="0"/>
            </a:endParaRPr>
          </a:p>
          <a:p>
            <a:r>
              <a:rPr lang="en-US" sz="1400" dirty="0">
                <a:solidFill>
                  <a:srgbClr val="333333"/>
                </a:solidFill>
                <a:latin typeface="72" panose="020B0503030000000003" pitchFamily="34" charset="0"/>
                <a:hlinkClick r:id="rId3"/>
              </a:rPr>
              <a:t>http://s4dev.st.com:8021/sap/opu/odata/sap/API_SALES_ORDER_SRV/A_SalesOrder?$format=json&amp;$filter=TotalNetAmount%20gt%2010000&amp;$select=SalesOrder,SalesOrganization,TotalNetAmount</a:t>
            </a:r>
            <a:endParaRPr lang="en-US" sz="1400" dirty="0">
              <a:solidFill>
                <a:srgbClr val="333333"/>
              </a:solidFill>
              <a:latin typeface="72" panose="020B0503030000000003" pitchFamily="34" charset="0"/>
            </a:endParaRPr>
          </a:p>
          <a:p>
            <a:endParaRPr lang="en-US" sz="1400" b="0" i="0" dirty="0">
              <a:solidFill>
                <a:srgbClr val="333333"/>
              </a:solidFill>
              <a:effectLst/>
              <a:latin typeface="72" panose="020B05030300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96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17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763</Words>
  <Application>Microsoft Office PowerPoint</Application>
  <PresentationFormat>On-screen Show (16:9)</PresentationFormat>
  <Paragraphs>118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72</vt:lpstr>
      <vt:lpstr>72 Brand Variable</vt:lpstr>
      <vt:lpstr>Arial</vt:lpstr>
      <vt:lpstr>Biome</vt:lpstr>
      <vt:lpstr>Calibri</vt:lpstr>
      <vt:lpstr>Cambria</vt:lpstr>
      <vt:lpstr>Cooper Black</vt:lpstr>
      <vt:lpstr>Segoe UI</vt:lpstr>
      <vt:lpstr>Segoe UI Light</vt:lpstr>
      <vt:lpstr>Wingdings</vt:lpstr>
      <vt:lpstr>Office Theme</vt:lpstr>
      <vt:lpstr>SAP Build Training for Corporate Professionals</vt:lpstr>
      <vt:lpstr>PowerPoint Presentation</vt:lpstr>
      <vt:lpstr>Agenda</vt:lpstr>
      <vt:lpstr>SAP Server Access</vt:lpstr>
      <vt:lpstr>SAP Cloud Connector</vt:lpstr>
      <vt:lpstr>Study material</vt:lpstr>
      <vt:lpstr>Steps</vt:lpstr>
      <vt:lpstr>Output of actions</vt:lpstr>
      <vt:lpstr>Scenario – Extract SAP S/4HANA Sales order</vt:lpstr>
      <vt:lpstr>Process Visibility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123</cp:revision>
  <dcterms:created xsi:type="dcterms:W3CDTF">2013-12-05T19:37:13Z</dcterms:created>
  <dcterms:modified xsi:type="dcterms:W3CDTF">2025-08-03T05:18:27Z</dcterms:modified>
</cp:coreProperties>
</file>