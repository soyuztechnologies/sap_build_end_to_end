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494" r:id="rId3"/>
    <p:sldId id="265" r:id="rId4"/>
    <p:sldId id="519" r:id="rId5"/>
    <p:sldId id="520" r:id="rId6"/>
    <p:sldId id="521" r:id="rId7"/>
    <p:sldId id="537" r:id="rId8"/>
    <p:sldId id="495" r:id="rId9"/>
    <p:sldId id="496" r:id="rId10"/>
    <p:sldId id="497"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3:39:48.605"/>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8/12/2025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12,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DAY-23</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Binding detail page data</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Page Parameters</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584775"/>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Create another page</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738664"/>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Load data from OData Connections</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3B7F-D73C-B314-685F-FE5912A656F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5BAD24-F3AE-4B53-2ADD-4DAA336403D9}"/>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53F6C8C1-160D-9728-CAB8-063F64A79E1E}"/>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4</a:t>
            </a:fld>
            <a:endParaRPr lang="en-US" dirty="0"/>
          </a:p>
        </p:txBody>
      </p:sp>
      <p:sp>
        <p:nvSpPr>
          <p:cNvPr id="5" name="Title 4">
            <a:extLst>
              <a:ext uri="{FF2B5EF4-FFF2-40B4-BE49-F238E27FC236}">
                <a16:creationId xmlns:a16="http://schemas.microsoft.com/office/drawing/2014/main" id="{CF9AD0A5-FBCE-4FE0-50ED-4BD18899F096}"/>
              </a:ext>
            </a:extLst>
          </p:cNvPr>
          <p:cNvSpPr>
            <a:spLocks noGrp="1"/>
          </p:cNvSpPr>
          <p:nvPr>
            <p:ph type="title"/>
          </p:nvPr>
        </p:nvSpPr>
        <p:spPr>
          <a:xfrm>
            <a:off x="76200" y="133350"/>
            <a:ext cx="8229600" cy="533401"/>
          </a:xfrm>
        </p:spPr>
        <p:txBody>
          <a:bodyPr/>
          <a:lstStyle/>
          <a:p>
            <a:r>
              <a:rPr lang="en-US" sz="2500">
                <a:latin typeface="Cooper Black" panose="0208090404030B020404" pitchFamily="18" charset="0"/>
              </a:rPr>
              <a:t>Scenario – Shopping cart App</a:t>
            </a:r>
            <a:endParaRPr lang="en-IN" sz="2500" dirty="0">
              <a:latin typeface="Cooper Black" panose="0208090404030B020404" pitchFamily="18" charset="0"/>
            </a:endParaRPr>
          </a:p>
        </p:txBody>
      </p:sp>
      <p:sp>
        <p:nvSpPr>
          <p:cNvPr id="7" name="TextBox 6">
            <a:extLst>
              <a:ext uri="{FF2B5EF4-FFF2-40B4-BE49-F238E27FC236}">
                <a16:creationId xmlns:a16="http://schemas.microsoft.com/office/drawing/2014/main" id="{7F3CBDE5-5451-80AE-5C54-56D7560461F2}"/>
              </a:ext>
            </a:extLst>
          </p:cNvPr>
          <p:cNvSpPr txBox="1"/>
          <p:nvPr/>
        </p:nvSpPr>
        <p:spPr>
          <a:xfrm>
            <a:off x="152400" y="1078139"/>
            <a:ext cx="8763000" cy="2031325"/>
          </a:xfrm>
          <a:prstGeom prst="rect">
            <a:avLst/>
          </a:prstGeom>
          <a:noFill/>
        </p:spPr>
        <p:txBody>
          <a:bodyPr wrap="square">
            <a:spAutoFit/>
          </a:bodyPr>
          <a:lstStyle/>
          <a:p>
            <a:pPr>
              <a:buNone/>
            </a:pPr>
            <a:r>
              <a:rPr lang="en-US" sz="1400" b="1" dirty="0"/>
              <a:t>🧑‍💼 Persona: Alex Taylor – Procurement Manager</a:t>
            </a:r>
          </a:p>
          <a:p>
            <a:pPr>
              <a:buFont typeface="Arial" panose="020B0604020202020204" pitchFamily="34" charset="0"/>
              <a:buChar char="•"/>
            </a:pPr>
            <a:r>
              <a:rPr lang="en-US" sz="1400" b="1" dirty="0"/>
              <a:t> Age:</a:t>
            </a:r>
            <a:r>
              <a:rPr lang="en-US" sz="1400" dirty="0"/>
              <a:t> 34</a:t>
            </a:r>
          </a:p>
          <a:p>
            <a:pPr>
              <a:buFont typeface="Arial" panose="020B0604020202020204" pitchFamily="34" charset="0"/>
              <a:buChar char="•"/>
            </a:pPr>
            <a:r>
              <a:rPr lang="en-US" sz="1400" b="1" dirty="0"/>
              <a:t> Location:</a:t>
            </a:r>
            <a:r>
              <a:rPr lang="en-US" sz="1400" dirty="0"/>
              <a:t> Chicago, USA</a:t>
            </a:r>
          </a:p>
          <a:p>
            <a:pPr>
              <a:buFont typeface="Arial" panose="020B0604020202020204" pitchFamily="34" charset="0"/>
              <a:buChar char="•"/>
            </a:pPr>
            <a:r>
              <a:rPr lang="en-US" sz="1400" b="1" dirty="0"/>
              <a:t> Industry:</a:t>
            </a:r>
            <a:r>
              <a:rPr lang="en-US" sz="1400" dirty="0"/>
              <a:t> Manufacturing</a:t>
            </a:r>
          </a:p>
          <a:p>
            <a:pPr>
              <a:buFont typeface="Arial" panose="020B0604020202020204" pitchFamily="34" charset="0"/>
              <a:buChar char="•"/>
            </a:pPr>
            <a:r>
              <a:rPr lang="en-US" sz="1400" b="1" dirty="0"/>
              <a:t> Role:</a:t>
            </a:r>
            <a:r>
              <a:rPr lang="en-US" sz="1400" dirty="0"/>
              <a:t> Manages procurement for factory suppliers</a:t>
            </a:r>
          </a:p>
          <a:p>
            <a:pPr>
              <a:buFont typeface="Arial" panose="020B0604020202020204" pitchFamily="34" charset="0"/>
              <a:buChar char="•"/>
            </a:pPr>
            <a:r>
              <a:rPr lang="en-US" sz="1400" b="1" dirty="0"/>
              <a:t> Goals:</a:t>
            </a:r>
            <a:endParaRPr lang="en-US" sz="1400" dirty="0"/>
          </a:p>
          <a:p>
            <a:pPr marL="742950" lvl="1" indent="-285750">
              <a:buFont typeface="Arial" panose="020B0604020202020204" pitchFamily="34" charset="0"/>
              <a:buChar char="•"/>
            </a:pPr>
            <a:r>
              <a:rPr lang="en-US" sz="1400" dirty="0"/>
              <a:t>Quickly find suppliers</a:t>
            </a:r>
          </a:p>
          <a:p>
            <a:pPr marL="742950" lvl="1" indent="-285750">
              <a:buFont typeface="Arial" panose="020B0604020202020204" pitchFamily="34" charset="0"/>
              <a:buChar char="•"/>
            </a:pPr>
            <a:r>
              <a:rPr lang="en-US" sz="1400" dirty="0"/>
              <a:t>Ensure availability to take orders based on size</a:t>
            </a:r>
          </a:p>
          <a:p>
            <a:pPr marL="742950" lvl="1" indent="-285750">
              <a:buFont typeface="Arial" panose="020B0604020202020204" pitchFamily="34" charset="0"/>
              <a:buChar char="•"/>
            </a:pPr>
            <a:r>
              <a:rPr lang="en-US" sz="1400" dirty="0" err="1"/>
              <a:t>anage</a:t>
            </a:r>
            <a:r>
              <a:rPr lang="en-US" sz="1400" dirty="0"/>
              <a:t> suppliers </a:t>
            </a:r>
          </a:p>
        </p:txBody>
      </p:sp>
      <p:sp>
        <p:nvSpPr>
          <p:cNvPr id="9" name="TextBox 8">
            <a:extLst>
              <a:ext uri="{FF2B5EF4-FFF2-40B4-BE49-F238E27FC236}">
                <a16:creationId xmlns:a16="http://schemas.microsoft.com/office/drawing/2014/main" id="{78D09F02-65AB-62F5-1542-AD95FB99E009}"/>
              </a:ext>
            </a:extLst>
          </p:cNvPr>
          <p:cNvSpPr txBox="1"/>
          <p:nvPr/>
        </p:nvSpPr>
        <p:spPr>
          <a:xfrm>
            <a:off x="152400" y="3260853"/>
            <a:ext cx="4572000" cy="1384995"/>
          </a:xfrm>
          <a:prstGeom prst="rect">
            <a:avLst/>
          </a:prstGeom>
          <a:noFill/>
        </p:spPr>
        <p:txBody>
          <a:bodyPr wrap="square">
            <a:spAutoFit/>
          </a:bodyPr>
          <a:lstStyle/>
          <a:p>
            <a:pPr>
              <a:buNone/>
            </a:pPr>
            <a:r>
              <a:rPr lang="en-US" sz="1400" b="1" dirty="0"/>
              <a:t>🎯 Objective</a:t>
            </a:r>
          </a:p>
          <a:p>
            <a:pPr>
              <a:buNone/>
            </a:pPr>
            <a:r>
              <a:rPr lang="en-US" sz="1400" dirty="0"/>
              <a:t>Design a user-friendly </a:t>
            </a:r>
            <a:r>
              <a:rPr lang="en-US" sz="1400" b="1" dirty="0"/>
              <a:t>mobile app</a:t>
            </a:r>
            <a:r>
              <a:rPr lang="en-US" sz="1400" dirty="0"/>
              <a:t> that allows Alex to:</a:t>
            </a:r>
          </a:p>
          <a:p>
            <a:pPr>
              <a:buFont typeface="Arial" panose="020B0604020202020204" pitchFamily="34" charset="0"/>
              <a:buChar char="•"/>
            </a:pPr>
            <a:r>
              <a:rPr lang="en-US" sz="1400" dirty="0"/>
              <a:t> Browse available products</a:t>
            </a:r>
          </a:p>
          <a:p>
            <a:pPr>
              <a:buFont typeface="Arial" panose="020B0604020202020204" pitchFamily="34" charset="0"/>
              <a:buChar char="•"/>
            </a:pPr>
            <a:r>
              <a:rPr lang="en-US" sz="1400" dirty="0"/>
              <a:t> View detailed product information</a:t>
            </a:r>
          </a:p>
          <a:p>
            <a:pPr>
              <a:buFont typeface="Arial" panose="020B0604020202020204" pitchFamily="34" charset="0"/>
              <a:buChar char="•"/>
            </a:pPr>
            <a:r>
              <a:rPr lang="en-US" sz="1400" dirty="0"/>
              <a:t> Add items to a shopping cart</a:t>
            </a:r>
          </a:p>
          <a:p>
            <a:pPr>
              <a:buFont typeface="Arial" panose="020B0604020202020204" pitchFamily="34" charset="0"/>
              <a:buChar char="•"/>
            </a:pPr>
            <a:r>
              <a:rPr lang="en-US" sz="1400" dirty="0"/>
              <a:t> Place and track orders</a:t>
            </a:r>
          </a:p>
        </p:txBody>
      </p:sp>
      <p:pic>
        <p:nvPicPr>
          <p:cNvPr id="10" name="Picture 2" descr="Man manager administrator consultant avatar Vector Image">
            <a:extLst>
              <a:ext uri="{FF2B5EF4-FFF2-40B4-BE49-F238E27FC236}">
                <a16:creationId xmlns:a16="http://schemas.microsoft.com/office/drawing/2014/main" id="{091F9B7B-6874-8056-E5A6-614891E5D0F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9218" t="8000" r="11483" b="18500"/>
          <a:stretch/>
        </p:blipFill>
        <p:spPr bwMode="auto">
          <a:xfrm>
            <a:off x="5334000" y="1041902"/>
            <a:ext cx="3295298" cy="3364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18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E3F0-2804-265C-9E61-EE6FA4E20AB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C5542A-DC96-626B-E5F6-190D12EE38BA}"/>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E271DA9A-72DF-1184-B710-D2128B603FDC}"/>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5</a:t>
            </a:fld>
            <a:endParaRPr lang="en-US" dirty="0"/>
          </a:p>
        </p:txBody>
      </p:sp>
      <p:sp>
        <p:nvSpPr>
          <p:cNvPr id="5" name="Title 4">
            <a:extLst>
              <a:ext uri="{FF2B5EF4-FFF2-40B4-BE49-F238E27FC236}">
                <a16:creationId xmlns:a16="http://schemas.microsoft.com/office/drawing/2014/main" id="{C2FF114F-62C7-5E71-E8BB-11CB01088A8C}"/>
              </a:ext>
            </a:extLst>
          </p:cNvPr>
          <p:cNvSpPr>
            <a:spLocks noGrp="1"/>
          </p:cNvSpPr>
          <p:nvPr>
            <p:ph type="title"/>
          </p:nvPr>
        </p:nvSpPr>
        <p:spPr>
          <a:xfrm>
            <a:off x="76200" y="133350"/>
            <a:ext cx="8229600" cy="533401"/>
          </a:xfrm>
        </p:spPr>
        <p:txBody>
          <a:bodyPr/>
          <a:lstStyle/>
          <a:p>
            <a:r>
              <a:rPr lang="en-US" sz="2500" dirty="0">
                <a:latin typeface="Cooper Black" panose="0208090404030B020404" pitchFamily="18" charset="0"/>
              </a:rPr>
              <a:t>Binding Concept</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CD292EDF-818D-7ED7-4507-6F85E9B08B38}"/>
              </a:ext>
            </a:extLst>
          </p:cNvPr>
          <p:cNvSpPr txBox="1"/>
          <p:nvPr/>
        </p:nvSpPr>
        <p:spPr>
          <a:xfrm>
            <a:off x="152400" y="971549"/>
            <a:ext cx="8839200" cy="4069557"/>
          </a:xfrm>
          <a:prstGeom prst="rect">
            <a:avLst/>
          </a:prstGeom>
        </p:spPr>
        <p:txBody>
          <a:bodyPr vert="horz" lIns="91440" tIns="45720" rIns="91440" bIns="45720" rtlCol="0">
            <a:normAutofit/>
          </a:bodyPr>
          <a:lstStyle/>
          <a:p>
            <a:pPr algn="l">
              <a:lnSpc>
                <a:spcPts val="1800"/>
              </a:lnSpc>
              <a:spcAft>
                <a:spcPts val="1500"/>
              </a:spcAft>
              <a:buNone/>
            </a:pPr>
            <a:r>
              <a:rPr lang="en-US" sz="1400" b="0" i="0" dirty="0">
                <a:solidFill>
                  <a:srgbClr val="1F1F1F"/>
                </a:solidFill>
                <a:effectLst/>
                <a:latin typeface="72 Brand Variable"/>
              </a:rPr>
              <a:t>You created a data variable for the </a:t>
            </a:r>
            <a:r>
              <a:rPr lang="en-US" sz="1400" b="1" i="0" dirty="0">
                <a:solidFill>
                  <a:srgbClr val="1F1F1F"/>
                </a:solidFill>
                <a:effectLst/>
                <a:latin typeface="72 Brand Variable"/>
              </a:rPr>
              <a:t>Products</a:t>
            </a:r>
            <a:r>
              <a:rPr lang="en-US" sz="1400" b="0" i="0" dirty="0">
                <a:solidFill>
                  <a:srgbClr val="1F1F1F"/>
                </a:solidFill>
                <a:effectLst/>
                <a:latin typeface="72 Brand Variable"/>
              </a:rPr>
              <a:t> data, and the logic for retrieving the data was created automatically. Now you need to tell the app what to display.</a:t>
            </a:r>
          </a:p>
          <a:p>
            <a:pPr algn="l">
              <a:lnSpc>
                <a:spcPts val="1800"/>
              </a:lnSpc>
              <a:spcAft>
                <a:spcPts val="1500"/>
              </a:spcAft>
              <a:buNone/>
            </a:pPr>
            <a:r>
              <a:rPr lang="en-US" sz="1400" b="0" i="0" dirty="0">
                <a:solidFill>
                  <a:srgbClr val="1F1F1F"/>
                </a:solidFill>
                <a:effectLst/>
                <a:latin typeface="72 Brand Variable"/>
              </a:rPr>
              <a:t>To do this, you create bindings for your UI components, indicating what data you want to display in your component, whether from:</a:t>
            </a:r>
          </a:p>
          <a:p>
            <a:pPr algn="l">
              <a:lnSpc>
                <a:spcPts val="1800"/>
              </a:lnSpc>
              <a:buFont typeface="Arial" panose="020B0604020202020204" pitchFamily="34" charset="0"/>
              <a:buChar char="•"/>
            </a:pPr>
            <a:r>
              <a:rPr lang="en-US" sz="1400" b="0" i="0" dirty="0">
                <a:solidFill>
                  <a:srgbClr val="1F1F1F"/>
                </a:solidFill>
                <a:effectLst/>
                <a:latin typeface="72 Brand Variable"/>
              </a:rPr>
              <a:t>Static values</a:t>
            </a:r>
          </a:p>
          <a:p>
            <a:pPr algn="l">
              <a:lnSpc>
                <a:spcPts val="1800"/>
              </a:lnSpc>
              <a:buFont typeface="Arial" panose="020B0604020202020204" pitchFamily="34" charset="0"/>
              <a:buChar char="•"/>
            </a:pPr>
            <a:r>
              <a:rPr lang="en-US" sz="1400" b="0" i="0" dirty="0">
                <a:solidFill>
                  <a:srgbClr val="1F1F1F"/>
                </a:solidFill>
                <a:effectLst/>
                <a:latin typeface="72 Brand Variable"/>
              </a:rPr>
              <a:t>Calculated values</a:t>
            </a:r>
          </a:p>
          <a:p>
            <a:pPr algn="l">
              <a:lnSpc>
                <a:spcPts val="1800"/>
              </a:lnSpc>
              <a:buFont typeface="Arial" panose="020B0604020202020204" pitchFamily="34" charset="0"/>
              <a:buChar char="•"/>
            </a:pPr>
            <a:r>
              <a:rPr lang="en-US" sz="1400" b="0" i="0" dirty="0">
                <a:solidFill>
                  <a:srgbClr val="1F1F1F"/>
                </a:solidFill>
                <a:effectLst/>
                <a:latin typeface="72 Brand Variable"/>
              </a:rPr>
              <a:t>Values from variables</a:t>
            </a:r>
          </a:p>
          <a:p>
            <a:pPr algn="l">
              <a:lnSpc>
                <a:spcPts val="1800"/>
              </a:lnSpc>
              <a:buFont typeface="Arial" panose="020B0604020202020204" pitchFamily="34" charset="0"/>
              <a:buChar char="•"/>
            </a:pPr>
            <a:r>
              <a:rPr lang="en-US" sz="1400" b="0" i="0" dirty="0">
                <a:solidFill>
                  <a:srgbClr val="1F1F1F"/>
                </a:solidFill>
                <a:effectLst/>
                <a:latin typeface="72 Brand Variable"/>
              </a:rPr>
              <a:t>… or other sources</a:t>
            </a:r>
          </a:p>
          <a:p>
            <a:pPr algn="l">
              <a:lnSpc>
                <a:spcPts val="1800"/>
              </a:lnSpc>
              <a:buFont typeface="Arial" panose="020B0604020202020204" pitchFamily="34" charset="0"/>
              <a:buChar char="•"/>
            </a:pPr>
            <a:endParaRPr lang="en-US" sz="1400" dirty="0">
              <a:solidFill>
                <a:srgbClr val="1F1F1F"/>
              </a:solidFill>
              <a:latin typeface="72 Brand Variable"/>
            </a:endParaRPr>
          </a:p>
          <a:p>
            <a:pPr algn="l">
              <a:lnSpc>
                <a:spcPts val="1800"/>
              </a:lnSpc>
            </a:pPr>
            <a:r>
              <a:rPr lang="en-US" sz="1400" b="1" i="0" dirty="0">
                <a:solidFill>
                  <a:srgbClr val="1F1F1F"/>
                </a:solidFill>
                <a:effectLst/>
                <a:latin typeface="72 Brand Variable"/>
              </a:rPr>
              <a:t>How Binding works</a:t>
            </a:r>
          </a:p>
          <a:p>
            <a:pPr algn="l">
              <a:lnSpc>
                <a:spcPts val="1800"/>
              </a:lnSpc>
            </a:pPr>
            <a:r>
              <a:rPr lang="en-US" sz="1400" b="0" i="0" dirty="0">
                <a:solidFill>
                  <a:srgbClr val="1F1F1F"/>
                </a:solidFill>
                <a:effectLst/>
                <a:latin typeface="72 Brand Variable"/>
              </a:rPr>
              <a:t>When you configure a UI component (or later a logic component called a “flow function”), generally you do this with binding.</a:t>
            </a:r>
          </a:p>
          <a:p>
            <a:pPr algn="l">
              <a:lnSpc>
                <a:spcPts val="1800"/>
              </a:lnSpc>
            </a:pPr>
            <a:r>
              <a:rPr lang="en-US" sz="1400" b="0" i="0" dirty="0">
                <a:solidFill>
                  <a:srgbClr val="1F1F1F"/>
                </a:solidFill>
                <a:effectLst/>
                <a:latin typeface="72 Brand Variable"/>
              </a:rPr>
              <a:t>For most properties, there is a binding icon that indicates what type of binding is used. For example, you can use static text for a text field, or you can show text from a backend service and use a binding to a data variable.</a:t>
            </a:r>
          </a:p>
        </p:txBody>
      </p:sp>
    </p:spTree>
    <p:extLst>
      <p:ext uri="{BB962C8B-B14F-4D97-AF65-F5344CB8AC3E}">
        <p14:creationId xmlns:p14="http://schemas.microsoft.com/office/powerpoint/2010/main" val="42383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F437-A219-1D5D-346E-39544ABE177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401CC6-5248-ECE6-BB95-3CD9D669DF13}"/>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1ED2F5EA-C684-78C8-B973-28AAFE5B9098}"/>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6</a:t>
            </a:fld>
            <a:endParaRPr lang="en-US" dirty="0"/>
          </a:p>
        </p:txBody>
      </p:sp>
      <p:sp>
        <p:nvSpPr>
          <p:cNvPr id="5" name="Title 4">
            <a:extLst>
              <a:ext uri="{FF2B5EF4-FFF2-40B4-BE49-F238E27FC236}">
                <a16:creationId xmlns:a16="http://schemas.microsoft.com/office/drawing/2014/main" id="{797718A0-B759-2B18-24DC-5BFCFDE32923}"/>
              </a:ext>
            </a:extLst>
          </p:cNvPr>
          <p:cNvSpPr>
            <a:spLocks noGrp="1"/>
          </p:cNvSpPr>
          <p:nvPr>
            <p:ph type="title"/>
          </p:nvPr>
        </p:nvSpPr>
        <p:spPr>
          <a:xfrm>
            <a:off x="76200" y="133350"/>
            <a:ext cx="8229600" cy="533401"/>
          </a:xfrm>
        </p:spPr>
        <p:txBody>
          <a:bodyPr/>
          <a:lstStyle/>
          <a:p>
            <a:r>
              <a:rPr lang="en-US" sz="2500" dirty="0">
                <a:latin typeface="Cooper Black" panose="0208090404030B020404" pitchFamily="18" charset="0"/>
              </a:rPr>
              <a:t>What is repeat?</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1AB65789-E4EB-3F19-FF46-B2B53C6B3102}"/>
              </a:ext>
            </a:extLst>
          </p:cNvPr>
          <p:cNvSpPr txBox="1"/>
          <p:nvPr/>
        </p:nvSpPr>
        <p:spPr>
          <a:xfrm>
            <a:off x="152400" y="971549"/>
            <a:ext cx="8839200" cy="4069557"/>
          </a:xfrm>
          <a:prstGeom prst="rect">
            <a:avLst/>
          </a:prstGeom>
        </p:spPr>
        <p:txBody>
          <a:bodyPr vert="horz" lIns="91440" tIns="45720" rIns="91440" bIns="45720" rtlCol="0">
            <a:normAutofit/>
          </a:bodyPr>
          <a:lstStyle/>
          <a:p>
            <a:pPr algn="l">
              <a:lnSpc>
                <a:spcPts val="1800"/>
              </a:lnSpc>
              <a:spcAft>
                <a:spcPts val="1500"/>
              </a:spcAft>
              <a:buNone/>
            </a:pPr>
            <a:r>
              <a:rPr lang="en-US" sz="1400" b="0" i="0" dirty="0">
                <a:solidFill>
                  <a:srgbClr val="1F1F1F"/>
                </a:solidFill>
                <a:effectLst/>
                <a:latin typeface="72 Brand Variable"/>
              </a:rPr>
              <a:t>The </a:t>
            </a:r>
            <a:r>
              <a:rPr lang="en-US" sz="1400" b="1" i="0" dirty="0">
                <a:solidFill>
                  <a:srgbClr val="1F1F1F"/>
                </a:solidFill>
                <a:effectLst/>
                <a:latin typeface="72 Brand Variable"/>
              </a:rPr>
              <a:t>Repeat with</a:t>
            </a:r>
            <a:r>
              <a:rPr lang="en-US" sz="1400" b="0" i="0" dirty="0">
                <a:solidFill>
                  <a:srgbClr val="1F1F1F"/>
                </a:solidFill>
                <a:effectLst/>
                <a:latin typeface="72 Brand Variable"/>
              </a:rPr>
              <a:t> property lets you create multiple copies of a component by supplying a list – this will repeat the component based on the number of elements in your list, for example, the number of products in our list. The list can be hardcoded, or can be located in a variable (like in our case), or based on a formula.</a:t>
            </a:r>
          </a:p>
          <a:p>
            <a:pPr algn="l">
              <a:lnSpc>
                <a:spcPts val="1800"/>
              </a:lnSpc>
              <a:spcAft>
                <a:spcPts val="1500"/>
              </a:spcAft>
            </a:pPr>
            <a:r>
              <a:rPr lang="en-US" sz="1400" b="0" i="0" dirty="0">
                <a:solidFill>
                  <a:srgbClr val="1F1F1F"/>
                </a:solidFill>
                <a:effectLst/>
                <a:latin typeface="72 Brand Variable"/>
              </a:rPr>
              <a:t>Once you set the </a:t>
            </a:r>
            <a:r>
              <a:rPr lang="en-US" sz="1400" b="1" i="0" dirty="0">
                <a:solidFill>
                  <a:srgbClr val="1F1F1F"/>
                </a:solidFill>
                <a:effectLst/>
                <a:latin typeface="72 Brand Variable"/>
              </a:rPr>
              <a:t>Repeat with</a:t>
            </a:r>
            <a:r>
              <a:rPr lang="en-US" sz="1400" b="0" i="0" dirty="0">
                <a:solidFill>
                  <a:srgbClr val="1F1F1F"/>
                </a:solidFill>
                <a:effectLst/>
                <a:latin typeface="72 Brand Variable"/>
              </a:rPr>
              <a:t> property, you then get the </a:t>
            </a:r>
            <a:r>
              <a:rPr lang="en-US" sz="1400" b="1" i="0" dirty="0">
                <a:solidFill>
                  <a:srgbClr val="1F1F1F"/>
                </a:solidFill>
                <a:effectLst/>
                <a:latin typeface="72 Brand Variable"/>
              </a:rPr>
              <a:t>Data item in repeat</a:t>
            </a:r>
            <a:r>
              <a:rPr lang="en-US" sz="1400" b="0" i="0" dirty="0">
                <a:solidFill>
                  <a:srgbClr val="1F1F1F"/>
                </a:solidFill>
                <a:effectLst/>
                <a:latin typeface="72 Brand Variable"/>
              </a:rPr>
              <a:t> binding option for the other properties in the component. You can now access values within each list item. So the data in the first item will be displayed in the first copy of the component, the data in the second item in the second copy of the component, and so on.</a:t>
            </a:r>
          </a:p>
        </p:txBody>
      </p:sp>
    </p:spTree>
    <p:extLst>
      <p:ext uri="{BB962C8B-B14F-4D97-AF65-F5344CB8AC3E}">
        <p14:creationId xmlns:p14="http://schemas.microsoft.com/office/powerpoint/2010/main" val="395514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5D2C93-0120-CCFC-9609-5065A85D5191}"/>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8C7B24C2-E0A7-CEBF-F7A8-383001851AF8}"/>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 name="Title 3">
            <a:extLst>
              <a:ext uri="{FF2B5EF4-FFF2-40B4-BE49-F238E27FC236}">
                <a16:creationId xmlns:a16="http://schemas.microsoft.com/office/drawing/2014/main" id="{3926B177-165E-9165-72C4-FD0C520A2E18}"/>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B080056-AF3B-2DD1-1233-CD37BCC6426B}"/>
                  </a:ext>
                </a:extLst>
              </p14:cNvPr>
              <p14:cNvContentPartPr/>
              <p14:nvPr/>
            </p14:nvContentPartPr>
            <p14:xfrm>
              <a:off x="1315357" y="-14658"/>
              <a:ext cx="360" cy="360"/>
            </p14:xfrm>
          </p:contentPart>
        </mc:Choice>
        <mc:Fallback xmlns="">
          <p:pic>
            <p:nvPicPr>
              <p:cNvPr id="5" name="Ink 4">
                <a:extLst>
                  <a:ext uri="{FF2B5EF4-FFF2-40B4-BE49-F238E27FC236}">
                    <a16:creationId xmlns:a16="http://schemas.microsoft.com/office/drawing/2014/main" id="{AB080056-AF3B-2DD1-1233-CD37BCC6426B}"/>
                  </a:ext>
                </a:extLst>
              </p:cNvPr>
              <p:cNvPicPr/>
              <p:nvPr/>
            </p:nvPicPr>
            <p:blipFill>
              <a:blip r:embed="rId3"/>
              <a:stretch>
                <a:fillRect/>
              </a:stretch>
            </p:blipFill>
            <p:spPr>
              <a:xfrm>
                <a:off x="1306357" y="-23658"/>
                <a:ext cx="18000" cy="18000"/>
              </a:xfrm>
              <a:prstGeom prst="rect">
                <a:avLst/>
              </a:prstGeom>
            </p:spPr>
          </p:pic>
        </mc:Fallback>
      </mc:AlternateContent>
    </p:spTree>
    <p:extLst>
      <p:ext uri="{BB962C8B-B14F-4D97-AF65-F5344CB8AC3E}">
        <p14:creationId xmlns:p14="http://schemas.microsoft.com/office/powerpoint/2010/main" val="720877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a:solidFill>
                  <a:srgbClr val="75C042"/>
                </a:solidFill>
                <a:latin typeface="Segoe UI" panose="020B0502040204020203" pitchFamily="34" charset="0"/>
                <a:ea typeface="Calibri Light" charset="0"/>
                <a:cs typeface="Segoe UI" panose="020B0502040204020203" pitchFamily="34" charset="0"/>
              </a:rPr>
              <a:t>Day 23</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2395</TotalTime>
  <Words>554</Words>
  <Application>Microsoft Office PowerPoint</Application>
  <PresentationFormat>On-screen Show (16:9)</PresentationFormat>
  <Paragraphs>74</Paragraphs>
  <Slides>10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72 Brand Variable</vt:lpstr>
      <vt:lpstr>Arial</vt:lpstr>
      <vt:lpstr>Calibri</vt:lpstr>
      <vt:lpstr>Cambria</vt:lpstr>
      <vt:lpstr>Cooper Black</vt:lpstr>
      <vt:lpstr>Segoe UI</vt:lpstr>
      <vt:lpstr>Segoe UI Light</vt:lpstr>
      <vt:lpstr>Office Theme</vt:lpstr>
      <vt:lpstr>SAP Build Training for Corporate Professionals</vt:lpstr>
      <vt:lpstr>PowerPoint Presentation</vt:lpstr>
      <vt:lpstr>Agenda</vt:lpstr>
      <vt:lpstr>Scenario – Shopping cart App</vt:lpstr>
      <vt:lpstr>Binding Concept</vt:lpstr>
      <vt:lpstr>What is repeat?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145</cp:revision>
  <dcterms:created xsi:type="dcterms:W3CDTF">2013-12-05T19:37:13Z</dcterms:created>
  <dcterms:modified xsi:type="dcterms:W3CDTF">2025-08-12T15:55:16Z</dcterms:modified>
</cp:coreProperties>
</file>