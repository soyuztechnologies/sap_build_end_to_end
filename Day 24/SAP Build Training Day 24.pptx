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494" r:id="rId3"/>
    <p:sldId id="265" r:id="rId4"/>
    <p:sldId id="519" r:id="rId5"/>
    <p:sldId id="564" r:id="rId6"/>
    <p:sldId id="310" r:id="rId7"/>
    <p:sldId id="531" r:id="rId8"/>
    <p:sldId id="537" r:id="rId9"/>
    <p:sldId id="495" r:id="rId10"/>
    <p:sldId id="496" r:id="rId11"/>
    <p:sldId id="497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14,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de-de/foto/mann-zeigt-laptop-computer-2182981/" TargetMode="Externa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pexels.com/video/call-center-agents-talking-to-customers-while-using-cellphone-and-laptop-7682761/" TargetMode="Externa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help.sap.com/docs/build-process-automation/sap-build-process-automation/configure-sap-build-process-automation-destinations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jpeg"/><Relationship Id="rId7" Type="http://schemas.openxmlformats.org/officeDocument/2006/relationships/image" Target="../media/image1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5.tiff"/><Relationship Id="rId5" Type="http://schemas.openxmlformats.org/officeDocument/2006/relationships/image" Target="../media/image14.tiff"/><Relationship Id="rId4" Type="http://schemas.openxmlformats.org/officeDocument/2006/relationships/image" Target="../media/image13.tiff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DAY-24</a:t>
            </a: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Deploy Build Process for approval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Update total value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Add items to cart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Create Cart Order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63B7F-D73C-B314-685F-FE5912A65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5BAD24-F3AE-4B53-2ADD-4DAA33640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6C8C1-160D-9728-CAB8-063F64A7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9AD0A5-FBCE-4FE0-50ED-4BD18899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US" sz="2500">
                <a:latin typeface="Cooper Black" panose="0208090404030B020404" pitchFamily="18" charset="0"/>
              </a:rPr>
              <a:t>Scenario – Shopping cart App</a:t>
            </a:r>
            <a:endParaRPr lang="en-IN" sz="2500" dirty="0">
              <a:latin typeface="Cooper Black" panose="0208090404030B0204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3CBDE5-5451-80AE-5C54-56D7560461F2}"/>
              </a:ext>
            </a:extLst>
          </p:cNvPr>
          <p:cNvSpPr txBox="1"/>
          <p:nvPr/>
        </p:nvSpPr>
        <p:spPr>
          <a:xfrm>
            <a:off x="152400" y="1078139"/>
            <a:ext cx="8763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🧑‍💼 Persona: Alex Taylor – Procurement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Age:</a:t>
            </a:r>
            <a:r>
              <a:rPr lang="en-US" sz="1400" dirty="0"/>
              <a:t> 34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Location:</a:t>
            </a:r>
            <a:r>
              <a:rPr lang="en-US" sz="1400" dirty="0"/>
              <a:t> Chicago, USA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Industry:</a:t>
            </a:r>
            <a:r>
              <a:rPr lang="en-US" sz="1400" dirty="0"/>
              <a:t> Manufacturing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Role:</a:t>
            </a:r>
            <a:r>
              <a:rPr lang="en-US" sz="1400" dirty="0"/>
              <a:t> Manages procurement for factory suppliers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Goals:</a:t>
            </a:r>
            <a:endParaRPr lang="en-US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Quickly find suppliers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Ensure availability to take orders based on size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anage</a:t>
            </a:r>
            <a:r>
              <a:rPr lang="en-US" sz="1400" dirty="0"/>
              <a:t> suppliers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09F02-65AB-62F5-1542-AD95FB99E009}"/>
              </a:ext>
            </a:extLst>
          </p:cNvPr>
          <p:cNvSpPr txBox="1"/>
          <p:nvPr/>
        </p:nvSpPr>
        <p:spPr>
          <a:xfrm>
            <a:off x="152400" y="3260853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🎯 Objective</a:t>
            </a:r>
          </a:p>
          <a:p>
            <a:pPr>
              <a:buNone/>
            </a:pPr>
            <a:r>
              <a:rPr lang="en-US" sz="1400" dirty="0"/>
              <a:t>Design a user-friendly </a:t>
            </a:r>
            <a:r>
              <a:rPr lang="en-US" sz="1400" b="1" dirty="0"/>
              <a:t>mobile app</a:t>
            </a:r>
            <a:r>
              <a:rPr lang="en-US" sz="1400" dirty="0"/>
              <a:t> that allows Alex 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Browse available products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View detailed product information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Add items to a shopping cart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Place and track orders</a:t>
            </a:r>
          </a:p>
        </p:txBody>
      </p:sp>
      <p:pic>
        <p:nvPicPr>
          <p:cNvPr id="10" name="Picture 2" descr="Man manager administrator consultant avatar Vector Image">
            <a:extLst>
              <a:ext uri="{FF2B5EF4-FFF2-40B4-BE49-F238E27FC236}">
                <a16:creationId xmlns:a16="http://schemas.microsoft.com/office/drawing/2014/main" id="{091F9B7B-6874-8056-E5A6-614891E5D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18" t="8000" r="11483" b="18500"/>
          <a:stretch/>
        </p:blipFill>
        <p:spPr bwMode="auto">
          <a:xfrm>
            <a:off x="5334000" y="1041902"/>
            <a:ext cx="3295298" cy="3364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181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1E1E4C6-DA8B-09E9-5620-E8770B6FA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3DA45B-5846-467C-26B7-6ED60C794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6803AF-8B29-B3E3-A72B-4E29B7394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Create Cart Payload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DF2752-6382-7904-082F-BF6D1CEE04F4}"/>
              </a:ext>
            </a:extLst>
          </p:cNvPr>
          <p:cNvSpPr txBox="1"/>
          <p:nvPr/>
        </p:nvSpPr>
        <p:spPr>
          <a:xfrm>
            <a:off x="181739" y="1123950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 "product": </a:t>
            </a:r>
            <a:r>
              <a:rPr lang="en-IN" dirty="0" err="1"/>
              <a:t>data.singleProductSelected.Name</a:t>
            </a:r>
            <a:r>
              <a:rPr lang="en-IN" dirty="0"/>
              <a:t>,            "quantity": </a:t>
            </a:r>
            <a:r>
              <a:rPr lang="en-IN" dirty="0" err="1"/>
              <a:t>pageVars.quantity</a:t>
            </a:r>
            <a:r>
              <a:rPr lang="en-IN" dirty="0"/>
              <a:t>,            "price": </a:t>
            </a:r>
            <a:r>
              <a:rPr lang="en-IN" dirty="0" err="1"/>
              <a:t>data.singleProductSelected.Price</a:t>
            </a:r>
            <a:r>
              <a:rPr lang="en-IN" dirty="0"/>
              <a:t>,            "total": NUMBER( </a:t>
            </a:r>
            <a:r>
              <a:rPr lang="en-IN" dirty="0" err="1"/>
              <a:t>pageVars.quantity</a:t>
            </a:r>
            <a:r>
              <a:rPr lang="en-IN" dirty="0"/>
              <a:t> * </a:t>
            </a:r>
            <a:r>
              <a:rPr lang="en-IN" dirty="0" err="1"/>
              <a:t>data.singleProductSelected.Price</a:t>
            </a:r>
            <a:r>
              <a:rPr lang="en-IN" dirty="0"/>
              <a:t>),            "</a:t>
            </a:r>
            <a:r>
              <a:rPr lang="en-IN" dirty="0" err="1"/>
              <a:t>currency_code</a:t>
            </a:r>
            <a:r>
              <a:rPr lang="en-IN" dirty="0"/>
              <a:t>": "USD",            "</a:t>
            </a:r>
            <a:r>
              <a:rPr lang="en-IN" dirty="0" err="1"/>
              <a:t>order_ID</a:t>
            </a:r>
            <a:r>
              <a:rPr lang="en-IN" dirty="0"/>
              <a:t>": </a:t>
            </a:r>
            <a:r>
              <a:rPr lang="en-IN" dirty="0" err="1"/>
              <a:t>appVars.orderId</a:t>
            </a:r>
            <a:r>
              <a:rPr lang="en-IN" dirty="0"/>
              <a:t>        }</a:t>
            </a:r>
          </a:p>
        </p:txBody>
      </p:sp>
    </p:spTree>
    <p:extLst>
      <p:ext uri="{BB962C8B-B14F-4D97-AF65-F5344CB8AC3E}">
        <p14:creationId xmlns:p14="http://schemas.microsoft.com/office/powerpoint/2010/main" val="2064473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49A91-9CCE-D194-2F1E-488EA18BA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CFD143-0DF2-50BD-4070-A16162164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BDB00-DC60-80E6-04F5-6B41F4B87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B825DE-D275-21D9-5079-6B46978EE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</a:t>
            </a:r>
          </a:p>
        </p:txBody>
      </p:sp>
      <p:pic>
        <p:nvPicPr>
          <p:cNvPr id="6" name="Picture 5" descr="A person pointing at a computer&#10;&#10;Description automatically generated">
            <a:extLst>
              <a:ext uri="{FF2B5EF4-FFF2-40B4-BE49-F238E27FC236}">
                <a16:creationId xmlns:a16="http://schemas.microsoft.com/office/drawing/2014/main" id="{6E25B006-F379-0963-9334-A18A5839D0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36075" y="971550"/>
            <a:ext cx="2126125" cy="1450219"/>
          </a:xfrm>
          <a:prstGeom prst="rect">
            <a:avLst/>
          </a:prstGeom>
        </p:spPr>
      </p:pic>
      <p:pic>
        <p:nvPicPr>
          <p:cNvPr id="8" name="Picture 7" descr="A person wearing a headset and looking at a computer&#10;&#10;Description automatically generated">
            <a:extLst>
              <a:ext uri="{FF2B5EF4-FFF2-40B4-BE49-F238E27FC236}">
                <a16:creationId xmlns:a16="http://schemas.microsoft.com/office/drawing/2014/main" id="{CB379A3E-C337-0EF8-8937-7E680FAEC8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507864" y="715798"/>
            <a:ext cx="1309939" cy="14806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0B23B1-780E-AEA9-725D-C38C97CD7437}"/>
              </a:ext>
            </a:extLst>
          </p:cNvPr>
          <p:cNvSpPr txBox="1"/>
          <p:nvPr/>
        </p:nvSpPr>
        <p:spPr>
          <a:xfrm>
            <a:off x="236075" y="2495550"/>
            <a:ext cx="21261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Sales Representative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4F5F70-E8AA-D171-1092-2DDD578A9EA1}"/>
              </a:ext>
            </a:extLst>
          </p:cNvPr>
          <p:cNvSpPr/>
          <p:nvPr/>
        </p:nvSpPr>
        <p:spPr>
          <a:xfrm>
            <a:off x="2895600" y="959497"/>
            <a:ext cx="990600" cy="1447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Sales Order</a:t>
            </a:r>
          </a:p>
          <a:p>
            <a:pPr algn="ctr"/>
            <a:r>
              <a:rPr lang="en-IN" dirty="0"/>
              <a:t>(Build Apps)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60C656-96C5-CE72-3EDC-1CC0227806E4}"/>
              </a:ext>
            </a:extLst>
          </p:cNvPr>
          <p:cNvSpPr/>
          <p:nvPr/>
        </p:nvSpPr>
        <p:spPr>
          <a:xfrm>
            <a:off x="2061137" y="3368119"/>
            <a:ext cx="2126125" cy="685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S/4HANA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5B757AC3-0308-30BC-D283-5E6B2149DF90}"/>
              </a:ext>
            </a:extLst>
          </p:cNvPr>
          <p:cNvSpPr/>
          <p:nvPr/>
        </p:nvSpPr>
        <p:spPr>
          <a:xfrm>
            <a:off x="2362200" y="1428750"/>
            <a:ext cx="533400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91E64308-056C-8A45-3AEB-755540EBA7AE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2777139" y="2754358"/>
            <a:ext cx="960822" cy="266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555106-A687-82CC-4F6D-60C560D2878C}"/>
              </a:ext>
            </a:extLst>
          </p:cNvPr>
          <p:cNvSpPr/>
          <p:nvPr/>
        </p:nvSpPr>
        <p:spPr>
          <a:xfrm>
            <a:off x="4876800" y="590550"/>
            <a:ext cx="2478665" cy="3886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Build Process Automation</a:t>
            </a:r>
          </a:p>
          <a:p>
            <a:pPr algn="ctr"/>
            <a:r>
              <a:rPr lang="en-IN" dirty="0"/>
              <a:t>BTP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7E1720-8547-A044-6E7F-012864CA47ED}"/>
              </a:ext>
            </a:extLst>
          </p:cNvPr>
          <p:cNvSpPr/>
          <p:nvPr/>
        </p:nvSpPr>
        <p:spPr>
          <a:xfrm>
            <a:off x="5811332" y="1151300"/>
            <a:ext cx="6096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dirty="0"/>
              <a:t>approval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80BC323-2446-FCDE-0A01-2D53BF1587D0}"/>
              </a:ext>
            </a:extLst>
          </p:cNvPr>
          <p:cNvSpPr/>
          <p:nvPr/>
        </p:nvSpPr>
        <p:spPr>
          <a:xfrm>
            <a:off x="5963732" y="710148"/>
            <a:ext cx="304800" cy="24711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46BD2C-AAF6-0157-E21E-E70F9BA07118}"/>
              </a:ext>
            </a:extLst>
          </p:cNvPr>
          <p:cNvSpPr/>
          <p:nvPr/>
        </p:nvSpPr>
        <p:spPr>
          <a:xfrm>
            <a:off x="5177872" y="1712635"/>
            <a:ext cx="6096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app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01E0D3B-5331-316A-F69D-5422BF9C3919}"/>
              </a:ext>
            </a:extLst>
          </p:cNvPr>
          <p:cNvSpPr/>
          <p:nvPr/>
        </p:nvSpPr>
        <p:spPr>
          <a:xfrm>
            <a:off x="6473272" y="1706883"/>
            <a:ext cx="6096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err="1"/>
              <a:t>rej</a:t>
            </a:r>
            <a:endParaRPr lang="en-IN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E1B94AD-D938-4137-CC3B-99DA10F556CF}"/>
              </a:ext>
            </a:extLst>
          </p:cNvPr>
          <p:cNvSpPr/>
          <p:nvPr/>
        </p:nvSpPr>
        <p:spPr>
          <a:xfrm>
            <a:off x="6019800" y="2564607"/>
            <a:ext cx="248732" cy="2357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5996196-E1BE-078D-5F96-3F59DC91C490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4187262" y="2533650"/>
            <a:ext cx="689538" cy="11773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1EA5F03-E228-AA1C-C8FC-18F680677EAB}"/>
              </a:ext>
            </a:extLst>
          </p:cNvPr>
          <p:cNvCxnSpPr>
            <a:stCxn id="10" idx="3"/>
          </p:cNvCxnSpPr>
          <p:nvPr/>
        </p:nvCxnSpPr>
        <p:spPr>
          <a:xfrm>
            <a:off x="3886200" y="1683397"/>
            <a:ext cx="1020631" cy="23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B04F91E-5EE1-3BA7-4F20-44FE53A88135}"/>
              </a:ext>
            </a:extLst>
          </p:cNvPr>
          <p:cNvCxnSpPr>
            <a:cxnSpLocks/>
            <a:stCxn id="17" idx="4"/>
            <a:endCxn id="16" idx="0"/>
          </p:cNvCxnSpPr>
          <p:nvPr/>
        </p:nvCxnSpPr>
        <p:spPr>
          <a:xfrm>
            <a:off x="6116132" y="957264"/>
            <a:ext cx="0" cy="194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CA563B2D-746A-9D23-D5DC-C1435D02EC5F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rot="5400000">
            <a:off x="5671135" y="1267637"/>
            <a:ext cx="256535" cy="633460"/>
          </a:xfrm>
          <a:prstGeom prst="bentConnector3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A87D117-BA17-069E-3F18-06FFA0282869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rot="16200000" flipH="1">
            <a:off x="6321711" y="1250521"/>
            <a:ext cx="250783" cy="6619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B4980469-6E05-7BC4-7D0D-3A22DF25AE8B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16200000" flipH="1">
            <a:off x="5539833" y="1960274"/>
            <a:ext cx="547172" cy="66149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96177CBC-1AF7-4F6D-159F-83A1D15F3CD5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rot="5400000">
            <a:off x="6184657" y="1971192"/>
            <a:ext cx="552924" cy="63390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8FB7C25-1FE6-1EB8-C456-F0EB8B3C060F}"/>
              </a:ext>
            </a:extLst>
          </p:cNvPr>
          <p:cNvSpPr txBox="1"/>
          <p:nvPr/>
        </p:nvSpPr>
        <p:spPr>
          <a:xfrm>
            <a:off x="7712159" y="2225873"/>
            <a:ext cx="990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Manager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E6C033-B265-371B-F138-560681CD348C}"/>
              </a:ext>
            </a:extLst>
          </p:cNvPr>
          <p:cNvSpPr txBox="1"/>
          <p:nvPr/>
        </p:nvSpPr>
        <p:spPr>
          <a:xfrm>
            <a:off x="4038600" y="1456099"/>
            <a:ext cx="7821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&lt;data&gt;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3E11A3-A380-7F42-2D6A-966159D8F8B9}"/>
              </a:ext>
            </a:extLst>
          </p:cNvPr>
          <p:cNvSpPr txBox="1"/>
          <p:nvPr/>
        </p:nvSpPr>
        <p:spPr>
          <a:xfrm>
            <a:off x="4114600" y="2349403"/>
            <a:ext cx="7821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&lt;data&gt;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0F370C-B5D8-27DE-1196-039DDEAEF283}"/>
              </a:ext>
            </a:extLst>
          </p:cNvPr>
          <p:cNvSpPr/>
          <p:nvPr/>
        </p:nvSpPr>
        <p:spPr>
          <a:xfrm>
            <a:off x="7620000" y="2800350"/>
            <a:ext cx="1219200" cy="990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Build </a:t>
            </a:r>
            <a:r>
              <a:rPr lang="en-IN" dirty="0" err="1"/>
              <a:t>workzone</a:t>
            </a:r>
            <a:endParaRPr lang="en-IN" dirty="0"/>
          </a:p>
          <a:p>
            <a:pPr algn="ctr"/>
            <a:r>
              <a:rPr lang="en-IN" dirty="0"/>
              <a:t>My Inbox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D1C4534-5D93-6752-6081-B2FD57165929}"/>
              </a:ext>
            </a:extLst>
          </p:cNvPr>
          <p:cNvCxnSpPr>
            <a:stCxn id="2" idx="2"/>
          </p:cNvCxnSpPr>
          <p:nvPr/>
        </p:nvCxnSpPr>
        <p:spPr>
          <a:xfrm rot="5400000">
            <a:off x="7661049" y="3485367"/>
            <a:ext cx="262969" cy="87413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604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28174-CDFA-8C93-44DE-9D26D4881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293B4-D16C-6B44-34A2-5791214A3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A628F-50F7-5410-6868-C9F572B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24F3A64-CE1A-D036-09F0-4A36790CC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568780-1AAC-B5C6-5A6B-0A098D05DC10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  <a:hlinkClick r:id="rId2"/>
              </a:rPr>
              <a:t>https://help.sap.com/docs/build-process-automation/sap-build-process-automation/configure-sap-build-process-automation-destinations</a:t>
            </a:r>
            <a:endParaRPr lang="en-US" sz="1400" b="0" i="0" dirty="0">
              <a:effectLst/>
            </a:endParaRP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1519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5D2C93-0120-CCFC-9609-5065A85D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7B24C2-E0A7-CEBF-F7A8-383001851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26B177-165E-9165-72C4-FD0C520A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0877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23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2522</TotalTime>
  <Words>376</Words>
  <Application>Microsoft Office PowerPoint</Application>
  <PresentationFormat>On-screen Show (16:9)</PresentationFormat>
  <Paragraphs>91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Cambria</vt:lpstr>
      <vt:lpstr>Cooper Black</vt:lpstr>
      <vt:lpstr>Segoe UI</vt:lpstr>
      <vt:lpstr>Segoe UI Light</vt:lpstr>
      <vt:lpstr>Office Theme</vt:lpstr>
      <vt:lpstr>SAP Build Training for Corporate Professionals</vt:lpstr>
      <vt:lpstr>PowerPoint Presentation</vt:lpstr>
      <vt:lpstr>Agenda</vt:lpstr>
      <vt:lpstr>Scenario – Shopping cart App</vt:lpstr>
      <vt:lpstr>Create Cart Payload</vt:lpstr>
      <vt:lpstr>Scenario</vt:lpstr>
      <vt:lpstr>Scenario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150</cp:revision>
  <dcterms:created xsi:type="dcterms:W3CDTF">2013-12-05T19:37:13Z</dcterms:created>
  <dcterms:modified xsi:type="dcterms:W3CDTF">2025-08-14T07:30:01Z</dcterms:modified>
</cp:coreProperties>
</file>