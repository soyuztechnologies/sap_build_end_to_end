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494" r:id="rId3"/>
    <p:sldId id="265" r:id="rId4"/>
    <p:sldId id="567" r:id="rId5"/>
    <p:sldId id="310" r:id="rId6"/>
    <p:sldId id="531" r:id="rId7"/>
    <p:sldId id="545" r:id="rId8"/>
    <p:sldId id="547" r:id="rId9"/>
    <p:sldId id="546" r:id="rId10"/>
    <p:sldId id="548" r:id="rId11"/>
    <p:sldId id="549" r:id="rId12"/>
    <p:sldId id="537" r:id="rId13"/>
    <p:sldId id="495" r:id="rId14"/>
    <p:sldId id="496" r:id="rId15"/>
    <p:sldId id="497"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6753"/>
    <a:srgbClr val="1B4134"/>
    <a:srgbClr val="FFFFFF"/>
    <a:srgbClr val="222222"/>
    <a:srgbClr val="76B8B5"/>
    <a:srgbClr val="90B6DD"/>
    <a:srgbClr val="057CFF"/>
    <a:srgbClr val="464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55" autoAdjust="0"/>
    <p:restoredTop sz="96236" autoAdjust="0"/>
  </p:normalViewPr>
  <p:slideViewPr>
    <p:cSldViewPr>
      <p:cViewPr varScale="1">
        <p:scale>
          <a:sx n="130" d="100"/>
          <a:sy n="130" d="100"/>
        </p:scale>
        <p:origin x="736" y="300"/>
      </p:cViewPr>
      <p:guideLst>
        <p:guide orient="horz" pos="1620"/>
        <p:guide pos="2880"/>
      </p:guideLst>
    </p:cSldViewPr>
  </p:slideViewPr>
  <p:notesTextViewPr>
    <p:cViewPr>
      <p:scale>
        <a:sx n="100" d="100"/>
        <a:sy n="100" d="100"/>
      </p:scale>
      <p:origin x="0" y="0"/>
    </p:cViewPr>
  </p:notesTextViewPr>
  <p:notesViewPr>
    <p:cSldViewPr>
      <p:cViewPr varScale="1">
        <p:scale>
          <a:sx n="67" d="100"/>
          <a:sy n="67" d="100"/>
        </p:scale>
        <p:origin x="-318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CD1819-8EAB-4094-BBB1-E11C3AABA846}" type="datetimeFigureOut">
              <a:rPr lang="en-US" smtClean="0"/>
              <a:t>8/18/2025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A62D1B-AC76-4092-A22E-9E6DF2EB6902}" type="slidenum">
              <a:rPr lang="en-US" smtClean="0"/>
              <a:t>‹#›</a:t>
            </a:fld>
            <a:endParaRPr lang="en-US"/>
          </a:p>
        </p:txBody>
      </p:sp>
    </p:spTree>
    <p:extLst>
      <p:ext uri="{BB962C8B-B14F-4D97-AF65-F5344CB8AC3E}">
        <p14:creationId xmlns:p14="http://schemas.microsoft.com/office/powerpoint/2010/main" val="8515343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3:39:48.605"/>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76A73D-237B-4034-AB8C-962174A8D351}" type="datetimeFigureOut">
              <a:rPr lang="en-US" smtClean="0"/>
              <a:t>8/18/2025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123B04-A11E-4ECA-8C2F-B25EF2142BD0}" type="slidenum">
              <a:rPr lang="en-US" smtClean="0"/>
              <a:t>‹#›</a:t>
            </a:fld>
            <a:endParaRPr lang="en-US"/>
          </a:p>
        </p:txBody>
      </p:sp>
    </p:spTree>
    <p:extLst>
      <p:ext uri="{BB962C8B-B14F-4D97-AF65-F5344CB8AC3E}">
        <p14:creationId xmlns:p14="http://schemas.microsoft.com/office/powerpoint/2010/main" val="146814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123B04-A11E-4ECA-8C2F-B25EF2142BD0}" type="slidenum">
              <a:rPr lang="en-US" smtClean="0"/>
              <a:t>1</a:t>
            </a:fld>
            <a:endParaRPr lang="en-US"/>
          </a:p>
        </p:txBody>
      </p:sp>
    </p:spTree>
    <p:extLst>
      <p:ext uri="{BB962C8B-B14F-4D97-AF65-F5344CB8AC3E}">
        <p14:creationId xmlns:p14="http://schemas.microsoft.com/office/powerpoint/2010/main" val="121925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76600" y="1123950"/>
            <a:ext cx="5257800" cy="533400"/>
          </a:xfrm>
          <a:prstGeom prst="rect">
            <a:avLst/>
          </a:prstGeom>
        </p:spPr>
        <p:txBody>
          <a:bodyPr vert="horz" lIns="91440" tIns="45720" rIns="91440" bIns="45720" rtlCol="0" anchor="ctr">
            <a:noAutofit/>
          </a:bodyPr>
          <a:lstStyle>
            <a:lvl1pPr algn="r">
              <a:defRPr lang="en-US" sz="3600" dirty="0"/>
            </a:lvl1pPr>
          </a:lstStyle>
          <a:p>
            <a:pPr lvl="0"/>
            <a:r>
              <a:rPr lang="en-US" dirty="0"/>
              <a:t>Click to edit title</a:t>
            </a:r>
          </a:p>
        </p:txBody>
      </p:sp>
      <p:sp>
        <p:nvSpPr>
          <p:cNvPr id="3" name="Subtitle 2"/>
          <p:cNvSpPr>
            <a:spLocks noGrp="1"/>
          </p:cNvSpPr>
          <p:nvPr>
            <p:ph type="subTitle" idx="1"/>
          </p:nvPr>
        </p:nvSpPr>
        <p:spPr>
          <a:xfrm>
            <a:off x="3276600" y="1657350"/>
            <a:ext cx="5257800" cy="914400"/>
          </a:xfrm>
        </p:spPr>
        <p:txBody>
          <a:bodyPr/>
          <a:lstStyle>
            <a:lvl1pPr marL="0" indent="0" algn="r">
              <a:buNone/>
              <a:defRPr>
                <a:solidFill>
                  <a:schemeClr val="bg1">
                    <a:lumMod val="50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64274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457200" y="4767263"/>
            <a:ext cx="2133600" cy="273844"/>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a:prstGeom prst="rect">
            <a:avLst/>
          </a:prstGeom>
        </p:spPr>
        <p:txBody>
          <a:bodyPr anchor="t"/>
          <a:lstStyle>
            <a:lvl1pPr algn="l">
              <a:defRPr sz="3200" b="1" cap="none"/>
            </a:lvl1pPr>
          </a:lstStyle>
          <a:p>
            <a:r>
              <a:rPr lang="en-US"/>
              <a:t>Click to edit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228600" y="4767263"/>
            <a:ext cx="2133600" cy="273844"/>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57150"/>
            <a:ext cx="8229600" cy="6096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40386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4648200" y="971550"/>
            <a:ext cx="4038600" cy="3657600"/>
          </a:xfrm>
        </p:spPr>
        <p:txBody>
          <a:bodyPr>
            <a:normAutofit/>
          </a:bodyPr>
          <a:lstStyle>
            <a:lvl1pPr marL="0" inden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60198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57567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539502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152400" y="4781550"/>
            <a:ext cx="2133600" cy="273844"/>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166577" y="209550"/>
            <a:ext cx="8229600" cy="533401"/>
          </a:xfrm>
          <a:prstGeom prst="rect">
            <a:avLst/>
          </a:prstGeom>
        </p:spPr>
        <p:txBody>
          <a:bodyPr/>
          <a:lstStyle>
            <a:lvl1pPr>
              <a:defRPr sz="2600">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0" y="57150"/>
            <a:ext cx="493786" cy="4877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152400" y="4767263"/>
            <a:ext cx="2133600" cy="273844"/>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819150"/>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819150"/>
            <a:ext cx="5111750" cy="377547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733550"/>
            <a:ext cx="3008313" cy="28610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895349"/>
            <a:ext cx="5486400" cy="26503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1047749"/>
            <a:ext cx="2057400" cy="3546873"/>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457200" y="1047749"/>
            <a:ext cx="6019800" cy="3546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1352550"/>
            <a:ext cx="8229600" cy="1295400"/>
          </a:xfrm>
          <a:prstGeom prst="rect">
            <a:avLst/>
          </a:prstGeom>
        </p:spPr>
        <p:txBody>
          <a:bodyPr/>
          <a:lstStyle>
            <a:lvl1pPr algn="l">
              <a:defRPr sz="6000"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457200" y="2647950"/>
            <a:ext cx="8229600" cy="914400"/>
          </a:xfrm>
        </p:spPr>
        <p:txBody>
          <a:bodyPr/>
          <a:lstStyle>
            <a:lvl1pPr marL="0" indent="0" algn="l">
              <a:buNone/>
              <a:defRPr>
                <a:solidFill>
                  <a:schemeClr val="tx1">
                    <a:lumMod val="85000"/>
                    <a:lumOff val="15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33806275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6949" indent="0">
              <a:buNone/>
              <a:defRPr sz="2799"/>
            </a:lvl2pPr>
            <a:lvl3pPr marL="913897" indent="0">
              <a:buNone/>
              <a:defRPr sz="2399"/>
            </a:lvl3pPr>
            <a:lvl4pPr marL="1370846" indent="0">
              <a:buNone/>
              <a:defRPr sz="1999"/>
            </a:lvl4pPr>
            <a:lvl5pPr marL="1827795" indent="0">
              <a:buNone/>
              <a:defRPr sz="1999"/>
            </a:lvl5pPr>
            <a:lvl6pPr marL="2284743" indent="0">
              <a:buNone/>
              <a:defRPr sz="1999"/>
            </a:lvl6pPr>
            <a:lvl7pPr marL="2741692" indent="0">
              <a:buNone/>
              <a:defRPr sz="1999"/>
            </a:lvl7pPr>
            <a:lvl8pPr marL="3198640" indent="0">
              <a:buNone/>
              <a:defRPr sz="1999"/>
            </a:lvl8pPr>
            <a:lvl9pPr marL="3655589" indent="0">
              <a:buNone/>
              <a:defRPr sz="1999"/>
            </a:lvl9pPr>
          </a:lstStyle>
          <a:p>
            <a:r>
              <a:rPr lang="en-US" altLang="ko-KR" dirty="0"/>
              <a:t>Insert Your Image</a:t>
            </a:r>
            <a:endParaRPr lang="ko-KR" altLang="en-US" dirty="0"/>
          </a:p>
        </p:txBody>
      </p:sp>
    </p:spTree>
    <p:extLst>
      <p:ext uri="{BB962C8B-B14F-4D97-AF65-F5344CB8AC3E}">
        <p14:creationId xmlns:p14="http://schemas.microsoft.com/office/powerpoint/2010/main" val="156348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9144000" cy="2571751"/>
          </a:xfrm>
          <a:prstGeom prst="rect">
            <a:avLst/>
          </a:prstGeom>
          <a:solidFill>
            <a:schemeClr val="bg1">
              <a:lumMod val="95000"/>
            </a:schemeClr>
          </a:solidFill>
        </p:spPr>
        <p:txBody>
          <a:bodyPr>
            <a:normAutofit/>
          </a:bodyPr>
          <a:lstStyle>
            <a:lvl1pPr>
              <a:defRPr sz="788"/>
            </a:lvl1pPr>
          </a:lstStyle>
          <a:p>
            <a:endParaRPr lang="en-US" dirty="0"/>
          </a:p>
        </p:txBody>
      </p:sp>
    </p:spTree>
    <p:extLst>
      <p:ext uri="{BB962C8B-B14F-4D97-AF65-F5344CB8AC3E}">
        <p14:creationId xmlns:p14="http://schemas.microsoft.com/office/powerpoint/2010/main" val="169527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971550"/>
            <a:ext cx="8229600" cy="36230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40CB006-912F-44E1-9560-9CBFEBE946EF}" type="datetime4">
              <a:rPr lang="en-US" smtClean="0"/>
              <a:t>August 18, 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50" r:id="rId2"/>
    <p:sldLayoutId id="2147483651" r:id="rId3"/>
    <p:sldLayoutId id="2147483652" r:id="rId4"/>
    <p:sldLayoutId id="2147483672" r:id="rId5"/>
    <p:sldLayoutId id="2147483673" r:id="rId6"/>
    <p:sldLayoutId id="2147483654" r:id="rId7"/>
    <p:sldLayoutId id="2147483655" r:id="rId8"/>
    <p:sldLayoutId id="2147483656" r:id="rId9"/>
    <p:sldLayoutId id="2147483657" r:id="rId10"/>
    <p:sldLayoutId id="2147483658" r:id="rId11"/>
    <p:sldLayoutId id="2147483659" r:id="rId12"/>
    <p:sldLayoutId id="2147483675" r:id="rId13"/>
    <p:sldLayoutId id="2147483687" r:id="rId14"/>
    <p:sldLayoutId id="2147483688" r:id="rId15"/>
  </p:sldLayoutIdLst>
  <p:hf hdr="0"/>
  <p:txStyles>
    <p:titleStyle>
      <a:lvl1pPr algn="l" defTabSz="914400" rtl="0" eaLnBrk="1" latinLnBrk="0" hangingPunct="1">
        <a:spcBef>
          <a:spcPct val="0"/>
        </a:spcBef>
        <a:buNone/>
        <a:defRPr lang="en-US" sz="2800"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pexels.com/de-de/foto/mann-zeigt-laptop-computer-2182981/" TargetMode="External"/><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hyperlink" Target="https://www.pexels.com/video/call-center-agents-talking-to-customers-while-using-cellphone-and-laptop-7682761/" TargetMode="Externa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hyperlink" Target="https://help.sap.com/docs/build-process-automation/sap-build-process-automation/configure-sap-build-process-automation-destinations"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www.oracle.com/in/java/technologies/javase/jdk11-archive-downloads.html"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71.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hyperlink" Target="http://www.dribbble.com/"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tiff"/><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16.tiff"/><Relationship Id="rId5" Type="http://schemas.openxmlformats.org/officeDocument/2006/relationships/image" Target="../media/image15.tiff"/><Relationship Id="rId4" Type="http://schemas.openxmlformats.org/officeDocument/2006/relationships/image" Target="../media/image14.tiff"/><Relationship Id="rId9"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352550"/>
            <a:ext cx="8229600" cy="1295400"/>
          </a:xfrm>
        </p:spPr>
        <p:txBody>
          <a:bodyPr>
            <a:normAutofit/>
          </a:bodyPr>
          <a:lstStyle/>
          <a:p>
            <a:pPr>
              <a:lnSpc>
                <a:spcPct val="90000"/>
              </a:lnSpc>
            </a:pPr>
            <a:r>
              <a:rPr lang="en-PH" sz="3600" dirty="0"/>
              <a:t>SAP Build Training for Corporate Professionals</a:t>
            </a:r>
          </a:p>
        </p:txBody>
      </p:sp>
      <p:sp>
        <p:nvSpPr>
          <p:cNvPr id="3" name="Subtitle 2"/>
          <p:cNvSpPr>
            <a:spLocks noGrp="1"/>
          </p:cNvSpPr>
          <p:nvPr>
            <p:ph type="subTitle" idx="1"/>
          </p:nvPr>
        </p:nvSpPr>
        <p:spPr>
          <a:xfrm>
            <a:off x="457200" y="2495550"/>
            <a:ext cx="8229600" cy="914400"/>
          </a:xfrm>
        </p:spPr>
        <p:txBody>
          <a:bodyPr>
            <a:normAutofit/>
          </a:bodyPr>
          <a:lstStyle/>
          <a:p>
            <a:r>
              <a:rPr lang="en-PH" sz="3600" b="1">
                <a:solidFill>
                  <a:srgbClr val="00B050"/>
                </a:solidFill>
                <a:latin typeface="Cooper Black" panose="0208090404030B020404" pitchFamily="18" charset="0"/>
              </a:rPr>
              <a:t>www.anubhavtrainings.com</a:t>
            </a:r>
            <a:endParaRPr lang="en-PH" sz="3600" b="1" dirty="0">
              <a:solidFill>
                <a:srgbClr val="00B050"/>
              </a:solidFill>
              <a:latin typeface="Cooper Black" panose="0208090404030B020404" pitchFamily="18" charset="0"/>
            </a:endParaRPr>
          </a:p>
        </p:txBody>
      </p:sp>
      <p:sp>
        <p:nvSpPr>
          <p:cNvPr id="4" name="Google Shape;500;p1">
            <a:extLst>
              <a:ext uri="{FF2B5EF4-FFF2-40B4-BE49-F238E27FC236}">
                <a16:creationId xmlns:a16="http://schemas.microsoft.com/office/drawing/2014/main" id="{A035E2B0-75D9-4BCC-1173-8F7FB8C99C8A}"/>
              </a:ext>
            </a:extLst>
          </p:cNvPr>
          <p:cNvSpPr txBox="1"/>
          <p:nvPr/>
        </p:nvSpPr>
        <p:spPr>
          <a:xfrm>
            <a:off x="609600" y="496005"/>
            <a:ext cx="1828800" cy="646290"/>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gradFill flip="none" rotWithShape="1">
                  <a:gsLst>
                    <a:gs pos="0">
                      <a:srgbClr val="0070C0"/>
                    </a:gs>
                    <a:gs pos="100000">
                      <a:srgbClr val="00B0F0"/>
                    </a:gs>
                  </a:gsLst>
                  <a:lin ang="16200000" scaled="1"/>
                  <a:tileRect/>
                </a:gradFill>
                <a:latin typeface="Arial" pitchFamily="34" charset="0"/>
                <a:ea typeface="+mj-ea"/>
                <a:cs typeface="Arial" pitchFamily="34" charset="0"/>
                <a:sym typeface="Corben"/>
              </a:rPr>
              <a:t>DAY-25</a:t>
            </a:r>
          </a:p>
        </p:txBody>
      </p:sp>
      <p:pic>
        <p:nvPicPr>
          <p:cNvPr id="6" name="Google Shape;497;p1">
            <a:extLst>
              <a:ext uri="{FF2B5EF4-FFF2-40B4-BE49-F238E27FC236}">
                <a16:creationId xmlns:a16="http://schemas.microsoft.com/office/drawing/2014/main" id="{503397FB-5BCD-D008-7827-9E43E26D9D15}"/>
              </a:ext>
            </a:extLst>
          </p:cNvPr>
          <p:cNvPicPr preferRelativeResize="0"/>
          <p:nvPr/>
        </p:nvPicPr>
        <p:blipFill rotWithShape="1">
          <a:blip r:embed="rId3">
            <a:alphaModFix/>
          </a:blip>
          <a:srcRect/>
          <a:stretch/>
        </p:blipFill>
        <p:spPr>
          <a:xfrm>
            <a:off x="7010400" y="3181350"/>
            <a:ext cx="1733995" cy="1656184"/>
          </a:xfrm>
          <a:prstGeom prst="rect">
            <a:avLst/>
          </a:prstGeom>
          <a:noFill/>
          <a:ln>
            <a:noFill/>
          </a:ln>
        </p:spPr>
      </p:pic>
    </p:spTree>
    <p:extLst>
      <p:ext uri="{BB962C8B-B14F-4D97-AF65-F5344CB8AC3E}">
        <p14:creationId xmlns:p14="http://schemas.microsoft.com/office/powerpoint/2010/main" val="838087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2382" y="-10043"/>
            <a:ext cx="9139238" cy="5691851"/>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a:endParaRPr>
          </a:p>
        </p:txBody>
      </p:sp>
      <p:sp>
        <p:nvSpPr>
          <p:cNvPr id="6" name="Rectangle 5"/>
          <p:cNvSpPr/>
          <p:nvPr/>
        </p:nvSpPr>
        <p:spPr>
          <a:xfrm>
            <a:off x="2382" y="2392863"/>
            <a:ext cx="9139238" cy="188222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7" name="Rectangle 6"/>
          <p:cNvSpPr/>
          <p:nvPr/>
        </p:nvSpPr>
        <p:spPr>
          <a:xfrm>
            <a:off x="2382" y="2522237"/>
            <a:ext cx="9139238" cy="159582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2881727" y="2577435"/>
            <a:ext cx="3380548" cy="507703"/>
          </a:xfrm>
          <a:prstGeom prst="rect">
            <a:avLst/>
          </a:prstGeom>
          <a:noFill/>
          <a:ln>
            <a:noFill/>
          </a:ln>
        </p:spPr>
        <p:txBody>
          <a:bodyPr wrap="square" rtlCol="0">
            <a:spAutoFit/>
          </a:bodyPr>
          <a:lstStyle/>
          <a:p>
            <a:pPr algn="ctr" defTabSz="685457">
              <a:defRPr/>
            </a:pPr>
            <a:r>
              <a:rPr lang="en-IN" sz="26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2474" spc="113"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332706" y="3044889"/>
            <a:ext cx="8478590" cy="922945"/>
          </a:xfrm>
          <a:prstGeom prst="rect">
            <a:avLst/>
          </a:prstGeom>
          <a:noFill/>
          <a:ln>
            <a:noFill/>
          </a:ln>
        </p:spPr>
        <p:txBody>
          <a:bodyPr wrap="square" rtlCol="0">
            <a:spAutoFit/>
          </a:bodyPr>
          <a:lstStyle/>
          <a:p>
            <a:pPr algn="ctr" defTabSz="685457">
              <a:defRPr/>
            </a:pPr>
            <a:r>
              <a:rPr lang="en-IN" sz="17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p:cNvCxnSpPr/>
          <p:nvPr/>
        </p:nvCxnSpPr>
        <p:spPr>
          <a:xfrm>
            <a:off x="609600" y="2190750"/>
            <a:ext cx="7924800" cy="158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Footer Placeholder 8"/>
          <p:cNvSpPr>
            <a:spLocks noGrp="1"/>
          </p:cNvSpPr>
          <p:nvPr>
            <p:ph type="ftr" sz="quarter" idx="11"/>
          </p:nvPr>
        </p:nvSpPr>
        <p:spPr/>
        <p:txBody>
          <a:bodyPr/>
          <a:lstStyle/>
          <a:p>
            <a:r>
              <a:rPr lang="en-US" dirty="0"/>
              <a:t>www.anubhavtrainings.com</a:t>
            </a:r>
          </a:p>
        </p:txBody>
      </p:sp>
      <p:sp>
        <p:nvSpPr>
          <p:cNvPr id="16" name="Slide Number Placeholder 15"/>
          <p:cNvSpPr>
            <a:spLocks noGrp="1"/>
          </p:cNvSpPr>
          <p:nvPr>
            <p:ph type="sldNum" sz="quarter" idx="12"/>
          </p:nvPr>
        </p:nvSpPr>
        <p:spPr/>
        <p:txBody>
          <a:bodyPr/>
          <a:lstStyle/>
          <a:p>
            <a:fld id="{B6F15528-21DE-4FAA-801E-634DDDAF4B2B}" type="slidenum">
              <a:rPr lang="en-US" smtClean="0"/>
              <a:pPr/>
              <a:t>3</a:t>
            </a:fld>
            <a:endParaRPr lang="en-US"/>
          </a:p>
        </p:txBody>
      </p:sp>
      <p:sp>
        <p:nvSpPr>
          <p:cNvPr id="2" name="Title 1"/>
          <p:cNvSpPr>
            <a:spLocks noGrp="1"/>
          </p:cNvSpPr>
          <p:nvPr>
            <p:ph type="title"/>
          </p:nvPr>
        </p:nvSpPr>
        <p:spPr/>
        <p:txBody>
          <a:bodyPr/>
          <a:lstStyle/>
          <a:p>
            <a:r>
              <a:rPr lang="en-US" dirty="0"/>
              <a:t>Agenda</a:t>
            </a:r>
          </a:p>
        </p:txBody>
      </p:sp>
      <p:grpSp>
        <p:nvGrpSpPr>
          <p:cNvPr id="8" name="Group 7"/>
          <p:cNvGrpSpPr/>
          <p:nvPr/>
        </p:nvGrpSpPr>
        <p:grpSpPr>
          <a:xfrm>
            <a:off x="1219200" y="1733550"/>
            <a:ext cx="6705600" cy="933450"/>
            <a:chOff x="914400" y="2190750"/>
            <a:chExt cx="6705600" cy="933450"/>
          </a:xfrm>
          <a:solidFill>
            <a:srgbClr val="0563B8"/>
          </a:solidFill>
        </p:grpSpPr>
        <p:sp>
          <p:nvSpPr>
            <p:cNvPr id="4" name="Oval 3"/>
            <p:cNvSpPr/>
            <p:nvPr/>
          </p:nvSpPr>
          <p:spPr>
            <a:xfrm>
              <a:off x="9144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8384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7625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6865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6705600" y="2929176"/>
            <a:ext cx="1600200" cy="738664"/>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Consume process in build apps</a:t>
            </a:r>
            <a:endParaRPr lang="en-US" sz="1050" dirty="0">
              <a:solidFill>
                <a:schemeClr val="bg1">
                  <a:lumMod val="50000"/>
                </a:schemeClr>
              </a:solidFill>
              <a:latin typeface="Arial" pitchFamily="34" charset="0"/>
              <a:cs typeface="Arial" pitchFamily="34" charset="0"/>
            </a:endParaRPr>
          </a:p>
        </p:txBody>
      </p:sp>
      <p:grpSp>
        <p:nvGrpSpPr>
          <p:cNvPr id="28" name="Group 27"/>
          <p:cNvGrpSpPr/>
          <p:nvPr/>
        </p:nvGrpSpPr>
        <p:grpSpPr>
          <a:xfrm>
            <a:off x="1457325" y="1952625"/>
            <a:ext cx="443206" cy="484863"/>
            <a:chOff x="1981201" y="1547809"/>
            <a:chExt cx="443206" cy="484863"/>
          </a:xfrm>
          <a:solidFill>
            <a:schemeClr val="bg1"/>
          </a:solidFill>
        </p:grpSpPr>
        <p:sp>
          <p:nvSpPr>
            <p:cNvPr id="1030" name="Freeform 6"/>
            <p:cNvSpPr>
              <a:spLocks noEditPoints="1"/>
            </p:cNvSpPr>
            <p:nvPr/>
          </p:nvSpPr>
          <p:spPr bwMode="auto">
            <a:xfrm>
              <a:off x="2085003" y="1547809"/>
              <a:ext cx="339404" cy="340770"/>
            </a:xfrm>
            <a:custGeom>
              <a:avLst/>
              <a:gdLst/>
              <a:ahLst/>
              <a:cxnLst>
                <a:cxn ang="0">
                  <a:pos x="219" y="91"/>
                </a:cxn>
                <a:cxn ang="0">
                  <a:pos x="166" y="110"/>
                </a:cxn>
                <a:cxn ang="0">
                  <a:pos x="123" y="147"/>
                </a:cxn>
                <a:cxn ang="0">
                  <a:pos x="96" y="197"/>
                </a:cxn>
                <a:cxn ang="0">
                  <a:pos x="87" y="251"/>
                </a:cxn>
                <a:cxn ang="0">
                  <a:pos x="97" y="306"/>
                </a:cxn>
                <a:cxn ang="0">
                  <a:pos x="126" y="354"/>
                </a:cxn>
                <a:cxn ang="0">
                  <a:pos x="170" y="390"/>
                </a:cxn>
                <a:cxn ang="0">
                  <a:pos x="223" y="410"/>
                </a:cxn>
                <a:cxn ang="0">
                  <a:pos x="279" y="408"/>
                </a:cxn>
                <a:cxn ang="0">
                  <a:pos x="330" y="389"/>
                </a:cxn>
                <a:cxn ang="0">
                  <a:pos x="373" y="352"/>
                </a:cxn>
                <a:cxn ang="0">
                  <a:pos x="401" y="301"/>
                </a:cxn>
                <a:cxn ang="0">
                  <a:pos x="409" y="247"/>
                </a:cxn>
                <a:cxn ang="0">
                  <a:pos x="399" y="193"/>
                </a:cxn>
                <a:cxn ang="0">
                  <a:pos x="370" y="145"/>
                </a:cxn>
                <a:cxn ang="0">
                  <a:pos x="326" y="108"/>
                </a:cxn>
                <a:cxn ang="0">
                  <a:pos x="274" y="90"/>
                </a:cxn>
                <a:cxn ang="0">
                  <a:pos x="241" y="0"/>
                </a:cxn>
                <a:cxn ang="0">
                  <a:pos x="310" y="8"/>
                </a:cxn>
                <a:cxn ang="0">
                  <a:pos x="376" y="35"/>
                </a:cxn>
                <a:cxn ang="0">
                  <a:pos x="433" y="82"/>
                </a:cxn>
                <a:cxn ang="0">
                  <a:pos x="472" y="141"/>
                </a:cxn>
                <a:cxn ang="0">
                  <a:pos x="494" y="207"/>
                </a:cxn>
                <a:cxn ang="0">
                  <a:pos x="495" y="278"/>
                </a:cxn>
                <a:cxn ang="0">
                  <a:pos x="478" y="345"/>
                </a:cxn>
                <a:cxn ang="0">
                  <a:pos x="441" y="407"/>
                </a:cxn>
                <a:cxn ang="0">
                  <a:pos x="387" y="456"/>
                </a:cxn>
                <a:cxn ang="0">
                  <a:pos x="324" y="487"/>
                </a:cxn>
                <a:cxn ang="0">
                  <a:pos x="256" y="499"/>
                </a:cxn>
                <a:cxn ang="0">
                  <a:pos x="187" y="491"/>
                </a:cxn>
                <a:cxn ang="0">
                  <a:pos x="121" y="464"/>
                </a:cxn>
                <a:cxn ang="0">
                  <a:pos x="64" y="418"/>
                </a:cxn>
                <a:cxn ang="0">
                  <a:pos x="25" y="358"/>
                </a:cxn>
                <a:cxn ang="0">
                  <a:pos x="3" y="292"/>
                </a:cxn>
                <a:cxn ang="0">
                  <a:pos x="2" y="222"/>
                </a:cxn>
                <a:cxn ang="0">
                  <a:pos x="19" y="155"/>
                </a:cxn>
                <a:cxn ang="0">
                  <a:pos x="56" y="92"/>
                </a:cxn>
                <a:cxn ang="0">
                  <a:pos x="110" y="43"/>
                </a:cxn>
                <a:cxn ang="0">
                  <a:pos x="173" y="13"/>
                </a:cxn>
                <a:cxn ang="0">
                  <a:pos x="241" y="0"/>
                </a:cxn>
              </a:cxnLst>
              <a:rect l="0" t="0" r="r" b="b"/>
              <a:pathLst>
                <a:path w="497" h="499">
                  <a:moveTo>
                    <a:pt x="246" y="88"/>
                  </a:moveTo>
                  <a:lnTo>
                    <a:pt x="219" y="91"/>
                  </a:lnTo>
                  <a:lnTo>
                    <a:pt x="192" y="98"/>
                  </a:lnTo>
                  <a:lnTo>
                    <a:pt x="166" y="110"/>
                  </a:lnTo>
                  <a:lnTo>
                    <a:pt x="144" y="126"/>
                  </a:lnTo>
                  <a:lnTo>
                    <a:pt x="123" y="147"/>
                  </a:lnTo>
                  <a:lnTo>
                    <a:pt x="107" y="171"/>
                  </a:lnTo>
                  <a:lnTo>
                    <a:pt x="96" y="197"/>
                  </a:lnTo>
                  <a:lnTo>
                    <a:pt x="89" y="224"/>
                  </a:lnTo>
                  <a:lnTo>
                    <a:pt x="87" y="251"/>
                  </a:lnTo>
                  <a:lnTo>
                    <a:pt x="90" y="280"/>
                  </a:lnTo>
                  <a:lnTo>
                    <a:pt x="97" y="306"/>
                  </a:lnTo>
                  <a:lnTo>
                    <a:pt x="110" y="331"/>
                  </a:lnTo>
                  <a:lnTo>
                    <a:pt x="126" y="354"/>
                  </a:lnTo>
                  <a:lnTo>
                    <a:pt x="146" y="374"/>
                  </a:lnTo>
                  <a:lnTo>
                    <a:pt x="170" y="390"/>
                  </a:lnTo>
                  <a:lnTo>
                    <a:pt x="196" y="403"/>
                  </a:lnTo>
                  <a:lnTo>
                    <a:pt x="223" y="410"/>
                  </a:lnTo>
                  <a:lnTo>
                    <a:pt x="250" y="411"/>
                  </a:lnTo>
                  <a:lnTo>
                    <a:pt x="279" y="408"/>
                  </a:lnTo>
                  <a:lnTo>
                    <a:pt x="305" y="400"/>
                  </a:lnTo>
                  <a:lnTo>
                    <a:pt x="330" y="389"/>
                  </a:lnTo>
                  <a:lnTo>
                    <a:pt x="352" y="372"/>
                  </a:lnTo>
                  <a:lnTo>
                    <a:pt x="373" y="352"/>
                  </a:lnTo>
                  <a:lnTo>
                    <a:pt x="388" y="328"/>
                  </a:lnTo>
                  <a:lnTo>
                    <a:pt x="401" y="301"/>
                  </a:lnTo>
                  <a:lnTo>
                    <a:pt x="408" y="275"/>
                  </a:lnTo>
                  <a:lnTo>
                    <a:pt x="409" y="247"/>
                  </a:lnTo>
                  <a:lnTo>
                    <a:pt x="407" y="220"/>
                  </a:lnTo>
                  <a:lnTo>
                    <a:pt x="399" y="193"/>
                  </a:lnTo>
                  <a:lnTo>
                    <a:pt x="387" y="167"/>
                  </a:lnTo>
                  <a:lnTo>
                    <a:pt x="370" y="145"/>
                  </a:lnTo>
                  <a:lnTo>
                    <a:pt x="350" y="124"/>
                  </a:lnTo>
                  <a:lnTo>
                    <a:pt x="326" y="108"/>
                  </a:lnTo>
                  <a:lnTo>
                    <a:pt x="300" y="97"/>
                  </a:lnTo>
                  <a:lnTo>
                    <a:pt x="274" y="90"/>
                  </a:lnTo>
                  <a:lnTo>
                    <a:pt x="246" y="88"/>
                  </a:lnTo>
                  <a:close/>
                  <a:moveTo>
                    <a:pt x="241" y="0"/>
                  </a:moveTo>
                  <a:lnTo>
                    <a:pt x="276" y="2"/>
                  </a:lnTo>
                  <a:lnTo>
                    <a:pt x="310" y="8"/>
                  </a:lnTo>
                  <a:lnTo>
                    <a:pt x="343" y="19"/>
                  </a:lnTo>
                  <a:lnTo>
                    <a:pt x="376" y="35"/>
                  </a:lnTo>
                  <a:lnTo>
                    <a:pt x="405" y="57"/>
                  </a:lnTo>
                  <a:lnTo>
                    <a:pt x="433" y="82"/>
                  </a:lnTo>
                  <a:lnTo>
                    <a:pt x="454" y="110"/>
                  </a:lnTo>
                  <a:lnTo>
                    <a:pt x="472" y="141"/>
                  </a:lnTo>
                  <a:lnTo>
                    <a:pt x="485" y="174"/>
                  </a:lnTo>
                  <a:lnTo>
                    <a:pt x="494" y="207"/>
                  </a:lnTo>
                  <a:lnTo>
                    <a:pt x="497" y="242"/>
                  </a:lnTo>
                  <a:lnTo>
                    <a:pt x="495" y="278"/>
                  </a:lnTo>
                  <a:lnTo>
                    <a:pt x="489" y="312"/>
                  </a:lnTo>
                  <a:lnTo>
                    <a:pt x="478" y="345"/>
                  </a:lnTo>
                  <a:lnTo>
                    <a:pt x="462" y="378"/>
                  </a:lnTo>
                  <a:lnTo>
                    <a:pt x="441" y="407"/>
                  </a:lnTo>
                  <a:lnTo>
                    <a:pt x="416" y="435"/>
                  </a:lnTo>
                  <a:lnTo>
                    <a:pt x="387" y="456"/>
                  </a:lnTo>
                  <a:lnTo>
                    <a:pt x="357" y="474"/>
                  </a:lnTo>
                  <a:lnTo>
                    <a:pt x="324" y="487"/>
                  </a:lnTo>
                  <a:lnTo>
                    <a:pt x="291" y="496"/>
                  </a:lnTo>
                  <a:lnTo>
                    <a:pt x="256" y="499"/>
                  </a:lnTo>
                  <a:lnTo>
                    <a:pt x="221" y="497"/>
                  </a:lnTo>
                  <a:lnTo>
                    <a:pt x="187" y="491"/>
                  </a:lnTo>
                  <a:lnTo>
                    <a:pt x="154" y="480"/>
                  </a:lnTo>
                  <a:lnTo>
                    <a:pt x="121" y="464"/>
                  </a:lnTo>
                  <a:lnTo>
                    <a:pt x="92" y="443"/>
                  </a:lnTo>
                  <a:lnTo>
                    <a:pt x="64" y="418"/>
                  </a:lnTo>
                  <a:lnTo>
                    <a:pt x="43" y="389"/>
                  </a:lnTo>
                  <a:lnTo>
                    <a:pt x="25" y="358"/>
                  </a:lnTo>
                  <a:lnTo>
                    <a:pt x="12" y="325"/>
                  </a:lnTo>
                  <a:lnTo>
                    <a:pt x="3" y="292"/>
                  </a:lnTo>
                  <a:lnTo>
                    <a:pt x="0" y="257"/>
                  </a:lnTo>
                  <a:lnTo>
                    <a:pt x="2" y="222"/>
                  </a:lnTo>
                  <a:lnTo>
                    <a:pt x="8" y="188"/>
                  </a:lnTo>
                  <a:lnTo>
                    <a:pt x="19" y="155"/>
                  </a:lnTo>
                  <a:lnTo>
                    <a:pt x="35" y="122"/>
                  </a:lnTo>
                  <a:lnTo>
                    <a:pt x="56" y="92"/>
                  </a:lnTo>
                  <a:lnTo>
                    <a:pt x="81" y="65"/>
                  </a:lnTo>
                  <a:lnTo>
                    <a:pt x="110" y="43"/>
                  </a:lnTo>
                  <a:lnTo>
                    <a:pt x="140" y="25"/>
                  </a:lnTo>
                  <a:lnTo>
                    <a:pt x="173" y="13"/>
                  </a:lnTo>
                  <a:lnTo>
                    <a:pt x="206" y="3"/>
                  </a:lnTo>
                  <a:lnTo>
                    <a:pt x="24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1" name="Freeform 7"/>
            <p:cNvSpPr>
              <a:spLocks/>
            </p:cNvSpPr>
            <p:nvPr/>
          </p:nvSpPr>
          <p:spPr bwMode="auto">
            <a:xfrm>
              <a:off x="1981201" y="1803216"/>
              <a:ext cx="204872" cy="229456"/>
            </a:xfrm>
            <a:custGeom>
              <a:avLst/>
              <a:gdLst/>
              <a:ahLst/>
              <a:cxnLst>
                <a:cxn ang="0">
                  <a:pos x="221" y="0"/>
                </a:cxn>
                <a:cxn ang="0">
                  <a:pos x="232" y="4"/>
                </a:cxn>
                <a:cxn ang="0">
                  <a:pos x="242" y="11"/>
                </a:cxn>
                <a:cxn ang="0">
                  <a:pos x="287" y="47"/>
                </a:cxn>
                <a:cxn ang="0">
                  <a:pos x="295" y="56"/>
                </a:cxn>
                <a:cxn ang="0">
                  <a:pos x="299" y="66"/>
                </a:cxn>
                <a:cxn ang="0">
                  <a:pos x="300" y="78"/>
                </a:cxn>
                <a:cxn ang="0">
                  <a:pos x="298" y="89"/>
                </a:cxn>
                <a:cxn ang="0">
                  <a:pos x="292" y="99"/>
                </a:cxn>
                <a:cxn ang="0">
                  <a:pos x="111" y="322"/>
                </a:cxn>
                <a:cxn ang="0">
                  <a:pos x="100" y="331"/>
                </a:cxn>
                <a:cxn ang="0">
                  <a:pos x="85" y="336"/>
                </a:cxn>
                <a:cxn ang="0">
                  <a:pos x="71" y="335"/>
                </a:cxn>
                <a:cxn ang="0">
                  <a:pos x="58" y="328"/>
                </a:cxn>
                <a:cxn ang="0">
                  <a:pos x="14" y="292"/>
                </a:cxn>
                <a:cxn ang="0">
                  <a:pos x="5" y="280"/>
                </a:cxn>
                <a:cxn ang="0">
                  <a:pos x="0" y="265"/>
                </a:cxn>
                <a:cxn ang="0">
                  <a:pos x="1" y="252"/>
                </a:cxn>
                <a:cxn ang="0">
                  <a:pos x="8" y="238"/>
                </a:cxn>
                <a:cxn ang="0">
                  <a:pos x="190" y="15"/>
                </a:cxn>
                <a:cxn ang="0">
                  <a:pos x="199" y="7"/>
                </a:cxn>
                <a:cxn ang="0">
                  <a:pos x="210" y="3"/>
                </a:cxn>
                <a:cxn ang="0">
                  <a:pos x="221" y="0"/>
                </a:cxn>
              </a:cxnLst>
              <a:rect l="0" t="0" r="r" b="b"/>
              <a:pathLst>
                <a:path w="300" h="336">
                  <a:moveTo>
                    <a:pt x="221" y="0"/>
                  </a:moveTo>
                  <a:lnTo>
                    <a:pt x="232" y="4"/>
                  </a:lnTo>
                  <a:lnTo>
                    <a:pt x="242" y="11"/>
                  </a:lnTo>
                  <a:lnTo>
                    <a:pt x="287" y="47"/>
                  </a:lnTo>
                  <a:lnTo>
                    <a:pt x="295" y="56"/>
                  </a:lnTo>
                  <a:lnTo>
                    <a:pt x="299" y="66"/>
                  </a:lnTo>
                  <a:lnTo>
                    <a:pt x="300" y="78"/>
                  </a:lnTo>
                  <a:lnTo>
                    <a:pt x="298" y="89"/>
                  </a:lnTo>
                  <a:lnTo>
                    <a:pt x="292" y="99"/>
                  </a:lnTo>
                  <a:lnTo>
                    <a:pt x="111" y="322"/>
                  </a:lnTo>
                  <a:lnTo>
                    <a:pt x="100" y="331"/>
                  </a:lnTo>
                  <a:lnTo>
                    <a:pt x="85" y="336"/>
                  </a:lnTo>
                  <a:lnTo>
                    <a:pt x="71" y="335"/>
                  </a:lnTo>
                  <a:lnTo>
                    <a:pt x="58" y="328"/>
                  </a:lnTo>
                  <a:lnTo>
                    <a:pt x="14" y="292"/>
                  </a:lnTo>
                  <a:lnTo>
                    <a:pt x="5" y="280"/>
                  </a:lnTo>
                  <a:lnTo>
                    <a:pt x="0" y="265"/>
                  </a:lnTo>
                  <a:lnTo>
                    <a:pt x="1" y="252"/>
                  </a:lnTo>
                  <a:lnTo>
                    <a:pt x="8" y="238"/>
                  </a:lnTo>
                  <a:lnTo>
                    <a:pt x="190" y="15"/>
                  </a:lnTo>
                  <a:lnTo>
                    <a:pt x="199" y="7"/>
                  </a:lnTo>
                  <a:lnTo>
                    <a:pt x="210" y="3"/>
                  </a:lnTo>
                  <a:lnTo>
                    <a:pt x="2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9" name="Group 28"/>
          <p:cNvGrpSpPr/>
          <p:nvPr/>
        </p:nvGrpSpPr>
        <p:grpSpPr>
          <a:xfrm>
            <a:off x="3362325" y="1924050"/>
            <a:ext cx="482814" cy="544275"/>
            <a:chOff x="2698251" y="1515030"/>
            <a:chExt cx="482814" cy="544275"/>
          </a:xfrm>
          <a:solidFill>
            <a:schemeClr val="bg1"/>
          </a:solidFill>
        </p:grpSpPr>
        <p:sp>
          <p:nvSpPr>
            <p:cNvPr id="1032" name="Freeform 8"/>
            <p:cNvSpPr>
              <a:spLocks noEditPoints="1"/>
            </p:cNvSpPr>
            <p:nvPr/>
          </p:nvSpPr>
          <p:spPr bwMode="auto">
            <a:xfrm>
              <a:off x="2698251" y="1575125"/>
              <a:ext cx="482814" cy="484180"/>
            </a:xfrm>
            <a:custGeom>
              <a:avLst/>
              <a:gdLst/>
              <a:ahLst/>
              <a:cxnLst>
                <a:cxn ang="0">
                  <a:pos x="79" y="78"/>
                </a:cxn>
                <a:cxn ang="0">
                  <a:pos x="79" y="631"/>
                </a:cxn>
                <a:cxn ang="0">
                  <a:pos x="629" y="631"/>
                </a:cxn>
                <a:cxn ang="0">
                  <a:pos x="629" y="78"/>
                </a:cxn>
                <a:cxn ang="0">
                  <a:pos x="79" y="78"/>
                </a:cxn>
                <a:cxn ang="0">
                  <a:pos x="71" y="0"/>
                </a:cxn>
                <a:cxn ang="0">
                  <a:pos x="637" y="0"/>
                </a:cxn>
                <a:cxn ang="0">
                  <a:pos x="655" y="2"/>
                </a:cxn>
                <a:cxn ang="0">
                  <a:pos x="672" y="10"/>
                </a:cxn>
                <a:cxn ang="0">
                  <a:pos x="687" y="20"/>
                </a:cxn>
                <a:cxn ang="0">
                  <a:pos x="697" y="35"/>
                </a:cxn>
                <a:cxn ang="0">
                  <a:pos x="705" y="52"/>
                </a:cxn>
                <a:cxn ang="0">
                  <a:pos x="707" y="70"/>
                </a:cxn>
                <a:cxn ang="0">
                  <a:pos x="707" y="638"/>
                </a:cxn>
                <a:cxn ang="0">
                  <a:pos x="705" y="657"/>
                </a:cxn>
                <a:cxn ang="0">
                  <a:pos x="697" y="674"/>
                </a:cxn>
                <a:cxn ang="0">
                  <a:pos x="687" y="688"/>
                </a:cxn>
                <a:cxn ang="0">
                  <a:pos x="672" y="699"/>
                </a:cxn>
                <a:cxn ang="0">
                  <a:pos x="655" y="706"/>
                </a:cxn>
                <a:cxn ang="0">
                  <a:pos x="637" y="709"/>
                </a:cxn>
                <a:cxn ang="0">
                  <a:pos x="71" y="709"/>
                </a:cxn>
                <a:cxn ang="0">
                  <a:pos x="53" y="706"/>
                </a:cxn>
                <a:cxn ang="0">
                  <a:pos x="36" y="699"/>
                </a:cxn>
                <a:cxn ang="0">
                  <a:pos x="21" y="688"/>
                </a:cxn>
                <a:cxn ang="0">
                  <a:pos x="11" y="674"/>
                </a:cxn>
                <a:cxn ang="0">
                  <a:pos x="3" y="657"/>
                </a:cxn>
                <a:cxn ang="0">
                  <a:pos x="0" y="638"/>
                </a:cxn>
                <a:cxn ang="0">
                  <a:pos x="0" y="70"/>
                </a:cxn>
                <a:cxn ang="0">
                  <a:pos x="3" y="52"/>
                </a:cxn>
                <a:cxn ang="0">
                  <a:pos x="11" y="35"/>
                </a:cxn>
                <a:cxn ang="0">
                  <a:pos x="21" y="20"/>
                </a:cxn>
                <a:cxn ang="0">
                  <a:pos x="36" y="10"/>
                </a:cxn>
                <a:cxn ang="0">
                  <a:pos x="53" y="2"/>
                </a:cxn>
                <a:cxn ang="0">
                  <a:pos x="71" y="0"/>
                </a:cxn>
              </a:cxnLst>
              <a:rect l="0" t="0" r="r" b="b"/>
              <a:pathLst>
                <a:path w="707" h="709">
                  <a:moveTo>
                    <a:pt x="79" y="78"/>
                  </a:moveTo>
                  <a:lnTo>
                    <a:pt x="79" y="631"/>
                  </a:lnTo>
                  <a:lnTo>
                    <a:pt x="629" y="631"/>
                  </a:lnTo>
                  <a:lnTo>
                    <a:pt x="629" y="78"/>
                  </a:lnTo>
                  <a:lnTo>
                    <a:pt x="79" y="78"/>
                  </a:lnTo>
                  <a:close/>
                  <a:moveTo>
                    <a:pt x="71" y="0"/>
                  </a:moveTo>
                  <a:lnTo>
                    <a:pt x="637" y="0"/>
                  </a:lnTo>
                  <a:lnTo>
                    <a:pt x="655" y="2"/>
                  </a:lnTo>
                  <a:lnTo>
                    <a:pt x="672" y="10"/>
                  </a:lnTo>
                  <a:lnTo>
                    <a:pt x="687" y="20"/>
                  </a:lnTo>
                  <a:lnTo>
                    <a:pt x="697" y="35"/>
                  </a:lnTo>
                  <a:lnTo>
                    <a:pt x="705" y="52"/>
                  </a:lnTo>
                  <a:lnTo>
                    <a:pt x="707" y="70"/>
                  </a:lnTo>
                  <a:lnTo>
                    <a:pt x="707" y="638"/>
                  </a:lnTo>
                  <a:lnTo>
                    <a:pt x="705" y="657"/>
                  </a:lnTo>
                  <a:lnTo>
                    <a:pt x="697" y="674"/>
                  </a:lnTo>
                  <a:lnTo>
                    <a:pt x="687" y="688"/>
                  </a:lnTo>
                  <a:lnTo>
                    <a:pt x="672" y="699"/>
                  </a:lnTo>
                  <a:lnTo>
                    <a:pt x="655" y="706"/>
                  </a:lnTo>
                  <a:lnTo>
                    <a:pt x="637" y="709"/>
                  </a:lnTo>
                  <a:lnTo>
                    <a:pt x="71" y="709"/>
                  </a:lnTo>
                  <a:lnTo>
                    <a:pt x="53" y="706"/>
                  </a:lnTo>
                  <a:lnTo>
                    <a:pt x="36" y="699"/>
                  </a:lnTo>
                  <a:lnTo>
                    <a:pt x="21" y="688"/>
                  </a:lnTo>
                  <a:lnTo>
                    <a:pt x="11" y="674"/>
                  </a:lnTo>
                  <a:lnTo>
                    <a:pt x="3" y="657"/>
                  </a:lnTo>
                  <a:lnTo>
                    <a:pt x="0" y="638"/>
                  </a:lnTo>
                  <a:lnTo>
                    <a:pt x="0" y="70"/>
                  </a:lnTo>
                  <a:lnTo>
                    <a:pt x="3" y="52"/>
                  </a:lnTo>
                  <a:lnTo>
                    <a:pt x="11" y="35"/>
                  </a:lnTo>
                  <a:lnTo>
                    <a:pt x="21" y="20"/>
                  </a:lnTo>
                  <a:lnTo>
                    <a:pt x="36" y="10"/>
                  </a:lnTo>
                  <a:lnTo>
                    <a:pt x="53" y="2"/>
                  </a:lnTo>
                  <a:lnTo>
                    <a:pt x="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3" name="Freeform 9"/>
            <p:cNvSpPr>
              <a:spLocks/>
            </p:cNvSpPr>
            <p:nvPr/>
          </p:nvSpPr>
          <p:spPr bwMode="auto">
            <a:xfrm>
              <a:off x="2817077" y="1515030"/>
              <a:ext cx="55998" cy="172775"/>
            </a:xfrm>
            <a:custGeom>
              <a:avLst/>
              <a:gdLst/>
              <a:ahLst/>
              <a:cxnLst>
                <a:cxn ang="0">
                  <a:pos x="31" y="0"/>
                </a:cxn>
                <a:cxn ang="0">
                  <a:pos x="51" y="0"/>
                </a:cxn>
                <a:cxn ang="0">
                  <a:pos x="63" y="3"/>
                </a:cxn>
                <a:cxn ang="0">
                  <a:pos x="73" y="9"/>
                </a:cxn>
                <a:cxn ang="0">
                  <a:pos x="80" y="20"/>
                </a:cxn>
                <a:cxn ang="0">
                  <a:pos x="82" y="32"/>
                </a:cxn>
                <a:cxn ang="0">
                  <a:pos x="82" y="222"/>
                </a:cxn>
                <a:cxn ang="0">
                  <a:pos x="80" y="235"/>
                </a:cxn>
                <a:cxn ang="0">
                  <a:pos x="73" y="244"/>
                </a:cxn>
                <a:cxn ang="0">
                  <a:pos x="63" y="251"/>
                </a:cxn>
                <a:cxn ang="0">
                  <a:pos x="51" y="253"/>
                </a:cxn>
                <a:cxn ang="0">
                  <a:pos x="31" y="253"/>
                </a:cxn>
                <a:cxn ang="0">
                  <a:pos x="19" y="251"/>
                </a:cxn>
                <a:cxn ang="0">
                  <a:pos x="9" y="244"/>
                </a:cxn>
                <a:cxn ang="0">
                  <a:pos x="2" y="235"/>
                </a:cxn>
                <a:cxn ang="0">
                  <a:pos x="0" y="222"/>
                </a:cxn>
                <a:cxn ang="0">
                  <a:pos x="0" y="32"/>
                </a:cxn>
                <a:cxn ang="0">
                  <a:pos x="2" y="20"/>
                </a:cxn>
                <a:cxn ang="0">
                  <a:pos x="9" y="9"/>
                </a:cxn>
                <a:cxn ang="0">
                  <a:pos x="19" y="3"/>
                </a:cxn>
                <a:cxn ang="0">
                  <a:pos x="31" y="0"/>
                </a:cxn>
              </a:cxnLst>
              <a:rect l="0" t="0" r="r" b="b"/>
              <a:pathLst>
                <a:path w="82" h="253">
                  <a:moveTo>
                    <a:pt x="31" y="0"/>
                  </a:moveTo>
                  <a:lnTo>
                    <a:pt x="51" y="0"/>
                  </a:lnTo>
                  <a:lnTo>
                    <a:pt x="63" y="3"/>
                  </a:lnTo>
                  <a:lnTo>
                    <a:pt x="73" y="9"/>
                  </a:lnTo>
                  <a:lnTo>
                    <a:pt x="80" y="20"/>
                  </a:lnTo>
                  <a:lnTo>
                    <a:pt x="82" y="32"/>
                  </a:lnTo>
                  <a:lnTo>
                    <a:pt x="82" y="222"/>
                  </a:lnTo>
                  <a:lnTo>
                    <a:pt x="80" y="235"/>
                  </a:lnTo>
                  <a:lnTo>
                    <a:pt x="73" y="244"/>
                  </a:lnTo>
                  <a:lnTo>
                    <a:pt x="63" y="251"/>
                  </a:lnTo>
                  <a:lnTo>
                    <a:pt x="51" y="253"/>
                  </a:lnTo>
                  <a:lnTo>
                    <a:pt x="31" y="253"/>
                  </a:lnTo>
                  <a:lnTo>
                    <a:pt x="19" y="251"/>
                  </a:lnTo>
                  <a:lnTo>
                    <a:pt x="9" y="244"/>
                  </a:lnTo>
                  <a:lnTo>
                    <a:pt x="2" y="235"/>
                  </a:lnTo>
                  <a:lnTo>
                    <a:pt x="0" y="222"/>
                  </a:lnTo>
                  <a:lnTo>
                    <a:pt x="0" y="32"/>
                  </a:lnTo>
                  <a:lnTo>
                    <a:pt x="2" y="20"/>
                  </a:lnTo>
                  <a:lnTo>
                    <a:pt x="9" y="9"/>
                  </a:lnTo>
                  <a:lnTo>
                    <a:pt x="19" y="3"/>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4" name="Freeform 10"/>
            <p:cNvSpPr>
              <a:spLocks/>
            </p:cNvSpPr>
            <p:nvPr/>
          </p:nvSpPr>
          <p:spPr bwMode="auto">
            <a:xfrm>
              <a:off x="3004876" y="1515030"/>
              <a:ext cx="55998" cy="172775"/>
            </a:xfrm>
            <a:custGeom>
              <a:avLst/>
              <a:gdLst/>
              <a:ahLst/>
              <a:cxnLst>
                <a:cxn ang="0">
                  <a:pos x="32" y="0"/>
                </a:cxn>
                <a:cxn ang="0">
                  <a:pos x="51" y="0"/>
                </a:cxn>
                <a:cxn ang="0">
                  <a:pos x="64" y="3"/>
                </a:cxn>
                <a:cxn ang="0">
                  <a:pos x="73" y="9"/>
                </a:cxn>
                <a:cxn ang="0">
                  <a:pos x="79" y="20"/>
                </a:cxn>
                <a:cxn ang="0">
                  <a:pos x="82" y="32"/>
                </a:cxn>
                <a:cxn ang="0">
                  <a:pos x="82" y="222"/>
                </a:cxn>
                <a:cxn ang="0">
                  <a:pos x="79" y="235"/>
                </a:cxn>
                <a:cxn ang="0">
                  <a:pos x="73" y="244"/>
                </a:cxn>
                <a:cxn ang="0">
                  <a:pos x="64" y="251"/>
                </a:cxn>
                <a:cxn ang="0">
                  <a:pos x="51" y="253"/>
                </a:cxn>
                <a:cxn ang="0">
                  <a:pos x="32" y="253"/>
                </a:cxn>
                <a:cxn ang="0">
                  <a:pos x="19" y="251"/>
                </a:cxn>
                <a:cxn ang="0">
                  <a:pos x="9" y="244"/>
                </a:cxn>
                <a:cxn ang="0">
                  <a:pos x="2" y="235"/>
                </a:cxn>
                <a:cxn ang="0">
                  <a:pos x="0" y="222"/>
                </a:cxn>
                <a:cxn ang="0">
                  <a:pos x="0" y="32"/>
                </a:cxn>
                <a:cxn ang="0">
                  <a:pos x="2" y="20"/>
                </a:cxn>
                <a:cxn ang="0">
                  <a:pos x="9" y="9"/>
                </a:cxn>
                <a:cxn ang="0">
                  <a:pos x="19" y="3"/>
                </a:cxn>
                <a:cxn ang="0">
                  <a:pos x="32" y="0"/>
                </a:cxn>
              </a:cxnLst>
              <a:rect l="0" t="0" r="r" b="b"/>
              <a:pathLst>
                <a:path w="82" h="253">
                  <a:moveTo>
                    <a:pt x="32" y="0"/>
                  </a:moveTo>
                  <a:lnTo>
                    <a:pt x="51" y="0"/>
                  </a:lnTo>
                  <a:lnTo>
                    <a:pt x="64" y="3"/>
                  </a:lnTo>
                  <a:lnTo>
                    <a:pt x="73" y="9"/>
                  </a:lnTo>
                  <a:lnTo>
                    <a:pt x="79" y="20"/>
                  </a:lnTo>
                  <a:lnTo>
                    <a:pt x="82" y="32"/>
                  </a:lnTo>
                  <a:lnTo>
                    <a:pt x="82" y="222"/>
                  </a:lnTo>
                  <a:lnTo>
                    <a:pt x="79" y="235"/>
                  </a:lnTo>
                  <a:lnTo>
                    <a:pt x="73" y="244"/>
                  </a:lnTo>
                  <a:lnTo>
                    <a:pt x="64" y="251"/>
                  </a:lnTo>
                  <a:lnTo>
                    <a:pt x="51" y="253"/>
                  </a:lnTo>
                  <a:lnTo>
                    <a:pt x="32" y="253"/>
                  </a:lnTo>
                  <a:lnTo>
                    <a:pt x="19" y="251"/>
                  </a:lnTo>
                  <a:lnTo>
                    <a:pt x="9" y="244"/>
                  </a:lnTo>
                  <a:lnTo>
                    <a:pt x="2" y="235"/>
                  </a:lnTo>
                  <a:lnTo>
                    <a:pt x="0" y="222"/>
                  </a:lnTo>
                  <a:lnTo>
                    <a:pt x="0" y="32"/>
                  </a:lnTo>
                  <a:lnTo>
                    <a:pt x="2" y="20"/>
                  </a:lnTo>
                  <a:lnTo>
                    <a:pt x="9" y="9"/>
                  </a:lnTo>
                  <a:lnTo>
                    <a:pt x="19" y="3"/>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5" name="Freeform 11"/>
            <p:cNvSpPr>
              <a:spLocks/>
            </p:cNvSpPr>
            <p:nvPr/>
          </p:nvSpPr>
          <p:spPr bwMode="auto">
            <a:xfrm>
              <a:off x="2811614" y="1741754"/>
              <a:ext cx="258821" cy="48486"/>
            </a:xfrm>
            <a:custGeom>
              <a:avLst/>
              <a:gdLst/>
              <a:ahLst/>
              <a:cxnLst>
                <a:cxn ang="0">
                  <a:pos x="30" y="0"/>
                </a:cxn>
                <a:cxn ang="0">
                  <a:pos x="348" y="0"/>
                </a:cxn>
                <a:cxn ang="0">
                  <a:pos x="360" y="3"/>
                </a:cxn>
                <a:cxn ang="0">
                  <a:pos x="370" y="10"/>
                </a:cxn>
                <a:cxn ang="0">
                  <a:pos x="377" y="20"/>
                </a:cxn>
                <a:cxn ang="0">
                  <a:pos x="379" y="32"/>
                </a:cxn>
                <a:cxn ang="0">
                  <a:pos x="379" y="39"/>
                </a:cxn>
                <a:cxn ang="0">
                  <a:pos x="377" y="52"/>
                </a:cxn>
                <a:cxn ang="0">
                  <a:pos x="370" y="62"/>
                </a:cxn>
                <a:cxn ang="0">
                  <a:pos x="360" y="69"/>
                </a:cxn>
                <a:cxn ang="0">
                  <a:pos x="348" y="71"/>
                </a:cxn>
                <a:cxn ang="0">
                  <a:pos x="30" y="71"/>
                </a:cxn>
                <a:cxn ang="0">
                  <a:pos x="18" y="69"/>
                </a:cxn>
                <a:cxn ang="0">
                  <a:pos x="9" y="62"/>
                </a:cxn>
                <a:cxn ang="0">
                  <a:pos x="2" y="52"/>
                </a:cxn>
                <a:cxn ang="0">
                  <a:pos x="0" y="39"/>
                </a:cxn>
                <a:cxn ang="0">
                  <a:pos x="0" y="32"/>
                </a:cxn>
                <a:cxn ang="0">
                  <a:pos x="2" y="20"/>
                </a:cxn>
                <a:cxn ang="0">
                  <a:pos x="9" y="10"/>
                </a:cxn>
                <a:cxn ang="0">
                  <a:pos x="18" y="3"/>
                </a:cxn>
                <a:cxn ang="0">
                  <a:pos x="30" y="0"/>
                </a:cxn>
              </a:cxnLst>
              <a:rect l="0" t="0" r="r" b="b"/>
              <a:pathLst>
                <a:path w="379" h="71">
                  <a:moveTo>
                    <a:pt x="30" y="0"/>
                  </a:moveTo>
                  <a:lnTo>
                    <a:pt x="348" y="0"/>
                  </a:lnTo>
                  <a:lnTo>
                    <a:pt x="360" y="3"/>
                  </a:lnTo>
                  <a:lnTo>
                    <a:pt x="370" y="10"/>
                  </a:lnTo>
                  <a:lnTo>
                    <a:pt x="377" y="20"/>
                  </a:lnTo>
                  <a:lnTo>
                    <a:pt x="379" y="32"/>
                  </a:lnTo>
                  <a:lnTo>
                    <a:pt x="379" y="39"/>
                  </a:lnTo>
                  <a:lnTo>
                    <a:pt x="377" y="52"/>
                  </a:lnTo>
                  <a:lnTo>
                    <a:pt x="370" y="62"/>
                  </a:lnTo>
                  <a:lnTo>
                    <a:pt x="360" y="69"/>
                  </a:lnTo>
                  <a:lnTo>
                    <a:pt x="348" y="71"/>
                  </a:lnTo>
                  <a:lnTo>
                    <a:pt x="30" y="71"/>
                  </a:lnTo>
                  <a:lnTo>
                    <a:pt x="18" y="69"/>
                  </a:lnTo>
                  <a:lnTo>
                    <a:pt x="9" y="62"/>
                  </a:lnTo>
                  <a:lnTo>
                    <a:pt x="2" y="52"/>
                  </a:lnTo>
                  <a:lnTo>
                    <a:pt x="0" y="39"/>
                  </a:lnTo>
                  <a:lnTo>
                    <a:pt x="0" y="32"/>
                  </a:lnTo>
                  <a:lnTo>
                    <a:pt x="2" y="20"/>
                  </a:lnTo>
                  <a:lnTo>
                    <a:pt x="9" y="10"/>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6" name="Freeform 12"/>
            <p:cNvSpPr>
              <a:spLocks/>
            </p:cNvSpPr>
            <p:nvPr/>
          </p:nvSpPr>
          <p:spPr bwMode="auto">
            <a:xfrm>
              <a:off x="2811614" y="1814142"/>
              <a:ext cx="258821" cy="48486"/>
            </a:xfrm>
            <a:custGeom>
              <a:avLst/>
              <a:gdLst/>
              <a:ahLst/>
              <a:cxnLst>
                <a:cxn ang="0">
                  <a:pos x="30" y="0"/>
                </a:cxn>
                <a:cxn ang="0">
                  <a:pos x="348" y="0"/>
                </a:cxn>
                <a:cxn ang="0">
                  <a:pos x="360" y="3"/>
                </a:cxn>
                <a:cxn ang="0">
                  <a:pos x="370" y="9"/>
                </a:cxn>
                <a:cxn ang="0">
                  <a:pos x="377" y="20"/>
                </a:cxn>
                <a:cxn ang="0">
                  <a:pos x="379" y="32"/>
                </a:cxn>
                <a:cxn ang="0">
                  <a:pos x="379" y="39"/>
                </a:cxn>
                <a:cxn ang="0">
                  <a:pos x="377" y="51"/>
                </a:cxn>
                <a:cxn ang="0">
                  <a:pos x="370" y="62"/>
                </a:cxn>
                <a:cxn ang="0">
                  <a:pos x="360" y="68"/>
                </a:cxn>
                <a:cxn ang="0">
                  <a:pos x="348" y="71"/>
                </a:cxn>
                <a:cxn ang="0">
                  <a:pos x="30" y="71"/>
                </a:cxn>
                <a:cxn ang="0">
                  <a:pos x="18" y="68"/>
                </a:cxn>
                <a:cxn ang="0">
                  <a:pos x="9" y="62"/>
                </a:cxn>
                <a:cxn ang="0">
                  <a:pos x="2" y="51"/>
                </a:cxn>
                <a:cxn ang="0">
                  <a:pos x="0" y="39"/>
                </a:cxn>
                <a:cxn ang="0">
                  <a:pos x="0" y="32"/>
                </a:cxn>
                <a:cxn ang="0">
                  <a:pos x="2" y="20"/>
                </a:cxn>
                <a:cxn ang="0">
                  <a:pos x="9" y="9"/>
                </a:cxn>
                <a:cxn ang="0">
                  <a:pos x="18" y="3"/>
                </a:cxn>
                <a:cxn ang="0">
                  <a:pos x="30" y="0"/>
                </a:cxn>
              </a:cxnLst>
              <a:rect l="0" t="0" r="r" b="b"/>
              <a:pathLst>
                <a:path w="379" h="71">
                  <a:moveTo>
                    <a:pt x="30" y="0"/>
                  </a:moveTo>
                  <a:lnTo>
                    <a:pt x="348" y="0"/>
                  </a:lnTo>
                  <a:lnTo>
                    <a:pt x="360" y="3"/>
                  </a:lnTo>
                  <a:lnTo>
                    <a:pt x="370" y="9"/>
                  </a:lnTo>
                  <a:lnTo>
                    <a:pt x="377" y="20"/>
                  </a:lnTo>
                  <a:lnTo>
                    <a:pt x="379" y="32"/>
                  </a:lnTo>
                  <a:lnTo>
                    <a:pt x="379" y="39"/>
                  </a:lnTo>
                  <a:lnTo>
                    <a:pt x="377" y="51"/>
                  </a:lnTo>
                  <a:lnTo>
                    <a:pt x="370" y="62"/>
                  </a:lnTo>
                  <a:lnTo>
                    <a:pt x="360" y="68"/>
                  </a:lnTo>
                  <a:lnTo>
                    <a:pt x="348" y="71"/>
                  </a:lnTo>
                  <a:lnTo>
                    <a:pt x="30" y="71"/>
                  </a:lnTo>
                  <a:lnTo>
                    <a:pt x="18" y="68"/>
                  </a:lnTo>
                  <a:lnTo>
                    <a:pt x="9" y="62"/>
                  </a:lnTo>
                  <a:lnTo>
                    <a:pt x="2" y="51"/>
                  </a:lnTo>
                  <a:lnTo>
                    <a:pt x="0" y="39"/>
                  </a:lnTo>
                  <a:lnTo>
                    <a:pt x="0" y="32"/>
                  </a:lnTo>
                  <a:lnTo>
                    <a:pt x="2" y="20"/>
                  </a:lnTo>
                  <a:lnTo>
                    <a:pt x="9" y="9"/>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7" name="Freeform 13"/>
            <p:cNvSpPr>
              <a:spLocks/>
            </p:cNvSpPr>
            <p:nvPr/>
          </p:nvSpPr>
          <p:spPr bwMode="auto">
            <a:xfrm>
              <a:off x="2811614" y="1890628"/>
              <a:ext cx="258821" cy="47803"/>
            </a:xfrm>
            <a:custGeom>
              <a:avLst/>
              <a:gdLst/>
              <a:ahLst/>
              <a:cxnLst>
                <a:cxn ang="0">
                  <a:pos x="30" y="0"/>
                </a:cxn>
                <a:cxn ang="0">
                  <a:pos x="348" y="0"/>
                </a:cxn>
                <a:cxn ang="0">
                  <a:pos x="360" y="2"/>
                </a:cxn>
                <a:cxn ang="0">
                  <a:pos x="370" y="9"/>
                </a:cxn>
                <a:cxn ang="0">
                  <a:pos x="377" y="19"/>
                </a:cxn>
                <a:cxn ang="0">
                  <a:pos x="379" y="32"/>
                </a:cxn>
                <a:cxn ang="0">
                  <a:pos x="379" y="38"/>
                </a:cxn>
                <a:cxn ang="0">
                  <a:pos x="377" y="51"/>
                </a:cxn>
                <a:cxn ang="0">
                  <a:pos x="370" y="61"/>
                </a:cxn>
                <a:cxn ang="0">
                  <a:pos x="360" y="68"/>
                </a:cxn>
                <a:cxn ang="0">
                  <a:pos x="348" y="70"/>
                </a:cxn>
                <a:cxn ang="0">
                  <a:pos x="30" y="70"/>
                </a:cxn>
                <a:cxn ang="0">
                  <a:pos x="18" y="68"/>
                </a:cxn>
                <a:cxn ang="0">
                  <a:pos x="9" y="61"/>
                </a:cxn>
                <a:cxn ang="0">
                  <a:pos x="2" y="51"/>
                </a:cxn>
                <a:cxn ang="0">
                  <a:pos x="0" y="38"/>
                </a:cxn>
                <a:cxn ang="0">
                  <a:pos x="0" y="32"/>
                </a:cxn>
                <a:cxn ang="0">
                  <a:pos x="2" y="19"/>
                </a:cxn>
                <a:cxn ang="0">
                  <a:pos x="9" y="9"/>
                </a:cxn>
                <a:cxn ang="0">
                  <a:pos x="18" y="2"/>
                </a:cxn>
                <a:cxn ang="0">
                  <a:pos x="30" y="0"/>
                </a:cxn>
              </a:cxnLst>
              <a:rect l="0" t="0" r="r" b="b"/>
              <a:pathLst>
                <a:path w="379" h="70">
                  <a:moveTo>
                    <a:pt x="30" y="0"/>
                  </a:moveTo>
                  <a:lnTo>
                    <a:pt x="348" y="0"/>
                  </a:lnTo>
                  <a:lnTo>
                    <a:pt x="360" y="2"/>
                  </a:lnTo>
                  <a:lnTo>
                    <a:pt x="370" y="9"/>
                  </a:lnTo>
                  <a:lnTo>
                    <a:pt x="377" y="19"/>
                  </a:lnTo>
                  <a:lnTo>
                    <a:pt x="379" y="32"/>
                  </a:lnTo>
                  <a:lnTo>
                    <a:pt x="379" y="38"/>
                  </a:lnTo>
                  <a:lnTo>
                    <a:pt x="377" y="51"/>
                  </a:lnTo>
                  <a:lnTo>
                    <a:pt x="370" y="61"/>
                  </a:lnTo>
                  <a:lnTo>
                    <a:pt x="360" y="68"/>
                  </a:lnTo>
                  <a:lnTo>
                    <a:pt x="348" y="70"/>
                  </a:lnTo>
                  <a:lnTo>
                    <a:pt x="30" y="70"/>
                  </a:lnTo>
                  <a:lnTo>
                    <a:pt x="18" y="68"/>
                  </a:lnTo>
                  <a:lnTo>
                    <a:pt x="9" y="61"/>
                  </a:lnTo>
                  <a:lnTo>
                    <a:pt x="2" y="51"/>
                  </a:lnTo>
                  <a:lnTo>
                    <a:pt x="0" y="38"/>
                  </a:lnTo>
                  <a:lnTo>
                    <a:pt x="0" y="32"/>
                  </a:lnTo>
                  <a:lnTo>
                    <a:pt x="2" y="19"/>
                  </a:lnTo>
                  <a:lnTo>
                    <a:pt x="9" y="9"/>
                  </a:lnTo>
                  <a:lnTo>
                    <a:pt x="18" y="2"/>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0" name="Group 29"/>
          <p:cNvGrpSpPr/>
          <p:nvPr/>
        </p:nvGrpSpPr>
        <p:grpSpPr>
          <a:xfrm>
            <a:off x="5276850" y="1990725"/>
            <a:ext cx="515593" cy="493740"/>
            <a:chOff x="3359303" y="1601759"/>
            <a:chExt cx="515593" cy="493740"/>
          </a:xfrm>
          <a:solidFill>
            <a:schemeClr val="bg1"/>
          </a:solidFill>
        </p:grpSpPr>
        <p:sp>
          <p:nvSpPr>
            <p:cNvPr id="1038" name="Freeform 14"/>
            <p:cNvSpPr>
              <a:spLocks noEditPoints="1"/>
            </p:cNvSpPr>
            <p:nvPr/>
          </p:nvSpPr>
          <p:spPr bwMode="auto">
            <a:xfrm>
              <a:off x="3359303" y="1601759"/>
              <a:ext cx="515593" cy="376964"/>
            </a:xfrm>
            <a:custGeom>
              <a:avLst/>
              <a:gdLst/>
              <a:ahLst/>
              <a:cxnLst>
                <a:cxn ang="0">
                  <a:pos x="69" y="72"/>
                </a:cxn>
                <a:cxn ang="0">
                  <a:pos x="69" y="477"/>
                </a:cxn>
                <a:cxn ang="0">
                  <a:pos x="683" y="477"/>
                </a:cxn>
                <a:cxn ang="0">
                  <a:pos x="683" y="72"/>
                </a:cxn>
                <a:cxn ang="0">
                  <a:pos x="69" y="72"/>
                </a:cxn>
                <a:cxn ang="0">
                  <a:pos x="32" y="0"/>
                </a:cxn>
                <a:cxn ang="0">
                  <a:pos x="723" y="0"/>
                </a:cxn>
                <a:cxn ang="0">
                  <a:pos x="735" y="2"/>
                </a:cxn>
                <a:cxn ang="0">
                  <a:pos x="746" y="9"/>
                </a:cxn>
                <a:cxn ang="0">
                  <a:pos x="752" y="19"/>
                </a:cxn>
                <a:cxn ang="0">
                  <a:pos x="755" y="31"/>
                </a:cxn>
                <a:cxn ang="0">
                  <a:pos x="755" y="521"/>
                </a:cxn>
                <a:cxn ang="0">
                  <a:pos x="752" y="533"/>
                </a:cxn>
                <a:cxn ang="0">
                  <a:pos x="746" y="543"/>
                </a:cxn>
                <a:cxn ang="0">
                  <a:pos x="735" y="550"/>
                </a:cxn>
                <a:cxn ang="0">
                  <a:pos x="723" y="552"/>
                </a:cxn>
                <a:cxn ang="0">
                  <a:pos x="32" y="552"/>
                </a:cxn>
                <a:cxn ang="0">
                  <a:pos x="19" y="550"/>
                </a:cxn>
                <a:cxn ang="0">
                  <a:pos x="9" y="543"/>
                </a:cxn>
                <a:cxn ang="0">
                  <a:pos x="2" y="533"/>
                </a:cxn>
                <a:cxn ang="0">
                  <a:pos x="0" y="521"/>
                </a:cxn>
                <a:cxn ang="0">
                  <a:pos x="0" y="31"/>
                </a:cxn>
                <a:cxn ang="0">
                  <a:pos x="2" y="19"/>
                </a:cxn>
                <a:cxn ang="0">
                  <a:pos x="9" y="9"/>
                </a:cxn>
                <a:cxn ang="0">
                  <a:pos x="19" y="2"/>
                </a:cxn>
                <a:cxn ang="0">
                  <a:pos x="32" y="0"/>
                </a:cxn>
              </a:cxnLst>
              <a:rect l="0" t="0" r="r" b="b"/>
              <a:pathLst>
                <a:path w="755" h="552">
                  <a:moveTo>
                    <a:pt x="69" y="72"/>
                  </a:moveTo>
                  <a:lnTo>
                    <a:pt x="69" y="477"/>
                  </a:lnTo>
                  <a:lnTo>
                    <a:pt x="683" y="477"/>
                  </a:lnTo>
                  <a:lnTo>
                    <a:pt x="683" y="72"/>
                  </a:lnTo>
                  <a:lnTo>
                    <a:pt x="69" y="72"/>
                  </a:lnTo>
                  <a:close/>
                  <a:moveTo>
                    <a:pt x="32" y="0"/>
                  </a:moveTo>
                  <a:lnTo>
                    <a:pt x="723" y="0"/>
                  </a:lnTo>
                  <a:lnTo>
                    <a:pt x="735" y="2"/>
                  </a:lnTo>
                  <a:lnTo>
                    <a:pt x="746" y="9"/>
                  </a:lnTo>
                  <a:lnTo>
                    <a:pt x="752" y="19"/>
                  </a:lnTo>
                  <a:lnTo>
                    <a:pt x="755" y="31"/>
                  </a:lnTo>
                  <a:lnTo>
                    <a:pt x="755" y="521"/>
                  </a:lnTo>
                  <a:lnTo>
                    <a:pt x="752" y="533"/>
                  </a:lnTo>
                  <a:lnTo>
                    <a:pt x="746" y="543"/>
                  </a:lnTo>
                  <a:lnTo>
                    <a:pt x="735" y="550"/>
                  </a:lnTo>
                  <a:lnTo>
                    <a:pt x="723" y="552"/>
                  </a:lnTo>
                  <a:lnTo>
                    <a:pt x="32" y="552"/>
                  </a:lnTo>
                  <a:lnTo>
                    <a:pt x="19" y="550"/>
                  </a:lnTo>
                  <a:lnTo>
                    <a:pt x="9" y="543"/>
                  </a:lnTo>
                  <a:lnTo>
                    <a:pt x="2" y="533"/>
                  </a:lnTo>
                  <a:lnTo>
                    <a:pt x="0" y="521"/>
                  </a:lnTo>
                  <a:lnTo>
                    <a:pt x="0" y="31"/>
                  </a:lnTo>
                  <a:lnTo>
                    <a:pt x="2" y="19"/>
                  </a:lnTo>
                  <a:lnTo>
                    <a:pt x="9" y="9"/>
                  </a:lnTo>
                  <a:lnTo>
                    <a:pt x="19" y="2"/>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9" name="Freeform 15"/>
            <p:cNvSpPr>
              <a:spLocks/>
            </p:cNvSpPr>
            <p:nvPr/>
          </p:nvSpPr>
          <p:spPr bwMode="auto">
            <a:xfrm>
              <a:off x="3489055" y="2012185"/>
              <a:ext cx="255406" cy="83314"/>
            </a:xfrm>
            <a:custGeom>
              <a:avLst/>
              <a:gdLst/>
              <a:ahLst/>
              <a:cxnLst>
                <a:cxn ang="0">
                  <a:pos x="0" y="0"/>
                </a:cxn>
                <a:cxn ang="0">
                  <a:pos x="374" y="0"/>
                </a:cxn>
                <a:cxn ang="0">
                  <a:pos x="358" y="30"/>
                </a:cxn>
                <a:cxn ang="0">
                  <a:pos x="338" y="56"/>
                </a:cxn>
                <a:cxn ang="0">
                  <a:pos x="314" y="79"/>
                </a:cxn>
                <a:cxn ang="0">
                  <a:pos x="286" y="97"/>
                </a:cxn>
                <a:cxn ang="0">
                  <a:pos x="255" y="111"/>
                </a:cxn>
                <a:cxn ang="0">
                  <a:pos x="223" y="119"/>
                </a:cxn>
                <a:cxn ang="0">
                  <a:pos x="187" y="122"/>
                </a:cxn>
                <a:cxn ang="0">
                  <a:pos x="152" y="119"/>
                </a:cxn>
                <a:cxn ang="0">
                  <a:pos x="119" y="111"/>
                </a:cxn>
                <a:cxn ang="0">
                  <a:pos x="89" y="97"/>
                </a:cxn>
                <a:cxn ang="0">
                  <a:pos x="60" y="79"/>
                </a:cxn>
                <a:cxn ang="0">
                  <a:pos x="37" y="56"/>
                </a:cxn>
                <a:cxn ang="0">
                  <a:pos x="16" y="30"/>
                </a:cxn>
                <a:cxn ang="0">
                  <a:pos x="0" y="0"/>
                </a:cxn>
              </a:cxnLst>
              <a:rect l="0" t="0" r="r" b="b"/>
              <a:pathLst>
                <a:path w="374" h="122">
                  <a:moveTo>
                    <a:pt x="0" y="0"/>
                  </a:moveTo>
                  <a:lnTo>
                    <a:pt x="374" y="0"/>
                  </a:lnTo>
                  <a:lnTo>
                    <a:pt x="358" y="30"/>
                  </a:lnTo>
                  <a:lnTo>
                    <a:pt x="338" y="56"/>
                  </a:lnTo>
                  <a:lnTo>
                    <a:pt x="314" y="79"/>
                  </a:lnTo>
                  <a:lnTo>
                    <a:pt x="286" y="97"/>
                  </a:lnTo>
                  <a:lnTo>
                    <a:pt x="255" y="111"/>
                  </a:lnTo>
                  <a:lnTo>
                    <a:pt x="223" y="119"/>
                  </a:lnTo>
                  <a:lnTo>
                    <a:pt x="187" y="122"/>
                  </a:lnTo>
                  <a:lnTo>
                    <a:pt x="152" y="119"/>
                  </a:lnTo>
                  <a:lnTo>
                    <a:pt x="119" y="111"/>
                  </a:lnTo>
                  <a:lnTo>
                    <a:pt x="89" y="97"/>
                  </a:lnTo>
                  <a:lnTo>
                    <a:pt x="60" y="79"/>
                  </a:lnTo>
                  <a:lnTo>
                    <a:pt x="37" y="56"/>
                  </a:lnTo>
                  <a:lnTo>
                    <a:pt x="16" y="3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040" name="Freeform 16"/>
          <p:cNvSpPr>
            <a:spLocks/>
          </p:cNvSpPr>
          <p:nvPr/>
        </p:nvSpPr>
        <p:spPr bwMode="auto">
          <a:xfrm>
            <a:off x="7229475" y="2066925"/>
            <a:ext cx="463693" cy="288869"/>
          </a:xfrm>
          <a:custGeom>
            <a:avLst/>
            <a:gdLst/>
            <a:ahLst/>
            <a:cxnLst>
              <a:cxn ang="0">
                <a:pos x="418" y="0"/>
              </a:cxn>
              <a:cxn ang="0">
                <a:pos x="679" y="0"/>
              </a:cxn>
              <a:cxn ang="0">
                <a:pos x="679" y="257"/>
              </a:cxn>
              <a:cxn ang="0">
                <a:pos x="614" y="192"/>
              </a:cxn>
              <a:cxn ang="0">
                <a:pos x="387" y="423"/>
              </a:cxn>
              <a:cxn ang="0">
                <a:pos x="257" y="293"/>
              </a:cxn>
              <a:cxn ang="0">
                <a:pos x="127" y="423"/>
              </a:cxn>
              <a:cxn ang="0">
                <a:pos x="0" y="290"/>
              </a:cxn>
              <a:cxn ang="0">
                <a:pos x="257" y="34"/>
              </a:cxn>
              <a:cxn ang="0">
                <a:pos x="387" y="162"/>
              </a:cxn>
              <a:cxn ang="0">
                <a:pos x="482" y="68"/>
              </a:cxn>
              <a:cxn ang="0">
                <a:pos x="418" y="0"/>
              </a:cxn>
            </a:cxnLst>
            <a:rect l="0" t="0" r="r" b="b"/>
            <a:pathLst>
              <a:path w="679" h="423">
                <a:moveTo>
                  <a:pt x="418" y="0"/>
                </a:moveTo>
                <a:lnTo>
                  <a:pt x="679" y="0"/>
                </a:lnTo>
                <a:lnTo>
                  <a:pt x="679" y="257"/>
                </a:lnTo>
                <a:lnTo>
                  <a:pt x="614" y="192"/>
                </a:lnTo>
                <a:lnTo>
                  <a:pt x="387" y="423"/>
                </a:lnTo>
                <a:lnTo>
                  <a:pt x="257" y="293"/>
                </a:lnTo>
                <a:lnTo>
                  <a:pt x="127" y="423"/>
                </a:lnTo>
                <a:lnTo>
                  <a:pt x="0" y="290"/>
                </a:lnTo>
                <a:lnTo>
                  <a:pt x="257" y="34"/>
                </a:lnTo>
                <a:lnTo>
                  <a:pt x="387" y="162"/>
                </a:lnTo>
                <a:lnTo>
                  <a:pt x="482" y="68"/>
                </a:lnTo>
                <a:lnTo>
                  <a:pt x="41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TextBox 32"/>
          <p:cNvSpPr txBox="1"/>
          <p:nvPr/>
        </p:nvSpPr>
        <p:spPr>
          <a:xfrm>
            <a:off x="4724400" y="2929176"/>
            <a:ext cx="1600200" cy="307777"/>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Publish Process</a:t>
            </a:r>
            <a:endParaRPr lang="en-US" sz="1100" dirty="0">
              <a:solidFill>
                <a:schemeClr val="bg1">
                  <a:lumMod val="50000"/>
                </a:schemeClr>
              </a:solidFill>
              <a:latin typeface="Arial" pitchFamily="34" charset="0"/>
              <a:cs typeface="Arial" pitchFamily="34" charset="0"/>
            </a:endParaRPr>
          </a:p>
        </p:txBody>
      </p:sp>
      <p:sp>
        <p:nvSpPr>
          <p:cNvPr id="34" name="TextBox 33"/>
          <p:cNvSpPr txBox="1"/>
          <p:nvPr/>
        </p:nvSpPr>
        <p:spPr>
          <a:xfrm>
            <a:off x="2809875" y="2929176"/>
            <a:ext cx="1600200" cy="584775"/>
          </a:xfrm>
          <a:prstGeom prst="rect">
            <a:avLst/>
          </a:prstGeom>
          <a:noFill/>
        </p:spPr>
        <p:txBody>
          <a:bodyPr wrap="square" rtlCol="0">
            <a:spAutoFit/>
          </a:bodyPr>
          <a:lstStyle/>
          <a:p>
            <a:pPr algn="ctr"/>
            <a:r>
              <a:rPr lang="en-US" sz="1600" dirty="0">
                <a:solidFill>
                  <a:srgbClr val="0563B8"/>
                </a:solidFill>
                <a:latin typeface="Arial" pitchFamily="34" charset="0"/>
                <a:cs typeface="Arial" pitchFamily="34" charset="0"/>
              </a:rPr>
              <a:t>Deploy action and process</a:t>
            </a:r>
            <a:endParaRPr lang="en-US" sz="1100" dirty="0">
              <a:solidFill>
                <a:schemeClr val="bg1">
                  <a:lumMod val="50000"/>
                </a:schemeClr>
              </a:solidFill>
              <a:latin typeface="Arial" pitchFamily="34" charset="0"/>
              <a:cs typeface="Arial" pitchFamily="34" charset="0"/>
            </a:endParaRPr>
          </a:p>
        </p:txBody>
      </p:sp>
      <p:sp>
        <p:nvSpPr>
          <p:cNvPr id="35" name="TextBox 34"/>
          <p:cNvSpPr txBox="1"/>
          <p:nvPr/>
        </p:nvSpPr>
        <p:spPr>
          <a:xfrm>
            <a:off x="885825" y="2929176"/>
            <a:ext cx="1600200" cy="307777"/>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Showing total</a:t>
            </a:r>
            <a:endParaRPr lang="en-US" sz="1100" dirty="0">
              <a:solidFill>
                <a:schemeClr val="bg1">
                  <a:lumMod val="50000"/>
                </a:schemeClr>
              </a:solidFill>
              <a:latin typeface="Arial" pitchFamily="34" charset="0"/>
              <a:cs typeface="Arial" pitchFamily="34" charset="0"/>
            </a:endParaRPr>
          </a:p>
        </p:txBody>
      </p:sp>
    </p:spTree>
    <p:extLst>
      <p:ext uri="{BB962C8B-B14F-4D97-AF65-F5344CB8AC3E}">
        <p14:creationId xmlns:p14="http://schemas.microsoft.com/office/powerpoint/2010/main" val="3412325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942810-6591-948C-6380-A2DBA5DEE0FD}"/>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8E306CDE-70A8-47C8-83E0-A0596D5577C9}"/>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4" name="Title 3">
            <a:extLst>
              <a:ext uri="{FF2B5EF4-FFF2-40B4-BE49-F238E27FC236}">
                <a16:creationId xmlns:a16="http://schemas.microsoft.com/office/drawing/2014/main" id="{D819D3ED-3DB5-FA97-AAEF-36B137402459}"/>
              </a:ext>
            </a:extLst>
          </p:cNvPr>
          <p:cNvSpPr>
            <a:spLocks noGrp="1"/>
          </p:cNvSpPr>
          <p:nvPr>
            <p:ph type="title"/>
          </p:nvPr>
        </p:nvSpPr>
        <p:spPr/>
        <p:txBody>
          <a:bodyPr/>
          <a:lstStyle/>
          <a:p>
            <a:r>
              <a:rPr lang="en-IN" dirty="0"/>
              <a:t>Add a new Cart Screen to view cart</a:t>
            </a:r>
          </a:p>
        </p:txBody>
      </p:sp>
      <p:pic>
        <p:nvPicPr>
          <p:cNvPr id="6" name="Picture 5">
            <a:extLst>
              <a:ext uri="{FF2B5EF4-FFF2-40B4-BE49-F238E27FC236}">
                <a16:creationId xmlns:a16="http://schemas.microsoft.com/office/drawing/2014/main" id="{7A723AB3-CDBF-E694-DE53-0018C23CAEED}"/>
              </a:ext>
            </a:extLst>
          </p:cNvPr>
          <p:cNvPicPr>
            <a:picLocks noChangeAspect="1"/>
          </p:cNvPicPr>
          <p:nvPr/>
        </p:nvPicPr>
        <p:blipFill>
          <a:blip r:embed="rId2"/>
          <a:stretch>
            <a:fillRect/>
          </a:stretch>
        </p:blipFill>
        <p:spPr>
          <a:xfrm>
            <a:off x="228600" y="819150"/>
            <a:ext cx="5603690" cy="2897196"/>
          </a:xfrm>
          <a:prstGeom prst="rect">
            <a:avLst/>
          </a:prstGeom>
        </p:spPr>
      </p:pic>
      <p:pic>
        <p:nvPicPr>
          <p:cNvPr id="8" name="Picture 7">
            <a:extLst>
              <a:ext uri="{FF2B5EF4-FFF2-40B4-BE49-F238E27FC236}">
                <a16:creationId xmlns:a16="http://schemas.microsoft.com/office/drawing/2014/main" id="{CB97B48A-7CF0-31CD-DD19-29104AEADBE4}"/>
              </a:ext>
            </a:extLst>
          </p:cNvPr>
          <p:cNvPicPr>
            <a:picLocks noChangeAspect="1"/>
          </p:cNvPicPr>
          <p:nvPr/>
        </p:nvPicPr>
        <p:blipFill>
          <a:blip r:embed="rId3"/>
          <a:stretch>
            <a:fillRect/>
          </a:stretch>
        </p:blipFill>
        <p:spPr>
          <a:xfrm>
            <a:off x="3921452" y="3105150"/>
            <a:ext cx="4797315" cy="1543798"/>
          </a:xfrm>
          <a:prstGeom prst="rect">
            <a:avLst/>
          </a:prstGeom>
        </p:spPr>
      </p:pic>
    </p:spTree>
    <p:extLst>
      <p:ext uri="{BB962C8B-B14F-4D97-AF65-F5344CB8AC3E}">
        <p14:creationId xmlns:p14="http://schemas.microsoft.com/office/powerpoint/2010/main" val="2127577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9A91-9CCE-D194-2F1E-488EA18BAF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BCFD143-0DF2-50BD-4070-A161621645E5}"/>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140BDB00-DC60-80E6-04F5-6B41F4B87208}"/>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5</a:t>
            </a:fld>
            <a:endParaRPr lang="en-US" dirty="0"/>
          </a:p>
        </p:txBody>
      </p:sp>
      <p:sp>
        <p:nvSpPr>
          <p:cNvPr id="5" name="Title 4">
            <a:extLst>
              <a:ext uri="{FF2B5EF4-FFF2-40B4-BE49-F238E27FC236}">
                <a16:creationId xmlns:a16="http://schemas.microsoft.com/office/drawing/2014/main" id="{69B825DE-D275-21D9-5079-6B46978EEF82}"/>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Scenario</a:t>
            </a:r>
          </a:p>
        </p:txBody>
      </p:sp>
      <p:pic>
        <p:nvPicPr>
          <p:cNvPr id="6" name="Picture 5" descr="A person pointing at a computer&#10;&#10;Description automatically generated">
            <a:extLst>
              <a:ext uri="{FF2B5EF4-FFF2-40B4-BE49-F238E27FC236}">
                <a16:creationId xmlns:a16="http://schemas.microsoft.com/office/drawing/2014/main" id="{6E25B006-F379-0963-9334-A18A5839D0AD}"/>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36075" y="971550"/>
            <a:ext cx="2126125" cy="1450219"/>
          </a:xfrm>
          <a:prstGeom prst="rect">
            <a:avLst/>
          </a:prstGeom>
        </p:spPr>
      </p:pic>
      <p:pic>
        <p:nvPicPr>
          <p:cNvPr id="8" name="Picture 7" descr="A person wearing a headset and looking at a computer&#10;&#10;Description automatically generated">
            <a:extLst>
              <a:ext uri="{FF2B5EF4-FFF2-40B4-BE49-F238E27FC236}">
                <a16:creationId xmlns:a16="http://schemas.microsoft.com/office/drawing/2014/main" id="{CB379A3E-C337-0EF8-8937-7E680FAEC84F}"/>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507864" y="715798"/>
            <a:ext cx="1309939" cy="1480602"/>
          </a:xfrm>
          <a:prstGeom prst="rect">
            <a:avLst/>
          </a:prstGeom>
        </p:spPr>
      </p:pic>
      <p:sp>
        <p:nvSpPr>
          <p:cNvPr id="9" name="TextBox 8">
            <a:extLst>
              <a:ext uri="{FF2B5EF4-FFF2-40B4-BE49-F238E27FC236}">
                <a16:creationId xmlns:a16="http://schemas.microsoft.com/office/drawing/2014/main" id="{5A0B23B1-780E-AEA9-725D-C38C97CD7437}"/>
              </a:ext>
            </a:extLst>
          </p:cNvPr>
          <p:cNvSpPr txBox="1"/>
          <p:nvPr/>
        </p:nvSpPr>
        <p:spPr>
          <a:xfrm>
            <a:off x="236075" y="2495550"/>
            <a:ext cx="2126125" cy="307777"/>
          </a:xfrm>
          <a:prstGeom prst="rect">
            <a:avLst/>
          </a:prstGeom>
          <a:noFill/>
        </p:spPr>
        <p:txBody>
          <a:bodyPr wrap="square" rtlCol="0">
            <a:spAutoFit/>
          </a:bodyPr>
          <a:lstStyle/>
          <a:p>
            <a:r>
              <a:rPr lang="en-IN" sz="1400" b="1" dirty="0"/>
              <a:t>Sales Representative</a:t>
            </a:r>
          </a:p>
        </p:txBody>
      </p:sp>
      <p:sp>
        <p:nvSpPr>
          <p:cNvPr id="10" name="Rectangle: Rounded Corners 9">
            <a:extLst>
              <a:ext uri="{FF2B5EF4-FFF2-40B4-BE49-F238E27FC236}">
                <a16:creationId xmlns:a16="http://schemas.microsoft.com/office/drawing/2014/main" id="{DC4F5F70-E8AA-D171-1092-2DDD578A9EA1}"/>
              </a:ext>
            </a:extLst>
          </p:cNvPr>
          <p:cNvSpPr/>
          <p:nvPr/>
        </p:nvSpPr>
        <p:spPr>
          <a:xfrm>
            <a:off x="2895600" y="959497"/>
            <a:ext cx="990600" cy="1447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Sales Order</a:t>
            </a:r>
          </a:p>
          <a:p>
            <a:pPr algn="ctr"/>
            <a:r>
              <a:rPr lang="en-IN" dirty="0"/>
              <a:t>(Build Apps)</a:t>
            </a:r>
          </a:p>
        </p:txBody>
      </p:sp>
      <p:sp>
        <p:nvSpPr>
          <p:cNvPr id="11" name="Rectangle 10">
            <a:extLst>
              <a:ext uri="{FF2B5EF4-FFF2-40B4-BE49-F238E27FC236}">
                <a16:creationId xmlns:a16="http://schemas.microsoft.com/office/drawing/2014/main" id="{D660C656-96C5-CE72-3EDC-1CC0227806E4}"/>
              </a:ext>
            </a:extLst>
          </p:cNvPr>
          <p:cNvSpPr/>
          <p:nvPr/>
        </p:nvSpPr>
        <p:spPr>
          <a:xfrm>
            <a:off x="2061137" y="3368119"/>
            <a:ext cx="2126125"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S/4HANA</a:t>
            </a:r>
          </a:p>
        </p:txBody>
      </p:sp>
      <p:sp>
        <p:nvSpPr>
          <p:cNvPr id="12" name="Arrow: Right 11">
            <a:extLst>
              <a:ext uri="{FF2B5EF4-FFF2-40B4-BE49-F238E27FC236}">
                <a16:creationId xmlns:a16="http://schemas.microsoft.com/office/drawing/2014/main" id="{5B757AC3-0308-30BC-D283-5E6B2149DF90}"/>
              </a:ext>
            </a:extLst>
          </p:cNvPr>
          <p:cNvSpPr/>
          <p:nvPr/>
        </p:nvSpPr>
        <p:spPr>
          <a:xfrm>
            <a:off x="2362200" y="1428750"/>
            <a:ext cx="533400" cy="5232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Connector: Elbow 13">
            <a:extLst>
              <a:ext uri="{FF2B5EF4-FFF2-40B4-BE49-F238E27FC236}">
                <a16:creationId xmlns:a16="http://schemas.microsoft.com/office/drawing/2014/main" id="{91E64308-056C-8A45-3AEB-755540EBA7AE}"/>
              </a:ext>
            </a:extLst>
          </p:cNvPr>
          <p:cNvCxnSpPr>
            <a:stCxn id="10" idx="2"/>
            <a:endCxn id="11" idx="0"/>
          </p:cNvCxnSpPr>
          <p:nvPr/>
        </p:nvCxnSpPr>
        <p:spPr>
          <a:xfrm rot="5400000">
            <a:off x="2777139" y="2754358"/>
            <a:ext cx="960822" cy="266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A555106-A687-82CC-4F6D-60C560D2878C}"/>
              </a:ext>
            </a:extLst>
          </p:cNvPr>
          <p:cNvSpPr/>
          <p:nvPr/>
        </p:nvSpPr>
        <p:spPr>
          <a:xfrm>
            <a:off x="4876800" y="590550"/>
            <a:ext cx="2478665" cy="3886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r>
              <a:rPr lang="en-IN" dirty="0"/>
              <a:t>Build Process Automation</a:t>
            </a:r>
          </a:p>
          <a:p>
            <a:pPr algn="ctr"/>
            <a:r>
              <a:rPr lang="en-IN" dirty="0"/>
              <a:t>BTP</a:t>
            </a:r>
          </a:p>
        </p:txBody>
      </p:sp>
      <p:sp>
        <p:nvSpPr>
          <p:cNvPr id="16" name="Rectangle 15">
            <a:extLst>
              <a:ext uri="{FF2B5EF4-FFF2-40B4-BE49-F238E27FC236}">
                <a16:creationId xmlns:a16="http://schemas.microsoft.com/office/drawing/2014/main" id="{B67E1720-8547-A044-6E7F-012864CA47ED}"/>
              </a:ext>
            </a:extLst>
          </p:cNvPr>
          <p:cNvSpPr/>
          <p:nvPr/>
        </p:nvSpPr>
        <p:spPr>
          <a:xfrm>
            <a:off x="5811332" y="1151300"/>
            <a:ext cx="6096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t>approval</a:t>
            </a:r>
          </a:p>
        </p:txBody>
      </p:sp>
      <p:sp>
        <p:nvSpPr>
          <p:cNvPr id="17" name="Oval 16">
            <a:extLst>
              <a:ext uri="{FF2B5EF4-FFF2-40B4-BE49-F238E27FC236}">
                <a16:creationId xmlns:a16="http://schemas.microsoft.com/office/drawing/2014/main" id="{580BC323-2446-FCDE-0A01-2D53BF1587D0}"/>
              </a:ext>
            </a:extLst>
          </p:cNvPr>
          <p:cNvSpPr/>
          <p:nvPr/>
        </p:nvSpPr>
        <p:spPr>
          <a:xfrm>
            <a:off x="5963732" y="710148"/>
            <a:ext cx="304800" cy="2471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3D46BD2C-AAF6-0157-E21E-E70F9BA07118}"/>
              </a:ext>
            </a:extLst>
          </p:cNvPr>
          <p:cNvSpPr/>
          <p:nvPr/>
        </p:nvSpPr>
        <p:spPr>
          <a:xfrm>
            <a:off x="5177872" y="1712635"/>
            <a:ext cx="6096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app</a:t>
            </a:r>
          </a:p>
        </p:txBody>
      </p:sp>
      <p:sp>
        <p:nvSpPr>
          <p:cNvPr id="19" name="Rectangle 18">
            <a:extLst>
              <a:ext uri="{FF2B5EF4-FFF2-40B4-BE49-F238E27FC236}">
                <a16:creationId xmlns:a16="http://schemas.microsoft.com/office/drawing/2014/main" id="{501E0D3B-5331-316A-F69D-5422BF9C3919}"/>
              </a:ext>
            </a:extLst>
          </p:cNvPr>
          <p:cNvSpPr/>
          <p:nvPr/>
        </p:nvSpPr>
        <p:spPr>
          <a:xfrm>
            <a:off x="6473272" y="1706883"/>
            <a:ext cx="6096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rej</a:t>
            </a:r>
            <a:endParaRPr lang="en-IN" dirty="0"/>
          </a:p>
        </p:txBody>
      </p:sp>
      <p:sp>
        <p:nvSpPr>
          <p:cNvPr id="20" name="Oval 19">
            <a:extLst>
              <a:ext uri="{FF2B5EF4-FFF2-40B4-BE49-F238E27FC236}">
                <a16:creationId xmlns:a16="http://schemas.microsoft.com/office/drawing/2014/main" id="{1E1B94AD-D938-4137-CC3B-99DA10F556CF}"/>
              </a:ext>
            </a:extLst>
          </p:cNvPr>
          <p:cNvSpPr/>
          <p:nvPr/>
        </p:nvSpPr>
        <p:spPr>
          <a:xfrm>
            <a:off x="6019800" y="2564607"/>
            <a:ext cx="248732" cy="2357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Connector: Elbow 21">
            <a:extLst>
              <a:ext uri="{FF2B5EF4-FFF2-40B4-BE49-F238E27FC236}">
                <a16:creationId xmlns:a16="http://schemas.microsoft.com/office/drawing/2014/main" id="{D5996196-E1BE-078D-5F96-3F59DC91C490}"/>
              </a:ext>
            </a:extLst>
          </p:cNvPr>
          <p:cNvCxnSpPr>
            <a:stCxn id="11" idx="3"/>
            <a:endCxn id="15" idx="1"/>
          </p:cNvCxnSpPr>
          <p:nvPr/>
        </p:nvCxnSpPr>
        <p:spPr>
          <a:xfrm flipV="1">
            <a:off x="4187262" y="2533650"/>
            <a:ext cx="689538" cy="117736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1EA5F03-E228-AA1C-C8FC-18F680677EAB}"/>
              </a:ext>
            </a:extLst>
          </p:cNvPr>
          <p:cNvCxnSpPr>
            <a:stCxn id="10" idx="3"/>
          </p:cNvCxnSpPr>
          <p:nvPr/>
        </p:nvCxnSpPr>
        <p:spPr>
          <a:xfrm>
            <a:off x="3886200" y="1683397"/>
            <a:ext cx="1020631" cy="23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B04F91E-5EE1-3BA7-4F20-44FE53A88135}"/>
              </a:ext>
            </a:extLst>
          </p:cNvPr>
          <p:cNvCxnSpPr>
            <a:cxnSpLocks/>
            <a:stCxn id="17" idx="4"/>
            <a:endCxn id="16" idx="0"/>
          </p:cNvCxnSpPr>
          <p:nvPr/>
        </p:nvCxnSpPr>
        <p:spPr>
          <a:xfrm>
            <a:off x="6116132" y="957264"/>
            <a:ext cx="0" cy="19403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9" name="Connector: Elbow 28">
            <a:extLst>
              <a:ext uri="{FF2B5EF4-FFF2-40B4-BE49-F238E27FC236}">
                <a16:creationId xmlns:a16="http://schemas.microsoft.com/office/drawing/2014/main" id="{CA563B2D-746A-9D23-D5DC-C1435D02EC5F}"/>
              </a:ext>
            </a:extLst>
          </p:cNvPr>
          <p:cNvCxnSpPr>
            <a:stCxn id="16" idx="2"/>
            <a:endCxn id="18" idx="0"/>
          </p:cNvCxnSpPr>
          <p:nvPr/>
        </p:nvCxnSpPr>
        <p:spPr>
          <a:xfrm rot="5400000">
            <a:off x="5671135" y="1267637"/>
            <a:ext cx="256535" cy="633460"/>
          </a:xfrm>
          <a:prstGeom prst="bentConnector3">
            <a:avLst/>
          </a:prstGeom>
          <a:ln>
            <a:solidFill>
              <a:srgbClr val="92D050"/>
            </a:solidFill>
            <a:tailEnd type="triangle"/>
          </a:ln>
        </p:spPr>
        <p:style>
          <a:lnRef idx="1">
            <a:schemeClr val="accent2"/>
          </a:lnRef>
          <a:fillRef idx="0">
            <a:schemeClr val="accent2"/>
          </a:fillRef>
          <a:effectRef idx="0">
            <a:schemeClr val="accent2"/>
          </a:effectRef>
          <a:fontRef idx="minor">
            <a:schemeClr val="tx1"/>
          </a:fontRef>
        </p:style>
      </p:cxnSp>
      <p:cxnSp>
        <p:nvCxnSpPr>
          <p:cNvPr id="30" name="Connector: Elbow 29">
            <a:extLst>
              <a:ext uri="{FF2B5EF4-FFF2-40B4-BE49-F238E27FC236}">
                <a16:creationId xmlns:a16="http://schemas.microsoft.com/office/drawing/2014/main" id="{0A87D117-BA17-069E-3F18-06FFA0282869}"/>
              </a:ext>
            </a:extLst>
          </p:cNvPr>
          <p:cNvCxnSpPr>
            <a:cxnSpLocks/>
            <a:stCxn id="16" idx="2"/>
            <a:endCxn id="19" idx="0"/>
          </p:cNvCxnSpPr>
          <p:nvPr/>
        </p:nvCxnSpPr>
        <p:spPr>
          <a:xfrm rot="16200000" flipH="1">
            <a:off x="6321711" y="1250521"/>
            <a:ext cx="250783" cy="661940"/>
          </a:xfrm>
          <a:prstGeom prst="bentConnector3">
            <a:avLst>
              <a:gd name="adj1" fmla="val 50000"/>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4" name="Connector: Elbow 33">
            <a:extLst>
              <a:ext uri="{FF2B5EF4-FFF2-40B4-BE49-F238E27FC236}">
                <a16:creationId xmlns:a16="http://schemas.microsoft.com/office/drawing/2014/main" id="{B4980469-6E05-7BC4-7D0D-3A22DF25AE8B}"/>
              </a:ext>
            </a:extLst>
          </p:cNvPr>
          <p:cNvCxnSpPr>
            <a:stCxn id="18" idx="2"/>
            <a:endCxn id="20" idx="0"/>
          </p:cNvCxnSpPr>
          <p:nvPr/>
        </p:nvCxnSpPr>
        <p:spPr>
          <a:xfrm rot="16200000" flipH="1">
            <a:off x="5539833" y="1960274"/>
            <a:ext cx="547172" cy="661494"/>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Connector: Elbow 34">
            <a:extLst>
              <a:ext uri="{FF2B5EF4-FFF2-40B4-BE49-F238E27FC236}">
                <a16:creationId xmlns:a16="http://schemas.microsoft.com/office/drawing/2014/main" id="{96177CBC-1AF7-4F6D-159F-83A1D15F3CD5}"/>
              </a:ext>
            </a:extLst>
          </p:cNvPr>
          <p:cNvCxnSpPr>
            <a:cxnSpLocks/>
            <a:stCxn id="19" idx="2"/>
            <a:endCxn id="20" idx="0"/>
          </p:cNvCxnSpPr>
          <p:nvPr/>
        </p:nvCxnSpPr>
        <p:spPr>
          <a:xfrm rot="5400000">
            <a:off x="6184657" y="1971192"/>
            <a:ext cx="552924" cy="633906"/>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TextBox 37">
            <a:extLst>
              <a:ext uri="{FF2B5EF4-FFF2-40B4-BE49-F238E27FC236}">
                <a16:creationId xmlns:a16="http://schemas.microsoft.com/office/drawing/2014/main" id="{98FB7C25-1FE6-1EB8-C456-F0EB8B3C060F}"/>
              </a:ext>
            </a:extLst>
          </p:cNvPr>
          <p:cNvSpPr txBox="1"/>
          <p:nvPr/>
        </p:nvSpPr>
        <p:spPr>
          <a:xfrm>
            <a:off x="7712159" y="2225873"/>
            <a:ext cx="990600" cy="307777"/>
          </a:xfrm>
          <a:prstGeom prst="rect">
            <a:avLst/>
          </a:prstGeom>
          <a:noFill/>
        </p:spPr>
        <p:txBody>
          <a:bodyPr wrap="square" rtlCol="0">
            <a:spAutoFit/>
          </a:bodyPr>
          <a:lstStyle/>
          <a:p>
            <a:r>
              <a:rPr lang="en-IN" sz="1400" b="1" dirty="0"/>
              <a:t>Manager</a:t>
            </a:r>
          </a:p>
        </p:txBody>
      </p:sp>
      <p:sp>
        <p:nvSpPr>
          <p:cNvPr id="41" name="TextBox 40">
            <a:extLst>
              <a:ext uri="{FF2B5EF4-FFF2-40B4-BE49-F238E27FC236}">
                <a16:creationId xmlns:a16="http://schemas.microsoft.com/office/drawing/2014/main" id="{66E6C033-B265-371B-F138-560681CD348C}"/>
              </a:ext>
            </a:extLst>
          </p:cNvPr>
          <p:cNvSpPr txBox="1"/>
          <p:nvPr/>
        </p:nvSpPr>
        <p:spPr>
          <a:xfrm>
            <a:off x="4038600" y="1456099"/>
            <a:ext cx="782131" cy="276999"/>
          </a:xfrm>
          <a:prstGeom prst="rect">
            <a:avLst/>
          </a:prstGeom>
          <a:noFill/>
        </p:spPr>
        <p:txBody>
          <a:bodyPr wrap="square" rtlCol="0">
            <a:spAutoFit/>
          </a:bodyPr>
          <a:lstStyle/>
          <a:p>
            <a:r>
              <a:rPr lang="en-IN" sz="1200" b="1" dirty="0"/>
              <a:t>&lt;data&gt;</a:t>
            </a:r>
          </a:p>
        </p:txBody>
      </p:sp>
      <p:sp>
        <p:nvSpPr>
          <p:cNvPr id="42" name="TextBox 41">
            <a:extLst>
              <a:ext uri="{FF2B5EF4-FFF2-40B4-BE49-F238E27FC236}">
                <a16:creationId xmlns:a16="http://schemas.microsoft.com/office/drawing/2014/main" id="{303E11A3-A380-7F42-2D6A-966159D8F8B9}"/>
              </a:ext>
            </a:extLst>
          </p:cNvPr>
          <p:cNvSpPr txBox="1"/>
          <p:nvPr/>
        </p:nvSpPr>
        <p:spPr>
          <a:xfrm>
            <a:off x="4114600" y="2349403"/>
            <a:ext cx="782131" cy="276999"/>
          </a:xfrm>
          <a:prstGeom prst="rect">
            <a:avLst/>
          </a:prstGeom>
          <a:noFill/>
        </p:spPr>
        <p:txBody>
          <a:bodyPr wrap="square" rtlCol="0">
            <a:spAutoFit/>
          </a:bodyPr>
          <a:lstStyle/>
          <a:p>
            <a:r>
              <a:rPr lang="en-IN" sz="1200" b="1" dirty="0"/>
              <a:t>&lt;data&gt;</a:t>
            </a:r>
          </a:p>
        </p:txBody>
      </p:sp>
      <p:sp>
        <p:nvSpPr>
          <p:cNvPr id="2" name="Rectangle 1">
            <a:extLst>
              <a:ext uri="{FF2B5EF4-FFF2-40B4-BE49-F238E27FC236}">
                <a16:creationId xmlns:a16="http://schemas.microsoft.com/office/drawing/2014/main" id="{C40F370C-B5D8-27DE-1196-039DDEAEF283}"/>
              </a:ext>
            </a:extLst>
          </p:cNvPr>
          <p:cNvSpPr/>
          <p:nvPr/>
        </p:nvSpPr>
        <p:spPr>
          <a:xfrm>
            <a:off x="7620000" y="2800350"/>
            <a:ext cx="1219200" cy="990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Build </a:t>
            </a:r>
            <a:r>
              <a:rPr lang="en-IN" dirty="0" err="1"/>
              <a:t>workzone</a:t>
            </a:r>
            <a:endParaRPr lang="en-IN" dirty="0"/>
          </a:p>
          <a:p>
            <a:pPr algn="ctr"/>
            <a:r>
              <a:rPr lang="en-IN" dirty="0"/>
              <a:t>My Inbox</a:t>
            </a:r>
          </a:p>
        </p:txBody>
      </p:sp>
      <p:cxnSp>
        <p:nvCxnSpPr>
          <p:cNvPr id="13" name="Connector: Elbow 12">
            <a:extLst>
              <a:ext uri="{FF2B5EF4-FFF2-40B4-BE49-F238E27FC236}">
                <a16:creationId xmlns:a16="http://schemas.microsoft.com/office/drawing/2014/main" id="{8D1C4534-5D93-6752-6081-B2FD57165929}"/>
              </a:ext>
            </a:extLst>
          </p:cNvPr>
          <p:cNvCxnSpPr>
            <a:stCxn id="2" idx="2"/>
          </p:cNvCxnSpPr>
          <p:nvPr/>
        </p:nvCxnSpPr>
        <p:spPr>
          <a:xfrm rot="5400000">
            <a:off x="7661049" y="3485367"/>
            <a:ext cx="262969" cy="87413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260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28174-CDFA-8C93-44DE-9D26D488127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B0293B4-D16C-6B44-34A2-5791214A3189}"/>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B2BA628F-50F7-5410-6868-C9F572B7B1D9}"/>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6</a:t>
            </a:fld>
            <a:endParaRPr lang="en-US" dirty="0"/>
          </a:p>
        </p:txBody>
      </p:sp>
      <p:sp>
        <p:nvSpPr>
          <p:cNvPr id="5" name="Title 4">
            <a:extLst>
              <a:ext uri="{FF2B5EF4-FFF2-40B4-BE49-F238E27FC236}">
                <a16:creationId xmlns:a16="http://schemas.microsoft.com/office/drawing/2014/main" id="{A24F3A64-CE1A-D036-09F0-4A36790CCB77}"/>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Scenario</a:t>
            </a:r>
          </a:p>
        </p:txBody>
      </p:sp>
      <p:sp>
        <p:nvSpPr>
          <p:cNvPr id="2" name="TextBox 1">
            <a:extLst>
              <a:ext uri="{FF2B5EF4-FFF2-40B4-BE49-F238E27FC236}">
                <a16:creationId xmlns:a16="http://schemas.microsoft.com/office/drawing/2014/main" id="{35568780-1AAC-B5C6-5A6B-0A098D05DC10}"/>
              </a:ext>
            </a:extLst>
          </p:cNvPr>
          <p:cNvSpPr txBox="1"/>
          <p:nvPr/>
        </p:nvSpPr>
        <p:spPr>
          <a:xfrm>
            <a:off x="152400" y="971549"/>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effectLst/>
                <a:hlinkClick r:id="rId2"/>
              </a:rPr>
              <a:t>https://help.sap.com/docs/build-process-automation/sap-build-process-automation/configure-sap-build-process-automation-destinations</a:t>
            </a:r>
            <a:endParaRPr lang="en-US" sz="1400" b="0" i="0" dirty="0">
              <a:effectLst/>
            </a:endParaRPr>
          </a:p>
          <a:p>
            <a:pPr>
              <a:spcBef>
                <a:spcPct val="20000"/>
              </a:spcBef>
              <a:buFont typeface="Arial" pitchFamily="34" charset="0"/>
            </a:pPr>
            <a:endParaRPr lang="en-US" sz="1400" dirty="0"/>
          </a:p>
        </p:txBody>
      </p:sp>
    </p:spTree>
    <p:extLst>
      <p:ext uri="{BB962C8B-B14F-4D97-AF65-F5344CB8AC3E}">
        <p14:creationId xmlns:p14="http://schemas.microsoft.com/office/powerpoint/2010/main" val="296151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46DC3-BFE9-444C-3330-990A32910D4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47A6D2E-59C9-BA98-EE2F-F9D26A0D7C6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AA82B10C-3EDB-259A-2A2E-865E52FAF74E}"/>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6888A3F7-AF8A-8880-F9F2-7668BA086D12}"/>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SAP Mobile Service</a:t>
            </a:r>
          </a:p>
        </p:txBody>
      </p:sp>
      <p:sp>
        <p:nvSpPr>
          <p:cNvPr id="2" name="TextBox 1">
            <a:extLst>
              <a:ext uri="{FF2B5EF4-FFF2-40B4-BE49-F238E27FC236}">
                <a16:creationId xmlns:a16="http://schemas.microsoft.com/office/drawing/2014/main" id="{CB709613-4DB6-B3DE-A60F-D4E43E217E02}"/>
              </a:ext>
            </a:extLst>
          </p:cNvPr>
          <p:cNvSpPr txBox="1"/>
          <p:nvPr/>
        </p:nvSpPr>
        <p:spPr>
          <a:xfrm>
            <a:off x="76200" y="834628"/>
            <a:ext cx="8839200" cy="4069557"/>
          </a:xfrm>
          <a:prstGeom prst="rect">
            <a:avLst/>
          </a:prstGeom>
        </p:spPr>
        <p:txBody>
          <a:bodyPr vert="horz" lIns="91440" tIns="45720" rIns="91440" bIns="45720" rtlCol="0">
            <a:normAutofit lnSpcReduction="10000"/>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SAP BTP Mobile Services is a key component of SAP Business Technology Platform (BTP) that provides tools and capabilities to build, manage, and run mobile applications securely and efficiently. It acts as a bridge between backend systems (like SAP S/4HANA, SAP BTP services, or other data sources) and mobile front-end apps, enabling developers to focus more on the user experience and business logic rather than infrastructure.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a:ea typeface="+mn-ea"/>
                <a:cs typeface="+mn-cs"/>
              </a:rPr>
              <a:t>SAP BTP Mobile Services provides a </a:t>
            </a:r>
            <a:r>
              <a:rPr kumimoji="0" lang="en-IN" sz="1400" b="1" i="0" u="none" strike="noStrike" kern="1200" cap="none" spc="0" normalizeH="0" baseline="0" noProof="0" dirty="0">
                <a:ln>
                  <a:noFill/>
                </a:ln>
                <a:solidFill>
                  <a:prstClr val="black"/>
                </a:solidFill>
                <a:effectLst/>
                <a:uLnTx/>
                <a:uFillTx/>
                <a:latin typeface="Calibri"/>
                <a:ea typeface="+mn-ea"/>
                <a:cs typeface="+mn-cs"/>
              </a:rPr>
              <a:t>mobile backend-as-a-service (</a:t>
            </a:r>
            <a:r>
              <a:rPr kumimoji="0" lang="en-IN" sz="1400" b="1" i="0" u="none" strike="noStrike" kern="1200" cap="none" spc="0" normalizeH="0" baseline="0" noProof="0" dirty="0" err="1">
                <a:ln>
                  <a:noFill/>
                </a:ln>
                <a:solidFill>
                  <a:prstClr val="black"/>
                </a:solidFill>
                <a:effectLst/>
                <a:uLnTx/>
                <a:uFillTx/>
                <a:latin typeface="Calibri"/>
                <a:ea typeface="+mn-ea"/>
                <a:cs typeface="+mn-cs"/>
              </a:rPr>
              <a:t>mBaaS</a:t>
            </a:r>
            <a:r>
              <a:rPr kumimoji="0" lang="en-IN" sz="1400" b="1" i="0" u="none" strike="noStrike" kern="1200" cap="none" spc="0" normalizeH="0" baseline="0" noProof="0" dirty="0">
                <a:ln>
                  <a:noFill/>
                </a:ln>
                <a:solidFill>
                  <a:prstClr val="black"/>
                </a:solidFill>
                <a:effectLst/>
                <a:uLnTx/>
                <a:uFillTx/>
                <a:latin typeface="Calibri"/>
                <a:ea typeface="+mn-ea"/>
                <a:cs typeface="+mn-cs"/>
              </a:rPr>
              <a:t>)</a:t>
            </a:r>
            <a:r>
              <a:rPr kumimoji="0" lang="en-IN" sz="1400" b="0" i="0" u="none" strike="noStrike" kern="1200" cap="none" spc="0" normalizeH="0" baseline="0" noProof="0" dirty="0">
                <a:ln>
                  <a:noFill/>
                </a:ln>
                <a:solidFill>
                  <a:prstClr val="black"/>
                </a:solidFill>
                <a:effectLst/>
                <a:uLnTx/>
                <a:uFillTx/>
                <a:latin typeface="Calibri"/>
                <a:ea typeface="+mn-ea"/>
                <a:cs typeface="+mn-cs"/>
              </a:rPr>
              <a:t> that includes: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Connectivity</a:t>
            </a:r>
            <a:r>
              <a:rPr kumimoji="0" lang="en-IN" sz="1400" b="0" i="0" u="none" strike="noStrike" kern="1200" cap="none" spc="0" normalizeH="0" baseline="0" noProof="0" dirty="0">
                <a:ln>
                  <a:noFill/>
                </a:ln>
                <a:solidFill>
                  <a:prstClr val="black"/>
                </a:solidFill>
                <a:effectLst/>
                <a:uLnTx/>
                <a:uFillTx/>
                <a:latin typeface="Calibri"/>
                <a:ea typeface="+mn-ea"/>
                <a:cs typeface="+mn-cs"/>
              </a:rPr>
              <a:t> to backend systems (on-premise or cloud)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Data synchronization</a:t>
            </a:r>
            <a:r>
              <a:rPr kumimoji="0" lang="en-IN" sz="1400" b="0" i="0" u="none" strike="noStrike" kern="1200" cap="none" spc="0" normalizeH="0" baseline="0" noProof="0" dirty="0">
                <a:ln>
                  <a:noFill/>
                </a:ln>
                <a:solidFill>
                  <a:prstClr val="black"/>
                </a:solidFill>
                <a:effectLst/>
                <a:uLnTx/>
                <a:uFillTx/>
                <a:latin typeface="Calibri"/>
                <a:ea typeface="+mn-ea"/>
                <a:cs typeface="+mn-cs"/>
              </a:rPr>
              <a:t> (online/offline)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Push notifications</a:t>
            </a:r>
            <a:endParaRPr kumimoji="0" lang="en-IN"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Mobile app lifecycle management</a:t>
            </a:r>
            <a:endParaRPr kumimoji="0" lang="en-IN"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Security</a:t>
            </a:r>
            <a:r>
              <a:rPr kumimoji="0" lang="en-IN" sz="1400" b="0" i="0" u="none" strike="noStrike" kern="1200" cap="none" spc="0" normalizeH="0" baseline="0" noProof="0" dirty="0">
                <a:ln>
                  <a:noFill/>
                </a:ln>
                <a:solidFill>
                  <a:prstClr val="black"/>
                </a:solidFill>
                <a:effectLst/>
                <a:uLnTx/>
                <a:uFillTx/>
                <a:latin typeface="Calibri"/>
                <a:ea typeface="+mn-ea"/>
                <a:cs typeface="+mn-cs"/>
              </a:rPr>
              <a:t> features (authentication, SSO, secure storage)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Analytics and monitoring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a:ea typeface="+mn-ea"/>
                <a:cs typeface="+mn-cs"/>
              </a:rPr>
              <a:t>It supports different types of apps: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Calibri"/>
                <a:ea typeface="+mn-ea"/>
                <a:cs typeface="+mn-cs"/>
              </a:rPr>
              <a:t>Native (iOS/Android)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Calibri"/>
                <a:ea typeface="+mn-ea"/>
                <a:cs typeface="+mn-cs"/>
              </a:rPr>
              <a:t>Hybrid (using MDK – Mobile Development Kit)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SAP Mobile Services authenticates your mobile users with Cloud Identity Services and provides access to Integrations and SAP BTP services in your built mobile applications.</a:t>
            </a:r>
          </a:p>
        </p:txBody>
      </p:sp>
    </p:spTree>
    <p:extLst>
      <p:ext uri="{BB962C8B-B14F-4D97-AF65-F5344CB8AC3E}">
        <p14:creationId xmlns:p14="http://schemas.microsoft.com/office/powerpoint/2010/main" val="2449476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31B13-C953-86E7-3FBE-06459E531B5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29E294-0CE9-A7EA-A255-81CE5872A49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379A817F-FD5A-C211-B691-4222B5020FDD}"/>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B80A81A6-6E51-1CBD-1C7D-311DE64AD8A9}"/>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Usage in context of mobile service</a:t>
            </a:r>
          </a:p>
        </p:txBody>
      </p:sp>
      <p:graphicFrame>
        <p:nvGraphicFramePr>
          <p:cNvPr id="6" name="Table 5">
            <a:extLst>
              <a:ext uri="{FF2B5EF4-FFF2-40B4-BE49-F238E27FC236}">
                <a16:creationId xmlns:a16="http://schemas.microsoft.com/office/drawing/2014/main" id="{B51D4E29-0185-1E3C-46EF-32DCBA38DB4E}"/>
              </a:ext>
            </a:extLst>
          </p:cNvPr>
          <p:cNvGraphicFramePr>
            <a:graphicFrameLocks noGrp="1"/>
          </p:cNvGraphicFramePr>
          <p:nvPr/>
        </p:nvGraphicFramePr>
        <p:xfrm>
          <a:off x="457200" y="1091247"/>
          <a:ext cx="8229600" cy="3383280"/>
        </p:xfrm>
        <a:graphic>
          <a:graphicData uri="http://schemas.openxmlformats.org/drawingml/2006/table">
            <a:tbl>
              <a:tblPr>
                <a:tableStyleId>{69C7853C-536D-4A76-A0AE-DD22124D55A5}</a:tableStyleId>
              </a:tblPr>
              <a:tblGrid>
                <a:gridCol w="2743200">
                  <a:extLst>
                    <a:ext uri="{9D8B030D-6E8A-4147-A177-3AD203B41FA5}">
                      <a16:colId xmlns:a16="http://schemas.microsoft.com/office/drawing/2014/main" val="1463148184"/>
                    </a:ext>
                  </a:extLst>
                </a:gridCol>
                <a:gridCol w="2743200">
                  <a:extLst>
                    <a:ext uri="{9D8B030D-6E8A-4147-A177-3AD203B41FA5}">
                      <a16:colId xmlns:a16="http://schemas.microsoft.com/office/drawing/2014/main" val="3343654819"/>
                    </a:ext>
                  </a:extLst>
                </a:gridCol>
                <a:gridCol w="2743200">
                  <a:extLst>
                    <a:ext uri="{9D8B030D-6E8A-4147-A177-3AD203B41FA5}">
                      <a16:colId xmlns:a16="http://schemas.microsoft.com/office/drawing/2014/main" val="3306547928"/>
                    </a:ext>
                  </a:extLst>
                </a:gridCol>
              </a:tblGrid>
              <a:tr h="0">
                <a:tc>
                  <a:txBody>
                    <a:bodyPr/>
                    <a:lstStyle/>
                    <a:p>
                      <a:r>
                        <a:rPr lang="en-IN"/>
                        <a:t>Feature</a:t>
                      </a:r>
                    </a:p>
                  </a:txBody>
                  <a:tcPr anchor="ctr"/>
                </a:tc>
                <a:tc>
                  <a:txBody>
                    <a:bodyPr/>
                    <a:lstStyle/>
                    <a:p>
                      <a:r>
                        <a:rPr lang="en-IN"/>
                        <a:t>SAP Build Apps Alone</a:t>
                      </a:r>
                    </a:p>
                  </a:txBody>
                  <a:tcPr anchor="ctr"/>
                </a:tc>
                <a:tc>
                  <a:txBody>
                    <a:bodyPr/>
                    <a:lstStyle/>
                    <a:p>
                      <a:r>
                        <a:rPr lang="en-US"/>
                        <a:t>With SAP BTP Mobile Services</a:t>
                      </a:r>
                    </a:p>
                  </a:txBody>
                  <a:tcPr anchor="ctr"/>
                </a:tc>
                <a:extLst>
                  <a:ext uri="{0D108BD9-81ED-4DB2-BD59-A6C34878D82A}">
                    <a16:rowId xmlns:a16="http://schemas.microsoft.com/office/drawing/2014/main" val="1694189623"/>
                  </a:ext>
                </a:extLst>
              </a:tr>
              <a:tr h="0">
                <a:tc>
                  <a:txBody>
                    <a:bodyPr/>
                    <a:lstStyle/>
                    <a:p>
                      <a:r>
                        <a:rPr lang="en-IN"/>
                        <a:t>App Development</a:t>
                      </a:r>
                    </a:p>
                  </a:txBody>
                  <a:tcPr anchor="ctr"/>
                </a:tc>
                <a:tc>
                  <a:txBody>
                    <a:bodyPr/>
                    <a:lstStyle/>
                    <a:p>
                      <a:r>
                        <a:rPr lang="en-IN"/>
                        <a:t>✅</a:t>
                      </a:r>
                    </a:p>
                  </a:txBody>
                  <a:tcPr anchor="ctr"/>
                </a:tc>
                <a:tc>
                  <a:txBody>
                    <a:bodyPr/>
                    <a:lstStyle/>
                    <a:p>
                      <a:r>
                        <a:rPr lang="en-IN"/>
                        <a:t>✅</a:t>
                      </a:r>
                    </a:p>
                  </a:txBody>
                  <a:tcPr anchor="ctr"/>
                </a:tc>
                <a:extLst>
                  <a:ext uri="{0D108BD9-81ED-4DB2-BD59-A6C34878D82A}">
                    <a16:rowId xmlns:a16="http://schemas.microsoft.com/office/drawing/2014/main" val="1292155801"/>
                  </a:ext>
                </a:extLst>
              </a:tr>
              <a:tr h="0">
                <a:tc>
                  <a:txBody>
                    <a:bodyPr/>
                    <a:lstStyle/>
                    <a:p>
                      <a:r>
                        <a:rPr lang="en-IN"/>
                        <a:t>Push Notifications</a:t>
                      </a:r>
                    </a:p>
                  </a:txBody>
                  <a:tcPr anchor="ctr"/>
                </a:tc>
                <a:tc>
                  <a:txBody>
                    <a:bodyPr/>
                    <a:lstStyle/>
                    <a:p>
                      <a:r>
                        <a:rPr lang="en-IN"/>
                        <a:t>❌</a:t>
                      </a:r>
                    </a:p>
                  </a:txBody>
                  <a:tcPr anchor="ctr"/>
                </a:tc>
                <a:tc>
                  <a:txBody>
                    <a:bodyPr/>
                    <a:lstStyle/>
                    <a:p>
                      <a:r>
                        <a:rPr lang="en-IN"/>
                        <a:t>✅ (via Mobile Services)</a:t>
                      </a:r>
                    </a:p>
                  </a:txBody>
                  <a:tcPr anchor="ctr"/>
                </a:tc>
                <a:extLst>
                  <a:ext uri="{0D108BD9-81ED-4DB2-BD59-A6C34878D82A}">
                    <a16:rowId xmlns:a16="http://schemas.microsoft.com/office/drawing/2014/main" val="1521886190"/>
                  </a:ext>
                </a:extLst>
              </a:tr>
              <a:tr h="0">
                <a:tc>
                  <a:txBody>
                    <a:bodyPr/>
                    <a:lstStyle/>
                    <a:p>
                      <a:r>
                        <a:rPr lang="en-IN"/>
                        <a:t>Offline Data Sync</a:t>
                      </a:r>
                    </a:p>
                  </a:txBody>
                  <a:tcPr anchor="ctr"/>
                </a:tc>
                <a:tc>
                  <a:txBody>
                    <a:bodyPr/>
                    <a:lstStyle/>
                    <a:p>
                      <a:r>
                        <a:rPr lang="en-IN"/>
                        <a:t>❌ (Limited)</a:t>
                      </a:r>
                    </a:p>
                  </a:txBody>
                  <a:tcPr anchor="ctr"/>
                </a:tc>
                <a:tc>
                  <a:txBody>
                    <a:bodyPr/>
                    <a:lstStyle/>
                    <a:p>
                      <a:r>
                        <a:rPr lang="en-IN" dirty="0"/>
                        <a:t>✅</a:t>
                      </a:r>
                    </a:p>
                  </a:txBody>
                  <a:tcPr anchor="ctr"/>
                </a:tc>
                <a:extLst>
                  <a:ext uri="{0D108BD9-81ED-4DB2-BD59-A6C34878D82A}">
                    <a16:rowId xmlns:a16="http://schemas.microsoft.com/office/drawing/2014/main" val="168748862"/>
                  </a:ext>
                </a:extLst>
              </a:tr>
              <a:tr h="0">
                <a:tc>
                  <a:txBody>
                    <a:bodyPr/>
                    <a:lstStyle/>
                    <a:p>
                      <a:r>
                        <a:rPr lang="en-IN"/>
                        <a:t>Enterprise Auth Integration</a:t>
                      </a:r>
                    </a:p>
                  </a:txBody>
                  <a:tcPr anchor="ctr"/>
                </a:tc>
                <a:tc>
                  <a:txBody>
                    <a:bodyPr/>
                    <a:lstStyle/>
                    <a:p>
                      <a:r>
                        <a:rPr lang="en-IN"/>
                        <a:t>⚠️ (manual setup)</a:t>
                      </a:r>
                    </a:p>
                  </a:txBody>
                  <a:tcPr anchor="ctr"/>
                </a:tc>
                <a:tc>
                  <a:txBody>
                    <a:bodyPr/>
                    <a:lstStyle/>
                    <a:p>
                      <a:r>
                        <a:rPr lang="en-IN"/>
                        <a:t>✅ (pre-built options)</a:t>
                      </a:r>
                    </a:p>
                  </a:txBody>
                  <a:tcPr anchor="ctr"/>
                </a:tc>
                <a:extLst>
                  <a:ext uri="{0D108BD9-81ED-4DB2-BD59-A6C34878D82A}">
                    <a16:rowId xmlns:a16="http://schemas.microsoft.com/office/drawing/2014/main" val="74831517"/>
                  </a:ext>
                </a:extLst>
              </a:tr>
              <a:tr h="0">
                <a:tc>
                  <a:txBody>
                    <a:bodyPr/>
                    <a:lstStyle/>
                    <a:p>
                      <a:r>
                        <a:rPr lang="en-IN"/>
                        <a:t>Backend Connectivity</a:t>
                      </a:r>
                    </a:p>
                  </a:txBody>
                  <a:tcPr anchor="ctr"/>
                </a:tc>
                <a:tc>
                  <a:txBody>
                    <a:bodyPr/>
                    <a:lstStyle/>
                    <a:p>
                      <a:r>
                        <a:rPr lang="en-IN"/>
                        <a:t>✅</a:t>
                      </a:r>
                    </a:p>
                  </a:txBody>
                  <a:tcPr anchor="ctr"/>
                </a:tc>
                <a:tc>
                  <a:txBody>
                    <a:bodyPr/>
                    <a:lstStyle/>
                    <a:p>
                      <a:r>
                        <a:rPr lang="en-IN"/>
                        <a:t>✅ (enhanced with Mobile Services)</a:t>
                      </a:r>
                    </a:p>
                  </a:txBody>
                  <a:tcPr anchor="ctr"/>
                </a:tc>
                <a:extLst>
                  <a:ext uri="{0D108BD9-81ED-4DB2-BD59-A6C34878D82A}">
                    <a16:rowId xmlns:a16="http://schemas.microsoft.com/office/drawing/2014/main" val="690715823"/>
                  </a:ext>
                </a:extLst>
              </a:tr>
              <a:tr h="0">
                <a:tc>
                  <a:txBody>
                    <a:bodyPr/>
                    <a:lstStyle/>
                    <a:p>
                      <a:r>
                        <a:rPr lang="en-IN"/>
                        <a:t>Monitoring &amp; Lifecycle Mgmt</a:t>
                      </a:r>
                    </a:p>
                  </a:txBody>
                  <a:tcPr anchor="ctr"/>
                </a:tc>
                <a:tc>
                  <a:txBody>
                    <a:bodyPr/>
                    <a:lstStyle/>
                    <a:p>
                      <a:r>
                        <a:rPr lang="en-IN"/>
                        <a:t>❌</a:t>
                      </a:r>
                    </a:p>
                  </a:txBody>
                  <a:tcPr anchor="ctr"/>
                </a:tc>
                <a:tc>
                  <a:txBody>
                    <a:bodyPr/>
                    <a:lstStyle/>
                    <a:p>
                      <a:r>
                        <a:rPr lang="en-IN" dirty="0"/>
                        <a:t>✅</a:t>
                      </a:r>
                    </a:p>
                  </a:txBody>
                  <a:tcPr anchor="ctr"/>
                </a:tc>
                <a:extLst>
                  <a:ext uri="{0D108BD9-81ED-4DB2-BD59-A6C34878D82A}">
                    <a16:rowId xmlns:a16="http://schemas.microsoft.com/office/drawing/2014/main" val="501420791"/>
                  </a:ext>
                </a:extLst>
              </a:tr>
            </a:tbl>
          </a:graphicData>
        </a:graphic>
      </p:graphicFrame>
    </p:spTree>
    <p:extLst>
      <p:ext uri="{BB962C8B-B14F-4D97-AF65-F5344CB8AC3E}">
        <p14:creationId xmlns:p14="http://schemas.microsoft.com/office/powerpoint/2010/main" val="1770352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A4E21-5341-4AD3-9602-01340A204C7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32AE2BD-559D-4636-EAB1-C6C2F5A9352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13F8914C-3C01-42DE-770C-C0343D7F975D}"/>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29CBD67A-5F76-FC0D-258E-1FC4BC377825}"/>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Enabling SAP Mobile Service for Build Apps</a:t>
            </a:r>
          </a:p>
        </p:txBody>
      </p:sp>
      <p:sp>
        <p:nvSpPr>
          <p:cNvPr id="2" name="TextBox 1">
            <a:extLst>
              <a:ext uri="{FF2B5EF4-FFF2-40B4-BE49-F238E27FC236}">
                <a16:creationId xmlns:a16="http://schemas.microsoft.com/office/drawing/2014/main" id="{F4FEF4F1-2A84-40D0-5545-E805ADCA0C14}"/>
              </a:ext>
            </a:extLst>
          </p:cNvPr>
          <p:cNvSpPr txBox="1"/>
          <p:nvPr/>
        </p:nvSpPr>
        <p:spPr>
          <a:xfrm>
            <a:off x="152400" y="971549"/>
            <a:ext cx="8839200" cy="4069557"/>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Prerequisites</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To be able to use SAP Mobile Services, verify that you have Subaccount entitlements of at least 1 unit for Mobile Services, resources plan.</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For all SAP BTP destinations (SAP Systems) that you want to use in the built application, you need to add a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MobileEnabled</a:t>
            </a:r>
            <a:r>
              <a:rPr kumimoji="0" lang="en-US" sz="1400" b="0" i="0" u="none" strike="noStrike" kern="1200" cap="none" spc="0" normalizeH="0" baseline="0" noProof="0" dirty="0">
                <a:ln>
                  <a:noFill/>
                </a:ln>
                <a:solidFill>
                  <a:prstClr val="black"/>
                </a:solidFill>
                <a:effectLst/>
                <a:uLnTx/>
                <a:uFillTx/>
                <a:latin typeface="Calibri"/>
                <a:ea typeface="+mn-ea"/>
                <a:cs typeface="+mn-cs"/>
              </a:rPr>
              <a:t> property with a value true to them.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Additionally, verify that the SAP-Build-Apps-Runtime destination has the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MobileEnabled</a:t>
            </a:r>
            <a:r>
              <a:rPr kumimoji="0" lang="en-US" sz="1400" b="0" i="0" u="none" strike="noStrike" kern="1200" cap="none" spc="0" normalizeH="0" baseline="0" noProof="0" dirty="0">
                <a:ln>
                  <a:noFill/>
                </a:ln>
                <a:solidFill>
                  <a:prstClr val="black"/>
                </a:solidFill>
                <a:effectLst/>
                <a:uLnTx/>
                <a:uFillTx/>
                <a:latin typeface="Calibri"/>
                <a:ea typeface="+mn-ea"/>
                <a:cs typeface="+mn-cs"/>
              </a:rPr>
              <a:t> property as well.</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Steps</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Enable SAP Mobile Services</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Connect Build Apps to Mobile Services</a:t>
            </a:r>
          </a:p>
        </p:txBody>
      </p:sp>
    </p:spTree>
    <p:extLst>
      <p:ext uri="{BB962C8B-B14F-4D97-AF65-F5344CB8AC3E}">
        <p14:creationId xmlns:p14="http://schemas.microsoft.com/office/powerpoint/2010/main" val="992879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083C7-3B4A-AD00-2A9C-EFA6B27EE3F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D813469-F9B1-41C7-642A-9CE501479AE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4370CD12-34F0-A28E-AB8F-209918308D89}"/>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91125DE6-0659-44B4-C501-85517AD20644}"/>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Dependency between MS and Build Apps</a:t>
            </a:r>
          </a:p>
        </p:txBody>
      </p:sp>
      <p:sp>
        <p:nvSpPr>
          <p:cNvPr id="2" name="TextBox 1">
            <a:extLst>
              <a:ext uri="{FF2B5EF4-FFF2-40B4-BE49-F238E27FC236}">
                <a16:creationId xmlns:a16="http://schemas.microsoft.com/office/drawing/2014/main" id="{86F5671A-2F15-F49C-CD1B-80ACF799915D}"/>
              </a:ext>
            </a:extLst>
          </p:cNvPr>
          <p:cNvSpPr txBox="1"/>
          <p:nvPr/>
        </p:nvSpPr>
        <p:spPr>
          <a:xfrm>
            <a:off x="152400" y="971549"/>
            <a:ext cx="8839200" cy="4069557"/>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Establish a dependency between SAP Build Apps and SAP Mobile Services. Use SAP Cloud Identity Services to link your app to SAP Build Apps API, ensuring seamless integration and access to mobile services.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Navigate to your SAP Cloud Identity Services dashboard and choose the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Applications &amp; Resources</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tab. On the left side panel, choose the application with name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{your-app-id}</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a:t>
            </a:r>
            <a:r>
              <a:rPr kumimoji="0" lang="en-US" sz="1200" b="1"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Tip</a:t>
            </a:r>
            <a:r>
              <a:rPr kumimoji="0" lang="en-US" sz="1200" b="0"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If</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you don't know your app ID, go to your project in </a:t>
            </a:r>
            <a:r>
              <a:rPr kumimoji="0" lang="en-US" sz="1200" b="0"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Buildapp</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ID from the URL. Take the number and add the prefix </a:t>
            </a:r>
            <a:r>
              <a:rPr kumimoji="0" lang="en-US" sz="1200" b="0"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buildApps</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for example buildApps123</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Scroll down in the newly opened tab and choose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Dependencies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Choose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Add</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to establish new dependency.</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In the Add API tab enter the following details: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In the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Dependency Name</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field, enter sap-build-apps-</a:t>
            </a:r>
            <a:r>
              <a:rPr kumimoji="0" lang="en-US" sz="1200" b="0"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api</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In the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Application</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dropdown, choose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SAP Build Apps</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followed by your subaccount name. For example,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SAP Build Apps (</a:t>
            </a:r>
            <a:r>
              <a:rPr kumimoji="0" lang="en-US" sz="1200" b="1"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MySubaccount</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In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API</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choose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SAP Build Apps backend projects</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Select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Save</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to confirm.</a:t>
            </a:r>
          </a:p>
        </p:txBody>
      </p:sp>
    </p:spTree>
    <p:extLst>
      <p:ext uri="{BB962C8B-B14F-4D97-AF65-F5344CB8AC3E}">
        <p14:creationId xmlns:p14="http://schemas.microsoft.com/office/powerpoint/2010/main" val="70934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513E1-8056-FD98-72DC-DE5B57918D9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5DF5D9-5B10-B1F7-F788-B3A56A73994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5819B095-EE20-F21D-5880-394D2D133609}"/>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B292DBC9-B2E2-60A0-52E6-7021CF451654}"/>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Certification</a:t>
            </a:r>
          </a:p>
        </p:txBody>
      </p:sp>
      <p:sp>
        <p:nvSpPr>
          <p:cNvPr id="2" name="TextBox 1">
            <a:extLst>
              <a:ext uri="{FF2B5EF4-FFF2-40B4-BE49-F238E27FC236}">
                <a16:creationId xmlns:a16="http://schemas.microsoft.com/office/drawing/2014/main" id="{8A783225-F387-854D-6DE4-7CCF2E626694}"/>
              </a:ext>
            </a:extLst>
          </p:cNvPr>
          <p:cNvSpPr txBox="1"/>
          <p:nvPr/>
        </p:nvSpPr>
        <p:spPr>
          <a:xfrm>
            <a:off x="152400" y="971549"/>
            <a:ext cx="8839200" cy="4069557"/>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hlinkClick r:id="rId2"/>
              </a:rPr>
              <a:t>https://www.oracle.com/in/java/technologies/javase/jdk11-archive-downloads.html</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err="1">
                <a:ln>
                  <a:noFill/>
                </a:ln>
                <a:solidFill>
                  <a:prstClr val="black"/>
                </a:solidFill>
                <a:effectLst/>
                <a:uLnTx/>
                <a:uFillTx/>
                <a:latin typeface="Calibri"/>
                <a:ea typeface="+mn-ea"/>
                <a:cs typeface="+mn-cs"/>
              </a:rPr>
              <a:t>keytool</a:t>
            </a:r>
            <a:r>
              <a:rPr kumimoji="0" lang="en-US" sz="1400" b="0" i="0" u="none" strike="noStrike" kern="1200" cap="none" spc="0" normalizeH="0" baseline="0" noProof="0" dirty="0">
                <a:ln>
                  <a:noFill/>
                </a:ln>
                <a:solidFill>
                  <a:prstClr val="black"/>
                </a:solidFill>
                <a:effectLst/>
                <a:uLnTx/>
                <a:uFillTx/>
                <a:latin typeface="Calibri"/>
                <a:ea typeface="+mn-ea"/>
                <a:cs typeface="+mn-cs"/>
              </a:rPr>
              <a:t>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genkey</a:t>
            </a:r>
            <a:r>
              <a:rPr kumimoji="0" lang="en-US" sz="1400" b="0" i="0" u="none" strike="noStrike" kern="1200" cap="none" spc="0" normalizeH="0" baseline="0" noProof="0" dirty="0">
                <a:ln>
                  <a:noFill/>
                </a:ln>
                <a:solidFill>
                  <a:prstClr val="black"/>
                </a:solidFill>
                <a:effectLst/>
                <a:uLnTx/>
                <a:uFillTx/>
                <a:latin typeface="Calibri"/>
                <a:ea typeface="+mn-ea"/>
                <a:cs typeface="+mn-cs"/>
              </a:rPr>
              <a:t> -v -keystore c:\temp\anubuildsc.keystore -alias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anubuildsc</a:t>
            </a:r>
            <a:r>
              <a:rPr kumimoji="0" lang="en-US" sz="1400" b="0" i="0" u="none" strike="noStrike" kern="1200" cap="none" spc="0" normalizeH="0" baseline="0" noProof="0" dirty="0">
                <a:ln>
                  <a:noFill/>
                </a:ln>
                <a:solidFill>
                  <a:prstClr val="black"/>
                </a:solidFill>
                <a:effectLst/>
                <a:uLnTx/>
                <a:uFillTx/>
                <a:latin typeface="Calibri"/>
                <a:ea typeface="+mn-ea"/>
                <a:cs typeface="+mn-cs"/>
              </a:rPr>
              <a:t>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keyalg</a:t>
            </a:r>
            <a:r>
              <a:rPr kumimoji="0" lang="en-US" sz="1400" b="0" i="0" u="none" strike="noStrike" kern="1200" cap="none" spc="0" normalizeH="0" baseline="0" noProof="0" dirty="0">
                <a:ln>
                  <a:noFill/>
                </a:ln>
                <a:solidFill>
                  <a:prstClr val="black"/>
                </a:solidFill>
                <a:effectLst/>
                <a:uLnTx/>
                <a:uFillTx/>
                <a:latin typeface="Calibri"/>
                <a:ea typeface="+mn-ea"/>
                <a:cs typeface="+mn-cs"/>
              </a:rPr>
              <a:t> RSA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keysize</a:t>
            </a:r>
            <a:r>
              <a:rPr kumimoji="0" lang="en-US" sz="1400" b="0" i="0" u="none" strike="noStrike" kern="1200" cap="none" spc="0" normalizeH="0" baseline="0" noProof="0" dirty="0">
                <a:ln>
                  <a:noFill/>
                </a:ln>
                <a:solidFill>
                  <a:prstClr val="black"/>
                </a:solidFill>
                <a:effectLst/>
                <a:uLnTx/>
                <a:uFillTx/>
                <a:latin typeface="Calibri"/>
                <a:ea typeface="+mn-ea"/>
                <a:cs typeface="+mn-cs"/>
              </a:rPr>
              <a:t> 2048 -validity 10000</a:t>
            </a:r>
          </a:p>
        </p:txBody>
      </p:sp>
    </p:spTree>
    <p:extLst>
      <p:ext uri="{BB962C8B-B14F-4D97-AF65-F5344CB8AC3E}">
        <p14:creationId xmlns:p14="http://schemas.microsoft.com/office/powerpoint/2010/main" val="2422869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5D2C93-0120-CCFC-9609-5065A85D5191}"/>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8C7B24C2-E0A7-CEBF-F7A8-383001851AF8}"/>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4" name="Title 3">
            <a:extLst>
              <a:ext uri="{FF2B5EF4-FFF2-40B4-BE49-F238E27FC236}">
                <a16:creationId xmlns:a16="http://schemas.microsoft.com/office/drawing/2014/main" id="{3926B177-165E-9165-72C4-FD0C520A2E18}"/>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B080056-AF3B-2DD1-1233-CD37BCC6426B}"/>
                  </a:ext>
                </a:extLst>
              </p14:cNvPr>
              <p14:cNvContentPartPr/>
              <p14:nvPr/>
            </p14:nvContentPartPr>
            <p14:xfrm>
              <a:off x="1315357" y="-14658"/>
              <a:ext cx="360" cy="360"/>
            </p14:xfrm>
          </p:contentPart>
        </mc:Choice>
        <mc:Fallback xmlns="">
          <p:pic>
            <p:nvPicPr>
              <p:cNvPr id="5" name="Ink 4">
                <a:extLst>
                  <a:ext uri="{FF2B5EF4-FFF2-40B4-BE49-F238E27FC236}">
                    <a16:creationId xmlns:a16="http://schemas.microsoft.com/office/drawing/2014/main" id="{AB080056-AF3B-2DD1-1233-CD37BCC6426B}"/>
                  </a:ext>
                </a:extLst>
              </p:cNvPr>
              <p:cNvPicPr/>
              <p:nvPr/>
            </p:nvPicPr>
            <p:blipFill>
              <a:blip r:embed="rId3"/>
              <a:stretch>
                <a:fillRect/>
              </a:stretch>
            </p:blipFill>
            <p:spPr>
              <a:xfrm>
                <a:off x="1306357" y="-23658"/>
                <a:ext cx="18000" cy="18000"/>
              </a:xfrm>
              <a:prstGeom prst="rect">
                <a:avLst/>
              </a:prstGeom>
            </p:spPr>
          </p:pic>
        </mc:Fallback>
      </mc:AlternateContent>
    </p:spTree>
    <p:extLst>
      <p:ext uri="{BB962C8B-B14F-4D97-AF65-F5344CB8AC3E}">
        <p14:creationId xmlns:p14="http://schemas.microsoft.com/office/powerpoint/2010/main" val="720877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Connector 4"/>
          <p:cNvSpPr/>
          <p:nvPr/>
        </p:nvSpPr>
        <p:spPr>
          <a:xfrm>
            <a:off x="4355976" y="21622"/>
            <a:ext cx="4168026" cy="4101362"/>
          </a:xfrm>
          <a:prstGeom prst="flowChartConnector">
            <a:avLst/>
          </a:prstGeom>
          <a:gradFill flip="none" rotWithShape="1">
            <a:gsLst>
              <a:gs pos="0">
                <a:srgbClr val="55E96E"/>
              </a:gs>
              <a:gs pos="46000">
                <a:srgbClr val="0AEC25"/>
              </a:gs>
              <a:gs pos="100000">
                <a:srgbClr val="00B050"/>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6" name="Picture Placeholder 11">
            <a:extLst>
              <a:ext uri="{FF2B5EF4-FFF2-40B4-BE49-F238E27FC236}">
                <a16:creationId xmlns:a16="http://schemas.microsoft.com/office/drawing/2014/main" id="{420F5850-2D59-4C25-ADFF-E9013C5A6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9" y="10551"/>
            <a:ext cx="5088657" cy="4690760"/>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p:spPr>
      </p:pic>
      <p:sp>
        <p:nvSpPr>
          <p:cNvPr id="7" name="Rectangle: Rounded Corners 3">
            <a:extLst>
              <a:ext uri="{FF2B5EF4-FFF2-40B4-BE49-F238E27FC236}">
                <a16:creationId xmlns:a16="http://schemas.microsoft.com/office/drawing/2014/main" id="{4DCA9A03-C201-42B6-AF8D-AB31333C8852}"/>
              </a:ext>
            </a:extLst>
          </p:cNvPr>
          <p:cNvSpPr/>
          <p:nvPr/>
        </p:nvSpPr>
        <p:spPr>
          <a:xfrm>
            <a:off x="4550245" y="735546"/>
            <a:ext cx="3973757" cy="2082201"/>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dirty="0"/>
          </a:p>
        </p:txBody>
      </p:sp>
      <p:sp>
        <p:nvSpPr>
          <p:cNvPr id="8" name="TextBox 7">
            <a:extLst>
              <a:ext uri="{FF2B5EF4-FFF2-40B4-BE49-F238E27FC236}">
                <a16:creationId xmlns:a16="http://schemas.microsoft.com/office/drawing/2014/main" id="{4B09D3EC-7881-4341-8189-469046CA259E}"/>
              </a:ext>
            </a:extLst>
          </p:cNvPr>
          <p:cNvSpPr txBox="1"/>
          <p:nvPr/>
        </p:nvSpPr>
        <p:spPr>
          <a:xfrm>
            <a:off x="4981951" y="1042138"/>
            <a:ext cx="3179963" cy="461665"/>
          </a:xfrm>
          <a:prstGeom prst="rect">
            <a:avLst/>
          </a:prstGeom>
          <a:noFill/>
        </p:spPr>
        <p:txBody>
          <a:bodyPr wrap="square" lIns="0" tIns="0" rIns="0" bIns="0" rtlCol="0">
            <a:spAutoFit/>
          </a:bodyPr>
          <a:lstStyle/>
          <a:p>
            <a:r>
              <a:rPr lang="en-IN" sz="3000" b="1" dirty="0">
                <a:solidFill>
                  <a:srgbClr val="75C042"/>
                </a:solidFill>
              </a:rPr>
              <a:t>What We </a:t>
            </a:r>
            <a:r>
              <a:rPr lang="en-IN" sz="3000" b="1" dirty="0">
                <a:solidFill>
                  <a:srgbClr val="55E96E"/>
                </a:solidFill>
                <a:latin typeface="Segoe UI Light" panose="020B0502040204020203" pitchFamily="34" charset="0"/>
                <a:cs typeface="Segoe UI Light" panose="020B0502040204020203" pitchFamily="34" charset="0"/>
              </a:rPr>
              <a:t>Did</a:t>
            </a:r>
          </a:p>
        </p:txBody>
      </p:sp>
      <p:sp>
        <p:nvSpPr>
          <p:cNvPr id="9" name="TextBox 8">
            <a:extLst>
              <a:ext uri="{FF2B5EF4-FFF2-40B4-BE49-F238E27FC236}">
                <a16:creationId xmlns:a16="http://schemas.microsoft.com/office/drawing/2014/main" id="{A0CBE2D0-9475-4BE8-AC62-B9A03DC275C3}"/>
              </a:ext>
            </a:extLst>
          </p:cNvPr>
          <p:cNvSpPr txBox="1"/>
          <p:nvPr/>
        </p:nvSpPr>
        <p:spPr>
          <a:xfrm>
            <a:off x="4981951" y="1610639"/>
            <a:ext cx="3179963" cy="461665"/>
          </a:xfrm>
          <a:prstGeom prst="rect">
            <a:avLst/>
          </a:prstGeom>
          <a:noFill/>
        </p:spPr>
        <p:txBody>
          <a:bodyPr wrap="square" lIns="0" tIns="0" rIns="0" bIns="0" rtlCol="0" anchor="t">
            <a:spAutoFit/>
          </a:bodyPr>
          <a:lstStyle/>
          <a:p>
            <a:r>
              <a:rPr lang="en-US" sz="3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3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10" name="Group 9">
            <a:extLst>
              <a:ext uri="{FF2B5EF4-FFF2-40B4-BE49-F238E27FC236}">
                <a16:creationId xmlns:a16="http://schemas.microsoft.com/office/drawing/2014/main" id="{CBADDFA3-0336-41F5-81AE-B9456B828C2C}"/>
              </a:ext>
            </a:extLst>
          </p:cNvPr>
          <p:cNvGrpSpPr/>
          <p:nvPr/>
        </p:nvGrpSpPr>
        <p:grpSpPr>
          <a:xfrm>
            <a:off x="4999393" y="2370854"/>
            <a:ext cx="463016" cy="82493"/>
            <a:chOff x="6006451" y="5603130"/>
            <a:chExt cx="617354" cy="109990"/>
          </a:xfrm>
        </p:grpSpPr>
        <p:sp>
          <p:nvSpPr>
            <p:cNvPr id="11"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rgbClr val="00B050"/>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2"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rgbClr val="75C042"/>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3"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rgbClr val="0AEC25"/>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grpSp>
      <p:sp>
        <p:nvSpPr>
          <p:cNvPr id="14" name="Google Shape;845;p16"/>
          <p:cNvSpPr/>
          <p:nvPr/>
        </p:nvSpPr>
        <p:spPr>
          <a:xfrm>
            <a:off x="1190" y="0"/>
            <a:ext cx="1494765" cy="736929"/>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68569" tIns="34275" rIns="68569" bIns="34275" anchor="ctr" anchorCtr="0">
            <a:noAutofit/>
          </a:bodyPr>
          <a:lstStyle/>
          <a:p>
            <a:pPr algn="ctr" defTabSz="685800">
              <a:buClr>
                <a:srgbClr val="000000"/>
              </a:buClr>
              <a:defRPr/>
            </a:pPr>
            <a:endParaRPr sz="1350" kern="0">
              <a:solidFill>
                <a:srgbClr val="75C042"/>
              </a:solidFill>
              <a:latin typeface="Calibri"/>
              <a:ea typeface="Calibri"/>
              <a:cs typeface="Calibri"/>
              <a:sym typeface="Calibri"/>
            </a:endParaRPr>
          </a:p>
        </p:txBody>
      </p:sp>
      <p:sp>
        <p:nvSpPr>
          <p:cNvPr id="16"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2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13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946764" y="2580648"/>
            <a:ext cx="4187536" cy="692497"/>
          </a:xfrm>
          <a:prstGeom prst="rect">
            <a:avLst/>
          </a:prstGeom>
          <a:noFill/>
        </p:spPr>
        <p:txBody>
          <a:bodyPr wrap="square" lIns="0" tIns="0" rIns="0" bIns="0" rtlCol="0">
            <a:spAutoFit/>
          </a:bodyPr>
          <a:lstStyle/>
          <a:p>
            <a:r>
              <a:rPr lang="en-IN" sz="4500" b="1" dirty="0">
                <a:solidFill>
                  <a:srgbClr val="75C042"/>
                </a:solidFill>
              </a:rPr>
              <a:t>Thank</a:t>
            </a:r>
            <a:r>
              <a:rPr lang="en-IN" sz="4500" b="1" dirty="0">
                <a:solidFill>
                  <a:schemeClr val="accent1"/>
                </a:solidFill>
              </a:rPr>
              <a:t> </a:t>
            </a:r>
            <a:r>
              <a:rPr lang="en-IN" sz="4500" b="1" dirty="0">
                <a:solidFill>
                  <a:srgbClr val="75C042"/>
                </a:solidFill>
              </a:rPr>
              <a:t>You</a:t>
            </a:r>
          </a:p>
        </p:txBody>
      </p:sp>
      <p:sp>
        <p:nvSpPr>
          <p:cNvPr id="3" name="TextBox 2">
            <a:extLst>
              <a:ext uri="{FF2B5EF4-FFF2-40B4-BE49-F238E27FC236}">
                <a16:creationId xmlns:a16="http://schemas.microsoft.com/office/drawing/2014/main" id="{CCD57203-1FF5-432E-8E3E-4DFC442AA54C}"/>
              </a:ext>
            </a:extLst>
          </p:cNvPr>
          <p:cNvSpPr txBox="1"/>
          <p:nvPr/>
        </p:nvSpPr>
        <p:spPr>
          <a:xfrm>
            <a:off x="946764" y="3435846"/>
            <a:ext cx="4187536" cy="692497"/>
          </a:xfrm>
          <a:prstGeom prst="rect">
            <a:avLst/>
          </a:prstGeom>
          <a:noFill/>
        </p:spPr>
        <p:txBody>
          <a:bodyPr wrap="square" lIns="0" tIns="0" rIns="0" bIns="0" rtlCol="0" anchor="t">
            <a:spAutoFit/>
          </a:bodyPr>
          <a:lstStyle/>
          <a:p>
            <a:r>
              <a:rPr lang="en-US" sz="4500" b="1" dirty="0">
                <a:solidFill>
                  <a:srgbClr val="75C042"/>
                </a:solidFill>
              </a:rPr>
              <a:t>End of </a:t>
            </a:r>
            <a:r>
              <a:rPr lang="en-US" sz="4050" b="1" kern="0" dirty="0">
                <a:solidFill>
                  <a:srgbClr val="75C042"/>
                </a:solidFill>
                <a:latin typeface="Segoe UI" panose="020B0502040204020203" pitchFamily="34" charset="0"/>
                <a:ea typeface="Calibri Light" charset="0"/>
                <a:cs typeface="Segoe UI" panose="020B0502040204020203" pitchFamily="34" charset="0"/>
              </a:rPr>
              <a:t>Day 25</a:t>
            </a:r>
            <a:endParaRPr lang="en-US" sz="4050" b="1" dirty="0">
              <a:solidFill>
                <a:srgbClr val="75C042"/>
              </a:solidFill>
              <a:latin typeface="Segoe UI" panose="020B0502040204020203" pitchFamily="34" charset="0"/>
              <a:ea typeface="Calibri Light" charset="0"/>
              <a:cs typeface="Segoe UI" panose="020B0502040204020203" pitchFamily="34" charset="0"/>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946763" y="4247149"/>
            <a:ext cx="983696" cy="278476"/>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grpSp>
      <p:sp>
        <p:nvSpPr>
          <p:cNvPr id="11" name="Rectangle 10">
            <a:extLst>
              <a:ext uri="{FF2B5EF4-FFF2-40B4-BE49-F238E27FC236}">
                <a16:creationId xmlns:a16="http://schemas.microsoft.com/office/drawing/2014/main" id="{DE739AA3-A794-9F54-6A5A-CA2C7ED598BB}"/>
              </a:ext>
            </a:extLst>
          </p:cNvPr>
          <p:cNvSpPr/>
          <p:nvPr/>
        </p:nvSpPr>
        <p:spPr>
          <a:xfrm>
            <a:off x="976712" y="1704281"/>
            <a:ext cx="3973328" cy="7397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www.anubhavtrainings.com</a:t>
            </a:r>
          </a:p>
        </p:txBody>
      </p:sp>
      <p:sp>
        <p:nvSpPr>
          <p:cNvPr id="12" name="Right Triangle 11"/>
          <p:cNvSpPr/>
          <p:nvPr/>
        </p:nvSpPr>
        <p:spPr>
          <a:xfrm rot="19603165">
            <a:off x="296953" y="-1026843"/>
            <a:ext cx="3143465" cy="2053685"/>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3" name="Right Triangle 12"/>
          <p:cNvSpPr/>
          <p:nvPr/>
        </p:nvSpPr>
        <p:spPr>
          <a:xfrm rot="16200000">
            <a:off x="5156848" y="1159118"/>
            <a:ext cx="3538845" cy="4433079"/>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4" name="Minus 13"/>
          <p:cNvSpPr/>
          <p:nvPr/>
        </p:nvSpPr>
        <p:spPr>
          <a:xfrm rot="19276189">
            <a:off x="3207527" y="3117933"/>
            <a:ext cx="7398364" cy="354149"/>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latin typeface="Cambria" panose="02040503050406030204" pitchFamily="18" charset="0"/>
                <a:ea typeface="Cambria" panose="02040503050406030204" pitchFamily="18" charset="0"/>
                <a:cs typeface="Corben"/>
                <a:sym typeface="Corben"/>
              </a:rPr>
              <a:t>www.anubhavtrainings.com</a:t>
            </a:r>
            <a:endParaRPr sz="1200" dirty="0">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99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2273307" y="1754585"/>
            <a:ext cx="6869499" cy="3388245"/>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191" y="670"/>
            <a:ext cx="9141619" cy="3657500"/>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381" y="670"/>
            <a:ext cx="9139239" cy="3657500"/>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572" y="-7047"/>
            <a:ext cx="9138048" cy="3665216"/>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264117" y="4494008"/>
            <a:ext cx="2665023" cy="507575"/>
          </a:xfrm>
          <a:prstGeom prst="rect">
            <a:avLst/>
          </a:prstGeom>
        </p:spPr>
        <p:txBody>
          <a:bodyPr wrap="square">
            <a:spAutoFit/>
          </a:bodyPr>
          <a:lstStyle/>
          <a:p>
            <a:pPr defTabSz="685457">
              <a:defRPr/>
            </a:pPr>
            <a:r>
              <a:rPr lang="en-US" sz="1349" b="1" dirty="0">
                <a:solidFill>
                  <a:srgbClr val="44546A"/>
                </a:solidFill>
                <a:latin typeface="Arial" panose="020B0604020202020204" pitchFamily="34" charset="0"/>
                <a:cs typeface="Arial" panose="020B0604020202020204" pitchFamily="34" charset="0"/>
              </a:rPr>
              <a:t>Contact us today!</a:t>
            </a:r>
          </a:p>
          <a:p>
            <a:pPr defTabSz="685457">
              <a:defRPr/>
            </a:pPr>
            <a:r>
              <a:rPr lang="en-US" sz="134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6134855" y="2194523"/>
            <a:ext cx="2422082" cy="230832"/>
          </a:xfrm>
          <a:prstGeom prst="rect">
            <a:avLst/>
          </a:prstGeom>
        </p:spPr>
        <p:txBody>
          <a:bodyPr wrap="square">
            <a:spAutoFit/>
          </a:bodyPr>
          <a:lstStyle/>
          <a:p>
            <a:pPr algn="ctr" defTabSz="685595">
              <a:defRPr/>
            </a:pPr>
            <a:r>
              <a:rPr lang="en-IN" sz="900" spc="38"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900" spc="38"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9174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 </a:t>
            </a:r>
          </a:p>
          <a:p>
            <a:pPr algn="ctr" defTabSz="685595">
              <a:defRPr/>
            </a:pPr>
            <a:r>
              <a:rPr lang="en-US" sz="9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1200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30,000+</a:t>
            </a:r>
          </a:p>
          <a:p>
            <a:pPr algn="ctr" defTabSz="685595">
              <a:defRPr/>
            </a:pPr>
            <a:r>
              <a:rPr lang="en-US" sz="9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3372763" y="233362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25000+ </a:t>
            </a:r>
          </a:p>
          <a:p>
            <a:pPr algn="ctr" defTabSz="685595">
              <a:defRPr/>
            </a:pPr>
            <a:r>
              <a:rPr lang="en-US" sz="9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338537" y="1709881"/>
            <a:ext cx="480044" cy="480044"/>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2555339" y="1704574"/>
            <a:ext cx="503946" cy="503946"/>
          </a:xfrm>
          <a:prstGeom prst="rect">
            <a:avLst/>
          </a:prstGeom>
        </p:spPr>
      </p:pic>
      <p:sp>
        <p:nvSpPr>
          <p:cNvPr id="48" name="Rectangle 47"/>
          <p:cNvSpPr/>
          <p:nvPr/>
        </p:nvSpPr>
        <p:spPr>
          <a:xfrm>
            <a:off x="475582" y="519175"/>
            <a:ext cx="4928219" cy="876778"/>
          </a:xfrm>
          <a:prstGeom prst="rect">
            <a:avLst/>
          </a:prstGeom>
        </p:spPr>
        <p:txBody>
          <a:bodyPr wrap="square">
            <a:spAutoFit/>
          </a:bodyPr>
          <a:lstStyle/>
          <a:p>
            <a:pPr algn="ctr" defTabSz="685595">
              <a:defRPr/>
            </a:pPr>
            <a:r>
              <a:rPr lang="en-US" sz="1499" b="1" dirty="0">
                <a:solidFill>
                  <a:srgbClr val="FFFFFF"/>
                </a:solidFill>
                <a:latin typeface="Arial" panose="020B0604020202020204" pitchFamily="34" charset="0"/>
                <a:cs typeface="Arial" panose="020B0604020202020204" pitchFamily="34" charset="0"/>
              </a:rPr>
              <a:t>We’re committed to empower you to be</a:t>
            </a:r>
          </a:p>
          <a:p>
            <a:pPr algn="ctr" defTabSz="685595">
              <a:defRPr/>
            </a:pPr>
            <a:r>
              <a:rPr lang="en-US" sz="1499" b="1" dirty="0">
                <a:solidFill>
                  <a:srgbClr val="FFFFFF"/>
                </a:solidFill>
                <a:latin typeface="Arial" panose="020B0604020202020204" pitchFamily="34" charset="0"/>
                <a:cs typeface="Arial" panose="020B0604020202020204" pitchFamily="34" charset="0"/>
              </a:rPr>
              <a:t> </a:t>
            </a:r>
            <a:r>
              <a:rPr lang="en-US" sz="2099" b="1" dirty="0">
                <a:solidFill>
                  <a:srgbClr val="2AC6D1">
                    <a:lumMod val="40000"/>
                    <a:lumOff val="60000"/>
                  </a:srgbClr>
                </a:solidFill>
                <a:latin typeface="Arial" panose="020B0604020202020204" pitchFamily="34" charset="0"/>
                <a:cs typeface="Arial" panose="020B0604020202020204" pitchFamily="34" charset="0"/>
              </a:rPr>
              <a:t>#FutureReady </a:t>
            </a:r>
          </a:p>
          <a:p>
            <a:pPr algn="ctr" defTabSz="685595">
              <a:defRPr/>
            </a:pPr>
            <a:r>
              <a:rPr lang="en-US" sz="14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264118" y="3748874"/>
            <a:ext cx="2925418" cy="692369"/>
          </a:xfrm>
          <a:prstGeom prst="rect">
            <a:avLst/>
          </a:prstGeom>
        </p:spPr>
        <p:txBody>
          <a:bodyPr wrap="square">
            <a:spAutoFit/>
          </a:bodyPr>
          <a:lstStyle/>
          <a:p>
            <a:pPr defTabSz="685595">
              <a:defRPr/>
            </a:pPr>
            <a:r>
              <a:rPr lang="en-US" sz="1499" b="1" spc="75" dirty="0">
                <a:solidFill>
                  <a:srgbClr val="F97700"/>
                </a:solidFill>
                <a:latin typeface="Arial" panose="020B0604020202020204"/>
              </a:rPr>
              <a:t>FREE WEBINARS </a:t>
            </a:r>
          </a:p>
          <a:p>
            <a:pPr defTabSz="685595">
              <a:defRPr/>
            </a:pPr>
            <a:r>
              <a:rPr lang="en-US" sz="12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3714780" y="1646020"/>
            <a:ext cx="638899" cy="638899"/>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4889390" y="2526841"/>
            <a:ext cx="4208388" cy="2535645"/>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3370618" y="4181066"/>
            <a:ext cx="1647176" cy="4105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3300992" y="4117750"/>
            <a:ext cx="1647176" cy="41051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3603418" y="4192723"/>
            <a:ext cx="1146468" cy="299954"/>
          </a:xfrm>
          <a:prstGeom prst="rect">
            <a:avLst/>
          </a:prstGeom>
        </p:spPr>
        <p:txBody>
          <a:bodyPr wrap="none">
            <a:spAutoFit/>
          </a:bodyPr>
          <a:lstStyle/>
          <a:p>
            <a:pPr defTabSz="685595">
              <a:defRPr/>
            </a:pPr>
            <a:r>
              <a:rPr lang="en-US" sz="1349" b="1" dirty="0">
                <a:solidFill>
                  <a:srgbClr val="44546A"/>
                </a:solidFill>
                <a:latin typeface="Arial" panose="020B0604020202020204"/>
              </a:rPr>
              <a:t>Enroll Now!</a:t>
            </a:r>
            <a:endParaRPr lang="en-US" sz="134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2869" y="333098"/>
            <a:ext cx="1742621" cy="1721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2655</TotalTime>
  <Words>823</Words>
  <Application>Microsoft Office PowerPoint</Application>
  <PresentationFormat>On-screen Show (16:9)</PresentationFormat>
  <Paragraphs>149</Paragraphs>
  <Slides>15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72</vt:lpstr>
      <vt:lpstr>Arial</vt:lpstr>
      <vt:lpstr>Calibri</vt:lpstr>
      <vt:lpstr>Cambria</vt:lpstr>
      <vt:lpstr>Cooper Black</vt:lpstr>
      <vt:lpstr>Segoe UI</vt:lpstr>
      <vt:lpstr>Segoe UI Light</vt:lpstr>
      <vt:lpstr>Office Theme</vt:lpstr>
      <vt:lpstr>SAP Build Training for Corporate Professionals</vt:lpstr>
      <vt:lpstr>PowerPoint Presentation</vt:lpstr>
      <vt:lpstr>Agenda</vt:lpstr>
      <vt:lpstr>Add a new Cart Screen to view cart</vt:lpstr>
      <vt:lpstr>Scenario</vt:lpstr>
      <vt:lpstr>Scenario</vt:lpstr>
      <vt:lpstr>SAP Mobile Service</vt:lpstr>
      <vt:lpstr>Usage in context of mobile service</vt:lpstr>
      <vt:lpstr>Enabling SAP Mobile Service for Build Apps</vt:lpstr>
      <vt:lpstr>Dependency between MS and Build Apps</vt:lpstr>
      <vt:lpstr>Certification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Anubhav Oberoy</cp:lastModifiedBy>
  <cp:revision>156</cp:revision>
  <dcterms:created xsi:type="dcterms:W3CDTF">2013-12-05T19:37:13Z</dcterms:created>
  <dcterms:modified xsi:type="dcterms:W3CDTF">2025-08-18T06:05:50Z</dcterms:modified>
</cp:coreProperties>
</file>