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494" r:id="rId3"/>
    <p:sldId id="265" r:id="rId4"/>
    <p:sldId id="506" r:id="rId5"/>
    <p:sldId id="491" r:id="rId6"/>
    <p:sldId id="505" r:id="rId7"/>
    <p:sldId id="312" r:id="rId8"/>
    <p:sldId id="508" r:id="rId9"/>
    <p:sldId id="509" r:id="rId10"/>
    <p:sldId id="510" r:id="rId11"/>
    <p:sldId id="535" r:id="rId12"/>
    <p:sldId id="512" r:id="rId13"/>
    <p:sldId id="507" r:id="rId14"/>
    <p:sldId id="495" r:id="rId15"/>
    <p:sldId id="496" r:id="rId16"/>
    <p:sldId id="497"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8,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help.sap.com/docs/BUILD_APPS/431746e4c663458aa68d9754b237bfc6/daece9f87abf4f7187a14ae0b1f8b2ab.html"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world.openfoodfacts.net/api/0/product/8904004400083?fields=product_name,nutriments,image_front_url"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8.tiff"/><Relationship Id="rId5" Type="http://schemas.openxmlformats.org/officeDocument/2006/relationships/image" Target="../media/image17.tiff"/><Relationship Id="rId4" Type="http://schemas.openxmlformats.org/officeDocument/2006/relationships/image" Target="../media/image16.tiff"/><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DAY-21</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Content Transport</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TMS Service</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SAP CI CD Service</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SAP Build Transport</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52AFA-C446-5BE7-B83D-63482A5E9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A43DAE-E2E0-F6CD-71C7-BA610274A33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9CDEEF8E-8674-9FBE-8BF0-31B85F285D21}"/>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113EC6B7-FB16-FBE4-53BD-3AB03F949086}"/>
              </a:ext>
            </a:extLst>
          </p:cNvPr>
          <p:cNvSpPr>
            <a:spLocks noGrp="1"/>
          </p:cNvSpPr>
          <p:nvPr>
            <p:ph type="title"/>
          </p:nvPr>
        </p:nvSpPr>
        <p:spPr>
          <a:xfrm>
            <a:off x="76200" y="133350"/>
            <a:ext cx="8229600" cy="533401"/>
          </a:xfrm>
        </p:spPr>
        <p:txBody>
          <a:bodyPr/>
          <a:lstStyle/>
          <a:p>
            <a:r>
              <a:rPr lang="en-IN" sz="2500">
                <a:latin typeface="Cooper Black" panose="0208090404030B020404" pitchFamily="18" charset="0"/>
              </a:rPr>
              <a:t>Use case</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BB01AD9F-6B2B-4DC0-66B7-5603F71A2C94}"/>
              </a:ext>
            </a:extLst>
          </p:cNvPr>
          <p:cNvSpPr txBox="1"/>
          <p:nvPr/>
        </p:nvSpPr>
        <p:spPr>
          <a:xfrm>
            <a:off x="76200" y="742950"/>
            <a:ext cx="5715000" cy="4069557"/>
          </a:xfrm>
          <a:prstGeom prst="rect">
            <a:avLst/>
          </a:prstGeom>
        </p:spPr>
        <p:txBody>
          <a:bodyPr vert="horz" lIns="91440" tIns="45720" rIns="91440" bIns="45720" rtlCol="0">
            <a:normAutofit fontScale="85000" lnSpcReduction="20000"/>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Persona: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Name: Priya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Age: 32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Role: A health-conscious mother of a 6-year-old boy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Goal: To ensure her son eats healthy snacks, avoiding high sugar, additives, or allergens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Scenario: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Priya is grocery shopping on a busy weekday afternoon. Her son loves trying new snacks, but Priya is always worried about hidden sugars, preservatives, and allergy-triggering ingredients. Reading tiny labels on packaging is time-consuming and frustrating.</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Key Features of the App:</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Barcode scanning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Instant nutrition info from Open Food Facts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Allergen warnings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Healthy alternatives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Kid-focused nutritional grading</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Benefit: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Priya saves time and makes informed decisions, ensuring her son enjoys tasty snacks without compromising health.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2063" name="Picture 15" descr="Father Daughter Shopping: Over 3,796 Royalty-Free Licensable Stock  Illustrations &amp; Drawings | Shutterstock">
            <a:extLst>
              <a:ext uri="{FF2B5EF4-FFF2-40B4-BE49-F238E27FC236}">
                <a16:creationId xmlns:a16="http://schemas.microsoft.com/office/drawing/2014/main" id="{31DA6A43-EB06-3D18-0442-D8D629F8CA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43"/>
          <a:stretch/>
        </p:blipFill>
        <p:spPr bwMode="auto">
          <a:xfrm>
            <a:off x="5791200" y="1539478"/>
            <a:ext cx="3267075"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00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09530-0387-8944-1695-D84D8C7A78D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D61474D-0CC2-987D-8599-2215B1469BC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44A73104-E9C2-AB84-969C-7E12D3AE6E1D}"/>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89C06D12-D8C1-0A71-FE9B-DF4277D389AF}"/>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Build Apps - Builder area</a:t>
            </a:r>
          </a:p>
        </p:txBody>
      </p:sp>
      <p:sp>
        <p:nvSpPr>
          <p:cNvPr id="2" name="TextBox 1">
            <a:extLst>
              <a:ext uri="{FF2B5EF4-FFF2-40B4-BE49-F238E27FC236}">
                <a16:creationId xmlns:a16="http://schemas.microsoft.com/office/drawing/2014/main" id="{AC1DEC44-A89C-9F50-0AF8-03D1C8F6F6F7}"/>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ts val="1800"/>
              </a:lnSpc>
              <a:spcBef>
                <a:spcPts val="0"/>
              </a:spcBef>
              <a:spcAft>
                <a:spcPts val="1500"/>
              </a:spcAft>
              <a:buClrTx/>
              <a:buSzTx/>
              <a:buFontTx/>
              <a:buNone/>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When working with SAP Build Apps, the majority of your time will be spent in the app builder area. This area allows you to complete key tasks such as, but not limited to, the following:</a:t>
            </a:r>
          </a:p>
          <a:p>
            <a:pPr marL="0" marR="0" lvl="0" indent="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Build pixel-perfect user interfaces</a:t>
            </a:r>
          </a:p>
          <a:p>
            <a:pPr marL="0" marR="0" lvl="0" indent="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Integrate with external data resources</a:t>
            </a:r>
          </a:p>
          <a:p>
            <a:pPr marL="0" marR="0" lvl="0" indent="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Create complex logic with visual programming</a:t>
            </a:r>
          </a:p>
          <a:p>
            <a:pPr marL="0" marR="0" lvl="0" indent="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Bind data to components to create dynamic views</a:t>
            </a:r>
          </a:p>
          <a:p>
            <a:pPr marL="0" marR="0" lvl="0" indent="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Define navigation</a:t>
            </a:r>
          </a:p>
          <a:p>
            <a:pPr marL="0" marR="0" lvl="0" indent="0" algn="l" defTabSz="914400" rtl="0" eaLnBrk="1" fontAlgn="auto" latinLnBrk="0" hangingPunct="1">
              <a:lnSpc>
                <a:spcPts val="1800"/>
              </a:lnSpc>
              <a:spcBef>
                <a:spcPts val="0"/>
              </a:spcBef>
              <a:spcAft>
                <a:spcPts val="15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1F1F1F"/>
              </a:solidFill>
              <a:effectLst/>
              <a:uLnTx/>
              <a:uFillTx/>
              <a:latin typeface="72 Brand Variable"/>
              <a:ea typeface="+mn-ea"/>
              <a:cs typeface="+mn-cs"/>
            </a:endParaRPr>
          </a:p>
          <a:p>
            <a:pPr marL="0" marR="0" lvl="0" indent="0" algn="l" defTabSz="914400" rtl="0" eaLnBrk="1" fontAlgn="auto" latinLnBrk="0" hangingPunct="1">
              <a:lnSpc>
                <a:spcPts val="1800"/>
              </a:lnSpc>
              <a:spcBef>
                <a:spcPts val="0"/>
              </a:spcBef>
              <a:spcAft>
                <a:spcPts val="1500"/>
              </a:spcAft>
              <a:buClrTx/>
              <a:buSzTx/>
              <a:buFontTx/>
              <a:buNone/>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hlinkClick r:id="rId2"/>
              </a:rPr>
              <a:t>https://help.sap.com/docs/BUILD_APPS/431746e4c663458aa68d9754b237bfc6/daece9f87abf4f7187a14ae0b1f8b2ab.html</a:t>
            </a:r>
            <a:endParaRPr kumimoji="0" lang="en-US" sz="1400" b="0" i="0" u="none" strike="noStrike" kern="1200" cap="none" spc="0" normalizeH="0" baseline="0" noProof="0" dirty="0">
              <a:ln>
                <a:noFill/>
              </a:ln>
              <a:solidFill>
                <a:srgbClr val="1F1F1F"/>
              </a:solidFill>
              <a:effectLst/>
              <a:uLnTx/>
              <a:uFillTx/>
              <a:latin typeface="72 Brand Variable"/>
              <a:ea typeface="+mn-ea"/>
              <a:cs typeface="+mn-cs"/>
            </a:endParaRPr>
          </a:p>
          <a:p>
            <a:pPr marL="0" marR="0" lvl="0" indent="0" algn="l" defTabSz="914400" rtl="0" eaLnBrk="1" fontAlgn="auto" latinLnBrk="0" hangingPunct="1">
              <a:lnSpc>
                <a:spcPts val="1800"/>
              </a:lnSpc>
              <a:spcBef>
                <a:spcPts val="0"/>
              </a:spcBef>
              <a:spcAft>
                <a:spcPts val="1500"/>
              </a:spcAft>
              <a:buClrTx/>
              <a:buSzTx/>
              <a:buFontTx/>
              <a:buNone/>
              <a:tabLst/>
              <a:defRPr/>
            </a:pPr>
            <a:endParaRPr kumimoji="0" lang="en-US" sz="1400" b="0" i="0" u="none" strike="noStrike" kern="1200" cap="none" spc="0" normalizeH="0" baseline="0" noProof="0" dirty="0">
              <a:ln>
                <a:noFill/>
              </a:ln>
              <a:solidFill>
                <a:srgbClr val="1F1F1F"/>
              </a:solidFill>
              <a:effectLst/>
              <a:uLnTx/>
              <a:uFillTx/>
              <a:latin typeface="72 Brand Variable"/>
              <a:ea typeface="+mn-ea"/>
              <a:cs typeface="+mn-cs"/>
            </a:endParaRPr>
          </a:p>
        </p:txBody>
      </p:sp>
    </p:spTree>
    <p:extLst>
      <p:ext uri="{BB962C8B-B14F-4D97-AF65-F5344CB8AC3E}">
        <p14:creationId xmlns:p14="http://schemas.microsoft.com/office/powerpoint/2010/main" val="290461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5D553-D8CF-ECBB-DA68-A1465C19366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DFB96D-EF9B-558C-1291-7057255406D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266E5022-93F8-BC4A-3663-511C65A5F324}"/>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7453CEE7-F7FF-39EA-B173-1572EA0C1280}"/>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Logic Flows</a:t>
            </a:r>
          </a:p>
        </p:txBody>
      </p:sp>
      <p:sp>
        <p:nvSpPr>
          <p:cNvPr id="2" name="TextBox 1">
            <a:extLst>
              <a:ext uri="{FF2B5EF4-FFF2-40B4-BE49-F238E27FC236}">
                <a16:creationId xmlns:a16="http://schemas.microsoft.com/office/drawing/2014/main" id="{F719104D-CB5C-91F6-D8B4-CFDD58613DE6}"/>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ts val="1800"/>
              </a:lnSpc>
              <a:spcBef>
                <a:spcPts val="0"/>
              </a:spcBef>
              <a:spcAft>
                <a:spcPts val="1500"/>
              </a:spcAft>
              <a:buClrTx/>
              <a:buSzTx/>
              <a:buFontTx/>
              <a:buNone/>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Logic flows are used to capture events in an application, such as a page loading or a user tapping on a button, and to execute actions – for example, to change the value of data or to open the device’s camera.</a:t>
            </a:r>
          </a:p>
          <a:p>
            <a:pPr marL="0" marR="0" lvl="0" indent="0" algn="l" defTabSz="914400" rtl="0" eaLnBrk="1" fontAlgn="auto" latinLnBrk="0" hangingPunct="1">
              <a:lnSpc>
                <a:spcPts val="1800"/>
              </a:lnSpc>
              <a:spcBef>
                <a:spcPts val="0"/>
              </a:spcBef>
              <a:spcAft>
                <a:spcPts val="1500"/>
              </a:spcAft>
              <a:buClrTx/>
              <a:buSzTx/>
              <a:buFontTx/>
              <a:buNone/>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To create a barcode scanning app, you need to configure a logic flow that tells your application to open the camera device once the user taps the </a:t>
            </a:r>
            <a:r>
              <a:rPr kumimoji="0" lang="en-US" sz="1400" b="1" i="0" u="none" strike="noStrike" kern="1200" cap="none" spc="0" normalizeH="0" baseline="0" noProof="0" dirty="0">
                <a:ln>
                  <a:noFill/>
                </a:ln>
                <a:solidFill>
                  <a:srgbClr val="1F1F1F"/>
                </a:solidFill>
                <a:effectLst/>
                <a:uLnTx/>
                <a:uFillTx/>
                <a:latin typeface="72 Brand Variable"/>
                <a:ea typeface="+mn-ea"/>
                <a:cs typeface="+mn-cs"/>
              </a:rPr>
              <a:t>Scan</a:t>
            </a: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button. To do this, we’ll show you how to add the logic to the button, then how to take advantage of SAP Build Apps’s QR and Barcode component.</a:t>
            </a:r>
          </a:p>
          <a:p>
            <a:pPr marL="0" marR="0" lvl="0" indent="0" algn="l" defTabSz="914400" rtl="0" eaLnBrk="1" fontAlgn="auto" latinLnBrk="0" hangingPunct="1">
              <a:lnSpc>
                <a:spcPts val="1800"/>
              </a:lnSpc>
              <a:spcBef>
                <a:spcPts val="0"/>
              </a:spcBef>
              <a:spcAft>
                <a:spcPts val="1500"/>
              </a:spcAft>
              <a:buClrTx/>
              <a:buSzTx/>
              <a:buFontTx/>
              <a:buNone/>
              <a:tabLst/>
              <a:defRPr/>
            </a:pP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In the logic panel, you can see the </a:t>
            </a:r>
            <a:r>
              <a:rPr kumimoji="0" lang="en-US" sz="1400" b="1" i="0" u="none" strike="noStrike" kern="1200" cap="none" spc="0" normalizeH="0" baseline="0" noProof="0" dirty="0">
                <a:ln>
                  <a:noFill/>
                </a:ln>
                <a:solidFill>
                  <a:srgbClr val="1F1F1F"/>
                </a:solidFill>
                <a:effectLst/>
                <a:uLnTx/>
                <a:uFillTx/>
                <a:latin typeface="72 Brand Variable"/>
                <a:ea typeface="+mn-ea"/>
                <a:cs typeface="+mn-cs"/>
              </a:rPr>
              <a:t>Event - Component Tap</a:t>
            </a:r>
            <a:r>
              <a:rPr kumimoji="0" lang="en-US" sz="1400" b="0" i="0" u="none" strike="noStrike" kern="1200" cap="none" spc="0" normalizeH="0" baseline="0" noProof="0" dirty="0">
                <a:ln>
                  <a:noFill/>
                </a:ln>
                <a:solidFill>
                  <a:srgbClr val="1F1F1F"/>
                </a:solidFill>
                <a:effectLst/>
                <a:uLnTx/>
                <a:uFillTx/>
                <a:latin typeface="72 Brand Variable"/>
                <a:ea typeface="+mn-ea"/>
                <a:cs typeface="+mn-cs"/>
              </a:rPr>
              <a:t>, which is triggered when a user taps on the button. We now need to decide what this event will do.</a:t>
            </a:r>
          </a:p>
          <a:p>
            <a:pPr marL="0" marR="0" lvl="0" indent="0" algn="l" defTabSz="914400" rtl="0" eaLnBrk="1" fontAlgn="auto" latinLnBrk="0" hangingPunct="1">
              <a:lnSpc>
                <a:spcPts val="1800"/>
              </a:lnSpc>
              <a:spcBef>
                <a:spcPts val="0"/>
              </a:spcBef>
              <a:spcAft>
                <a:spcPts val="1500"/>
              </a:spcAft>
              <a:buClrTx/>
              <a:buSzTx/>
              <a:buFontTx/>
              <a:buNone/>
              <a:tabLst/>
              <a:defRPr/>
            </a:pPr>
            <a:endParaRPr kumimoji="0" lang="en-US" sz="1400" b="0" i="0" u="none" strike="noStrike" kern="1200" cap="none" spc="0" normalizeH="0" baseline="0" noProof="0" dirty="0">
              <a:ln>
                <a:noFill/>
              </a:ln>
              <a:solidFill>
                <a:srgbClr val="1F1F1F"/>
              </a:solidFill>
              <a:effectLst/>
              <a:uLnTx/>
              <a:uFillTx/>
              <a:latin typeface="72 Brand Variable"/>
              <a:ea typeface="+mn-ea"/>
              <a:cs typeface="+mn-cs"/>
            </a:endParaRPr>
          </a:p>
        </p:txBody>
      </p:sp>
      <p:pic>
        <p:nvPicPr>
          <p:cNvPr id="1026" name="Picture 2" descr="Diagram of scanning a food item from a mobile app">
            <a:extLst>
              <a:ext uri="{FF2B5EF4-FFF2-40B4-BE49-F238E27FC236}">
                <a16:creationId xmlns:a16="http://schemas.microsoft.com/office/drawing/2014/main" id="{1C825E6F-F1D5-F7E0-6C08-5E0870C26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106" y="2832661"/>
            <a:ext cx="5208449"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061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73C7-A573-8D10-EE6B-98ADA6998A4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AF07877-8E4A-FEBB-EB60-ED28BA66CDF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30993EE6-DBFE-DD31-4388-A2CF11CE39EC}"/>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139016E8-3F3A-555F-6F42-8BB0377D4F8C}"/>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What is JSON – Java Script Object Notation</a:t>
            </a:r>
          </a:p>
        </p:txBody>
      </p:sp>
      <p:sp>
        <p:nvSpPr>
          <p:cNvPr id="2" name="TextBox 1">
            <a:extLst>
              <a:ext uri="{FF2B5EF4-FFF2-40B4-BE49-F238E27FC236}">
                <a16:creationId xmlns:a16="http://schemas.microsoft.com/office/drawing/2014/main" id="{5ACFC16C-C5A5-4074-4A90-1378D71E5FA9}"/>
              </a:ext>
            </a:extLst>
          </p:cNvPr>
          <p:cNvSpPr txBox="1"/>
          <p:nvPr/>
        </p:nvSpPr>
        <p:spPr>
          <a:xfrm>
            <a:off x="266700" y="879914"/>
            <a:ext cx="502920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a:ea typeface="+mn-ea"/>
                <a:cs typeface="+mn-cs"/>
              </a:rPr>
              <a:t>    key: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a:ea typeface="+mn-ea"/>
                <a:cs typeface="+mn-cs"/>
              </a:rPr>
              <a:t>    key: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a:ea typeface="+mn-ea"/>
                <a:cs typeface="+mn-cs"/>
              </a:rPr>
              <a:t>    key: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a:ea typeface="+mn-ea"/>
                <a:cs typeface="+mn-cs"/>
              </a:rPr>
              <a:t>}</a:t>
            </a:r>
          </a:p>
        </p:txBody>
      </p:sp>
      <p:graphicFrame>
        <p:nvGraphicFramePr>
          <p:cNvPr id="6" name="Table 5">
            <a:extLst>
              <a:ext uri="{FF2B5EF4-FFF2-40B4-BE49-F238E27FC236}">
                <a16:creationId xmlns:a16="http://schemas.microsoft.com/office/drawing/2014/main" id="{EA203EF2-5312-8232-B3E8-316965C6EDAC}"/>
              </a:ext>
            </a:extLst>
          </p:cNvPr>
          <p:cNvGraphicFramePr>
            <a:graphicFrameLocks noGrp="1"/>
          </p:cNvGraphicFramePr>
          <p:nvPr/>
        </p:nvGraphicFramePr>
        <p:xfrm>
          <a:off x="2743200" y="1433158"/>
          <a:ext cx="6096000" cy="370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5643659"/>
                    </a:ext>
                  </a:extLst>
                </a:gridCol>
                <a:gridCol w="1219200">
                  <a:extLst>
                    <a:ext uri="{9D8B030D-6E8A-4147-A177-3AD203B41FA5}">
                      <a16:colId xmlns:a16="http://schemas.microsoft.com/office/drawing/2014/main" val="4136994743"/>
                    </a:ext>
                  </a:extLst>
                </a:gridCol>
                <a:gridCol w="1219200">
                  <a:extLst>
                    <a:ext uri="{9D8B030D-6E8A-4147-A177-3AD203B41FA5}">
                      <a16:colId xmlns:a16="http://schemas.microsoft.com/office/drawing/2014/main" val="3350471309"/>
                    </a:ext>
                  </a:extLst>
                </a:gridCol>
                <a:gridCol w="1219200">
                  <a:extLst>
                    <a:ext uri="{9D8B030D-6E8A-4147-A177-3AD203B41FA5}">
                      <a16:colId xmlns:a16="http://schemas.microsoft.com/office/drawing/2014/main" val="994915914"/>
                    </a:ext>
                  </a:extLst>
                </a:gridCol>
                <a:gridCol w="1219200">
                  <a:extLst>
                    <a:ext uri="{9D8B030D-6E8A-4147-A177-3AD203B41FA5}">
                      <a16:colId xmlns:a16="http://schemas.microsoft.com/office/drawing/2014/main" val="3972085618"/>
                    </a:ext>
                  </a:extLst>
                </a:gridCol>
              </a:tblGrid>
              <a:tr h="370840">
                <a:tc>
                  <a:txBody>
                    <a:bodyPr/>
                    <a:lstStyle/>
                    <a:p>
                      <a:r>
                        <a:rPr lang="en-IN" dirty="0"/>
                        <a:t>101</a:t>
                      </a:r>
                    </a:p>
                  </a:txBody>
                  <a:tcPr/>
                </a:tc>
                <a:tc>
                  <a:txBody>
                    <a:bodyPr/>
                    <a:lstStyle/>
                    <a:p>
                      <a:r>
                        <a:rPr lang="en-IN" dirty="0"/>
                        <a:t>SHIP1</a:t>
                      </a:r>
                    </a:p>
                  </a:txBody>
                  <a:tcPr/>
                </a:tc>
                <a:tc>
                  <a:txBody>
                    <a:bodyPr/>
                    <a:lstStyle/>
                    <a:p>
                      <a:r>
                        <a:rPr lang="en-IN" dirty="0"/>
                        <a:t>20251212</a:t>
                      </a:r>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652445291"/>
                  </a:ext>
                </a:extLst>
              </a:tr>
            </a:tbl>
          </a:graphicData>
        </a:graphic>
      </p:graphicFrame>
      <p:sp>
        <p:nvSpPr>
          <p:cNvPr id="7" name="TextBox 6">
            <a:extLst>
              <a:ext uri="{FF2B5EF4-FFF2-40B4-BE49-F238E27FC236}">
                <a16:creationId xmlns:a16="http://schemas.microsoft.com/office/drawing/2014/main" id="{9A76F90A-2C3E-B771-3C93-C94451E49989}"/>
              </a:ext>
            </a:extLst>
          </p:cNvPr>
          <p:cNvSpPr txBox="1"/>
          <p:nvPr/>
        </p:nvSpPr>
        <p:spPr>
          <a:xfrm>
            <a:off x="2819400" y="1123950"/>
            <a:ext cx="6019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a:ea typeface="+mn-ea"/>
                <a:cs typeface="+mn-cs"/>
              </a:rPr>
              <a:t>orderNo</a:t>
            </a:r>
            <a:r>
              <a:rPr kumimoji="0" lang="en-IN" sz="1800" b="0" i="0" u="none" strike="noStrike" kern="1200" cap="none" spc="0" normalizeH="0" baseline="0" noProof="0" dirty="0">
                <a:ln>
                  <a:noFill/>
                </a:ln>
                <a:solidFill>
                  <a:prstClr val="black"/>
                </a:solidFill>
                <a:effectLst/>
                <a:uLnTx/>
                <a:uFillTx/>
                <a:latin typeface="Calibri"/>
                <a:ea typeface="+mn-ea"/>
                <a:cs typeface="+mn-cs"/>
              </a:rPr>
              <a:t>       </a:t>
            </a:r>
            <a:r>
              <a:rPr kumimoji="0" lang="en-IN" sz="1800" b="0" i="0" u="none" strike="noStrike" kern="1200" cap="none" spc="0" normalizeH="0" baseline="0" noProof="0" dirty="0" err="1">
                <a:ln>
                  <a:noFill/>
                </a:ln>
                <a:solidFill>
                  <a:prstClr val="black"/>
                </a:solidFill>
                <a:effectLst/>
                <a:uLnTx/>
                <a:uFillTx/>
                <a:latin typeface="Calibri"/>
                <a:ea typeface="+mn-ea"/>
                <a:cs typeface="+mn-cs"/>
              </a:rPr>
              <a:t>shipTo</a:t>
            </a:r>
            <a:r>
              <a:rPr kumimoji="0" lang="en-IN" sz="1800" b="0" i="0" u="none" strike="noStrike" kern="1200" cap="none" spc="0" normalizeH="0" baseline="0" noProof="0" dirty="0">
                <a:ln>
                  <a:noFill/>
                </a:ln>
                <a:solidFill>
                  <a:prstClr val="black"/>
                </a:solidFill>
                <a:effectLst/>
                <a:uLnTx/>
                <a:uFillTx/>
                <a:latin typeface="Calibri"/>
                <a:ea typeface="+mn-ea"/>
                <a:cs typeface="+mn-cs"/>
              </a:rPr>
              <a:t>             date</a:t>
            </a:r>
          </a:p>
        </p:txBody>
      </p:sp>
    </p:spTree>
    <p:extLst>
      <p:ext uri="{BB962C8B-B14F-4D97-AF65-F5344CB8AC3E}">
        <p14:creationId xmlns:p14="http://schemas.microsoft.com/office/powerpoint/2010/main" val="1091584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8CC4-9692-1294-C1A1-6A75635E88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2A108D-E504-1630-4E3F-CD877CA5BFD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B180D053-857E-A921-C3BC-4313323F980C}"/>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A2BBE0C0-3517-1663-B2E4-10AA9E863417}"/>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Open APIs</a:t>
            </a:r>
          </a:p>
        </p:txBody>
      </p:sp>
      <p:sp>
        <p:nvSpPr>
          <p:cNvPr id="2" name="TextBox 1">
            <a:extLst>
              <a:ext uri="{FF2B5EF4-FFF2-40B4-BE49-F238E27FC236}">
                <a16:creationId xmlns:a16="http://schemas.microsoft.com/office/drawing/2014/main" id="{6A26D79C-4A6A-0BDA-3E3F-85AB5A86CD80}"/>
              </a:ext>
            </a:extLst>
          </p:cNvPr>
          <p:cNvSpPr txBox="1"/>
          <p:nvPr/>
        </p:nvSpPr>
        <p:spPr>
          <a:xfrm>
            <a:off x="94129" y="682228"/>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Open Food Facts offers a comprehensive API that allows developers to access a vast database of food product information, including details such as ingredients, nutritional content, allergens, and labels. This open-source database is continually enriched by contributors worldwide, making it an invaluable resource for applications focused on health, diet tracking, food research, and consumer information. citeturn0search0</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Key Features of the Open Food Facts API:</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 Extensive Data Access: Retrieve detailed information about food products, including ingredients, nutritional facts, allergens, and more.</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 Global Coverage: Access data from a wide range of products sourced from various countries, providing a diverse and comprehensive dataset.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 User Contributions: Benefit from a continually growing database, as users worldwide contribute by adding new products and updating existing information.</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 Integration Flexibility: Utilize the RESTful API to seamlessly integrate food product data into mobile apps, research projects, software, or diet-based web services.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hlinkClick r:id="rId2"/>
              </a:rPr>
              <a:t>https://world.openfoodfacts.net/api/0/product/</a:t>
            </a:r>
            <a:r>
              <a:rPr kumimoji="0" lang="en-US" sz="1400" b="0" i="0" u="none" strike="noStrike" kern="1200" cap="none" spc="0" normalizeH="0" baseline="0" noProof="0" dirty="0">
                <a:ln>
                  <a:noFill/>
                </a:ln>
                <a:solidFill>
                  <a:prstClr val="black"/>
                </a:solidFill>
                <a:effectLst/>
                <a:highlight>
                  <a:srgbClr val="FFFF00"/>
                </a:highlight>
                <a:uLnTx/>
                <a:uFillTx/>
                <a:latin typeface="Calibri"/>
                <a:ea typeface="+mn-ea"/>
                <a:cs typeface="+mn-cs"/>
                <a:hlinkClick r:id="rId2"/>
              </a:rPr>
              <a:t>8904004400083</a:t>
            </a:r>
            <a:r>
              <a:rPr kumimoji="0" lang="en-US" sz="1400" b="0" i="0" u="none" strike="noStrike" kern="1200" cap="none" spc="0" normalizeH="0" baseline="0" noProof="0" dirty="0">
                <a:ln>
                  <a:noFill/>
                </a:ln>
                <a:solidFill>
                  <a:prstClr val="black"/>
                </a:solidFill>
                <a:effectLst/>
                <a:uLnTx/>
                <a:uFillTx/>
                <a:latin typeface="Calibri"/>
                <a:ea typeface="+mn-ea"/>
                <a:cs typeface="+mn-cs"/>
                <a:hlinkClick r:id="rId2"/>
              </a:rPr>
              <a:t>?fields=product_name,nutriments,image_front_url</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Sample products –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700"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8901764061257</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700"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8901262200189</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700"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8901063029279</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700"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8904004400083</a:t>
            </a:r>
          </a:p>
        </p:txBody>
      </p:sp>
    </p:spTree>
    <p:extLst>
      <p:ext uri="{BB962C8B-B14F-4D97-AF65-F5344CB8AC3E}">
        <p14:creationId xmlns:p14="http://schemas.microsoft.com/office/powerpoint/2010/main" val="247693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9E7ED-A116-A655-C400-35D2E13FB94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72C7F1-7AD2-91C0-E86D-572222A3D37C}"/>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1082F64B-4FB9-C61D-3D9F-7F48BB02D33F}"/>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ED8AC571-918C-A8EF-C993-D0FEF5426669}"/>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Build Apps – REST API integration</a:t>
            </a:r>
          </a:p>
        </p:txBody>
      </p:sp>
      <p:sp>
        <p:nvSpPr>
          <p:cNvPr id="2" name="TextBox 1">
            <a:extLst>
              <a:ext uri="{FF2B5EF4-FFF2-40B4-BE49-F238E27FC236}">
                <a16:creationId xmlns:a16="http://schemas.microsoft.com/office/drawing/2014/main" id="{44F768F1-F72E-F097-9A9E-2C1BF089993D}"/>
              </a:ext>
            </a:extLst>
          </p:cNvPr>
          <p:cNvSpPr txBox="1"/>
          <p:nvPr/>
        </p:nvSpPr>
        <p:spPr>
          <a:xfrm>
            <a:off x="152400" y="971549"/>
            <a:ext cx="8839200" cy="1219201"/>
          </a:xfrm>
          <a:prstGeom prst="rect">
            <a:avLst/>
          </a:prstGeom>
        </p:spPr>
        <p:txBody>
          <a:bodyPr vert="horz" lIns="91440" tIns="45720" rIns="91440" bIns="45720" rtlCol="0">
            <a:normAutofit/>
          </a:bodyPr>
          <a:lstStyle/>
          <a:p>
            <a:pPr algn="just">
              <a:spcBef>
                <a:spcPct val="20000"/>
              </a:spcBef>
              <a:buFont typeface="Arial" pitchFamily="34" charset="0"/>
            </a:pPr>
            <a:r>
              <a:rPr lang="en-US" sz="1200" b="0" i="0" dirty="0">
                <a:solidFill>
                  <a:srgbClr val="333333"/>
                </a:solidFill>
                <a:effectLst/>
                <a:latin typeface="72" panose="020B0503030000000003" pitchFamily="34" charset="0"/>
              </a:rPr>
              <a:t>SAP Build Apps enables you to create applications on multiple platforms such as iOS, Android, and Web. Most apps need some way to store data when the app isn't running. The data can be stored on the device itself or in an external back end, accessible over the Internet. A common architecture for Internet services is a </a:t>
            </a:r>
            <a:r>
              <a:rPr lang="en-US" sz="1200" b="1" i="0" dirty="0">
                <a:solidFill>
                  <a:srgbClr val="333333"/>
                </a:solidFill>
                <a:effectLst/>
                <a:latin typeface="72" panose="020B0503030000000003" pitchFamily="34" charset="0"/>
              </a:rPr>
              <a:t>front end - back end</a:t>
            </a:r>
            <a:r>
              <a:rPr lang="en-US" sz="1200" b="0" i="0" dirty="0">
                <a:solidFill>
                  <a:srgbClr val="333333"/>
                </a:solidFill>
                <a:effectLst/>
                <a:latin typeface="72" panose="020B0503030000000003" pitchFamily="34" charset="0"/>
              </a:rPr>
              <a:t> model, in which an app acts as the front end handling user interactions, while a back end stores and processes data. As it's typical that a front end (or multiple front ends) will use a different technology stack from that of the back end, there needs to be an easy standard way to communicate between the two. </a:t>
            </a:r>
            <a:endParaRPr lang="en-US" sz="1200" dirty="0"/>
          </a:p>
        </p:txBody>
      </p:sp>
      <p:pic>
        <p:nvPicPr>
          <p:cNvPr id="4098" name="Picture 2" descr="Rest Api Diagram">
            <a:extLst>
              <a:ext uri="{FF2B5EF4-FFF2-40B4-BE49-F238E27FC236}">
                <a16:creationId xmlns:a16="http://schemas.microsoft.com/office/drawing/2014/main" id="{85A74C13-4D39-0D78-E43E-CACC41CE57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2419350"/>
            <a:ext cx="4495800" cy="1954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0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44CD-B86A-9140-70B1-8DF4FDEB8D3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3904CF2-7567-9A1E-4C94-AF6E35D7E86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C9796B93-1BE7-7B84-9250-4820B11A3ACE}"/>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3898BAAC-2777-322F-7E03-324D5BA71520}"/>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Integrations – REST API</a:t>
            </a:r>
          </a:p>
        </p:txBody>
      </p:sp>
      <p:sp>
        <p:nvSpPr>
          <p:cNvPr id="2" name="TextBox 1">
            <a:extLst>
              <a:ext uri="{FF2B5EF4-FFF2-40B4-BE49-F238E27FC236}">
                <a16:creationId xmlns:a16="http://schemas.microsoft.com/office/drawing/2014/main" id="{F63BD8A7-F1AB-4DE4-649C-6504E390D0C2}"/>
              </a:ext>
            </a:extLst>
          </p:cNvPr>
          <p:cNvSpPr txBox="1"/>
          <p:nvPr/>
        </p:nvSpPr>
        <p:spPr>
          <a:xfrm>
            <a:off x="111868" y="848915"/>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solidFill>
                  <a:srgbClr val="333333"/>
                </a:solidFill>
                <a:effectLst/>
                <a:latin typeface="72" panose="020B0503030000000003" pitchFamily="34" charset="0"/>
              </a:rPr>
              <a:t>A </a:t>
            </a:r>
            <a:r>
              <a:rPr lang="en-US" sz="1400" dirty="0"/>
              <a:t>REST</a:t>
            </a:r>
            <a:r>
              <a:rPr lang="en-US" sz="1400" b="0" i="0" dirty="0">
                <a:solidFill>
                  <a:srgbClr val="333333"/>
                </a:solidFill>
                <a:effectLst/>
                <a:latin typeface="72" panose="020B0503030000000003" pitchFamily="34" charset="0"/>
              </a:rPr>
              <a:t> API direct integration type data resource essentially tells SAP Build Apps how a specific, JSON-format HTTP </a:t>
            </a:r>
            <a:r>
              <a:rPr lang="en-US" sz="1400" dirty="0"/>
              <a:t>REST</a:t>
            </a:r>
            <a:r>
              <a:rPr lang="en-US" sz="1400" b="0" i="0" dirty="0">
                <a:solidFill>
                  <a:srgbClr val="333333"/>
                </a:solidFill>
                <a:effectLst/>
                <a:latin typeface="72" panose="020B0503030000000003" pitchFamily="34" charset="0"/>
              </a:rPr>
              <a:t> API can be accessed. It defines things like a base URL, headers, query parameters, available methods, schemas, and so on. You can create new external data resources and edit existing ones via the </a:t>
            </a:r>
            <a:r>
              <a:rPr lang="en-US" sz="1400" b="1" i="0" dirty="0">
                <a:solidFill>
                  <a:srgbClr val="333333"/>
                </a:solidFill>
                <a:effectLst/>
                <a:latin typeface="72" panose="020B0503030000000003" pitchFamily="34" charset="0"/>
              </a:rPr>
              <a:t>Data</a:t>
            </a:r>
            <a:r>
              <a:rPr lang="en-US" sz="1400" b="0" i="0" dirty="0">
                <a:solidFill>
                  <a:srgbClr val="333333"/>
                </a:solidFill>
                <a:effectLst/>
                <a:latin typeface="72" panose="020B0503030000000003" pitchFamily="34" charset="0"/>
              </a:rPr>
              <a:t> button in the top toolbar. The resource configuration is split into </a:t>
            </a:r>
            <a:r>
              <a:rPr lang="en-US" sz="1400" b="1" i="0" dirty="0">
                <a:solidFill>
                  <a:srgbClr val="333333"/>
                </a:solidFill>
                <a:effectLst/>
                <a:latin typeface="72" panose="020B0503030000000003" pitchFamily="34" charset="0"/>
              </a:rPr>
              <a:t>base configuration</a:t>
            </a:r>
            <a:r>
              <a:rPr lang="en-US" sz="1400" b="0" i="0" dirty="0">
                <a:solidFill>
                  <a:srgbClr val="333333"/>
                </a:solidFill>
                <a:effectLst/>
                <a:latin typeface="72" panose="020B0503030000000003" pitchFamily="34" charset="0"/>
              </a:rPr>
              <a:t> and </a:t>
            </a:r>
            <a:r>
              <a:rPr lang="en-US" sz="1400" b="1" i="0" dirty="0">
                <a:solidFill>
                  <a:srgbClr val="333333"/>
                </a:solidFill>
                <a:effectLst/>
                <a:latin typeface="72" panose="020B0503030000000003" pitchFamily="34" charset="0"/>
              </a:rPr>
              <a:t>method configurations</a:t>
            </a:r>
            <a:r>
              <a:rPr lang="en-US" sz="1400" b="0" i="0" dirty="0">
                <a:solidFill>
                  <a:srgbClr val="333333"/>
                </a:solidFill>
                <a:effectLst/>
                <a:latin typeface="72" panose="020B0503030000000003" pitchFamily="34" charset="0"/>
              </a:rPr>
              <a:t> for GET collection, GET record, POST, PUT/PATCH, and DELETE.</a:t>
            </a:r>
            <a:endParaRPr lang="en-US" sz="1400" dirty="0"/>
          </a:p>
        </p:txBody>
      </p:sp>
      <p:pic>
        <p:nvPicPr>
          <p:cNvPr id="5122" name="Picture 2" descr="Rest API direct integration">
            <a:extLst>
              <a:ext uri="{FF2B5EF4-FFF2-40B4-BE49-F238E27FC236}">
                <a16:creationId xmlns:a16="http://schemas.microsoft.com/office/drawing/2014/main" id="{A2E22225-412B-055C-2B84-404C0716933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112" r="27500" b="12259"/>
          <a:stretch/>
        </p:blipFill>
        <p:spPr bwMode="auto">
          <a:xfrm>
            <a:off x="2133600" y="2190751"/>
            <a:ext cx="4795736" cy="259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00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107DAA-A604-4CA3-25E9-4A31518EA13A}"/>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6F1078C-B81D-88CA-ECED-4646BEC63B2D}"/>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Title 3">
            <a:extLst>
              <a:ext uri="{FF2B5EF4-FFF2-40B4-BE49-F238E27FC236}">
                <a16:creationId xmlns:a16="http://schemas.microsoft.com/office/drawing/2014/main" id="{8B1464A0-AD07-82CA-5396-946C55AF2D7E}"/>
              </a:ext>
            </a:extLst>
          </p:cNvPr>
          <p:cNvSpPr>
            <a:spLocks noGrp="1"/>
          </p:cNvSpPr>
          <p:nvPr>
            <p:ph type="title"/>
          </p:nvPr>
        </p:nvSpPr>
        <p:spPr/>
        <p:txBody>
          <a:bodyPr/>
          <a:lstStyle/>
          <a:p>
            <a:r>
              <a:rPr lang="en-IN" dirty="0"/>
              <a:t>Parts</a:t>
            </a:r>
          </a:p>
        </p:txBody>
      </p:sp>
      <p:sp>
        <p:nvSpPr>
          <p:cNvPr id="6" name="TextBox 5">
            <a:extLst>
              <a:ext uri="{FF2B5EF4-FFF2-40B4-BE49-F238E27FC236}">
                <a16:creationId xmlns:a16="http://schemas.microsoft.com/office/drawing/2014/main" id="{13398EFE-8771-D284-97C8-787A12006F8F}"/>
              </a:ext>
            </a:extLst>
          </p:cNvPr>
          <p:cNvSpPr txBox="1"/>
          <p:nvPr/>
        </p:nvSpPr>
        <p:spPr>
          <a:xfrm>
            <a:off x="228600" y="1123950"/>
            <a:ext cx="8686800" cy="646331"/>
          </a:xfrm>
          <a:prstGeom prst="rect">
            <a:avLst/>
          </a:prstGeom>
          <a:noFill/>
        </p:spPr>
        <p:txBody>
          <a:bodyPr wrap="square">
            <a:spAutoFit/>
          </a:bodyPr>
          <a:lstStyle/>
          <a:p>
            <a:r>
              <a:rPr lang="en-IN" dirty="0">
                <a:highlight>
                  <a:srgbClr val="FFFF00"/>
                </a:highlight>
              </a:rPr>
              <a:t>https://world.openfoodfacts.net/api/0</a:t>
            </a:r>
            <a:r>
              <a:rPr lang="en-IN" dirty="0">
                <a:highlight>
                  <a:srgbClr val="057CFF"/>
                </a:highlight>
              </a:rPr>
              <a:t>/product/</a:t>
            </a:r>
            <a:r>
              <a:rPr lang="en-IN" dirty="0">
                <a:highlight>
                  <a:srgbClr val="FF00FF"/>
                </a:highlight>
              </a:rPr>
              <a:t>8901063029279</a:t>
            </a:r>
            <a:r>
              <a:rPr lang="en-IN" dirty="0">
                <a:highlight>
                  <a:srgbClr val="057CFF"/>
                </a:highlight>
              </a:rPr>
              <a:t>?fields=product_name,nutriments,image_front_url</a:t>
            </a:r>
          </a:p>
        </p:txBody>
      </p:sp>
    </p:spTree>
    <p:extLst>
      <p:ext uri="{BB962C8B-B14F-4D97-AF65-F5344CB8AC3E}">
        <p14:creationId xmlns:p14="http://schemas.microsoft.com/office/powerpoint/2010/main" val="3693380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67E1-D0D6-2AEF-4CBD-3FB5C659320A}"/>
            </a:ext>
          </a:extLst>
        </p:cNvPr>
        <p:cNvGrpSpPr/>
        <p:nvPr/>
      </p:nvGrpSpPr>
      <p:grpSpPr>
        <a:xfrm>
          <a:off x="0" y="0"/>
          <a:ext cx="0" cy="0"/>
          <a:chOff x="0" y="0"/>
          <a:chExt cx="0" cy="0"/>
        </a:xfrm>
      </p:grpSpPr>
      <p:sp>
        <p:nvSpPr>
          <p:cNvPr id="219" name="TextBox 218">
            <a:extLst>
              <a:ext uri="{FF2B5EF4-FFF2-40B4-BE49-F238E27FC236}">
                <a16:creationId xmlns:a16="http://schemas.microsoft.com/office/drawing/2014/main" id="{5D8BD4D4-962A-698E-8ED0-DBB85695A5F3}"/>
              </a:ext>
            </a:extLst>
          </p:cNvPr>
          <p:cNvSpPr txBox="1"/>
          <p:nvPr/>
        </p:nvSpPr>
        <p:spPr>
          <a:xfrm>
            <a:off x="108857" y="2475363"/>
            <a:ext cx="5257800" cy="707886"/>
          </a:xfrm>
          <a:prstGeom prst="rect">
            <a:avLst/>
          </a:prstGeom>
          <a:solidFill>
            <a:schemeClr val="bg2">
              <a:lumMod val="90000"/>
            </a:schemeClr>
          </a:solidFill>
        </p:spPr>
        <p:txBody>
          <a:bodyPr wrap="square" rtlCol="0">
            <a:spAutoFit/>
          </a:bodyPr>
          <a:lstStyle/>
          <a:p>
            <a:r>
              <a:rPr lang="en-US" b="1" dirty="0"/>
              <a:t>App variables</a:t>
            </a:r>
          </a:p>
          <a:p>
            <a:pPr algn="l">
              <a:buNone/>
            </a:pPr>
            <a:r>
              <a:rPr lang="en-US" sz="1100" b="0" i="0" dirty="0">
                <a:solidFill>
                  <a:srgbClr val="333333"/>
                </a:solidFill>
                <a:effectLst/>
                <a:latin typeface="72" panose="020B0503030000000003" pitchFamily="34" charset="0"/>
              </a:rPr>
              <a:t>App variables exist in the global context of the app. When the app opens for the first time, or is closed and reopened, app variables are reset.</a:t>
            </a:r>
          </a:p>
        </p:txBody>
      </p:sp>
      <p:sp>
        <p:nvSpPr>
          <p:cNvPr id="221" name="TextBox 220">
            <a:extLst>
              <a:ext uri="{FF2B5EF4-FFF2-40B4-BE49-F238E27FC236}">
                <a16:creationId xmlns:a16="http://schemas.microsoft.com/office/drawing/2014/main" id="{6E3AF881-1C3F-04F3-653E-B00C19201D34}"/>
              </a:ext>
            </a:extLst>
          </p:cNvPr>
          <p:cNvSpPr txBox="1"/>
          <p:nvPr/>
        </p:nvSpPr>
        <p:spPr>
          <a:xfrm>
            <a:off x="108857" y="3612447"/>
            <a:ext cx="5257800" cy="707886"/>
          </a:xfrm>
          <a:prstGeom prst="rect">
            <a:avLst/>
          </a:prstGeom>
          <a:solidFill>
            <a:schemeClr val="tx2">
              <a:lumMod val="20000"/>
              <a:lumOff val="80000"/>
            </a:schemeClr>
          </a:solidFill>
        </p:spPr>
        <p:txBody>
          <a:bodyPr wrap="square" rtlCol="0">
            <a:spAutoFit/>
          </a:bodyPr>
          <a:lstStyle/>
          <a:p>
            <a:r>
              <a:rPr lang="en-US" b="1" dirty="0"/>
              <a:t>Theme variables</a:t>
            </a:r>
          </a:p>
          <a:p>
            <a:pPr algn="l">
              <a:buNone/>
            </a:pPr>
            <a:r>
              <a:rPr lang="en-US" sz="1100" b="0" i="0" dirty="0">
                <a:solidFill>
                  <a:srgbClr val="333333"/>
                </a:solidFill>
                <a:effectLst/>
                <a:latin typeface="72" panose="020B0503030000000003" pitchFamily="34" charset="0"/>
              </a:rPr>
              <a:t>Theme variables define how the various view components look, giving you an easy way to change the whole look-and-feel of your app.</a:t>
            </a:r>
          </a:p>
        </p:txBody>
      </p:sp>
      <p:sp>
        <p:nvSpPr>
          <p:cNvPr id="3" name="Footer Placeholder 2">
            <a:extLst>
              <a:ext uri="{FF2B5EF4-FFF2-40B4-BE49-F238E27FC236}">
                <a16:creationId xmlns:a16="http://schemas.microsoft.com/office/drawing/2014/main" id="{53DEF2BE-D5CA-8FF4-57F5-05FD0F8B6F80}"/>
              </a:ext>
            </a:extLst>
          </p:cNvPr>
          <p:cNvSpPr>
            <a:spLocks noGrp="1"/>
          </p:cNvSpPr>
          <p:nvPr>
            <p:ph type="ftr" sz="quarter" idx="11"/>
          </p:nvPr>
        </p:nvSpPr>
        <p:spPr>
          <a:xfrm>
            <a:off x="-31820" y="4782623"/>
            <a:ext cx="2895600" cy="273844"/>
          </a:xfrm>
        </p:spPr>
        <p:txBody>
          <a:bodyPr/>
          <a:lstStyle/>
          <a:p>
            <a:r>
              <a:rPr lang="en-US" dirty="0"/>
              <a:t>www.anubhavtrainings.com</a:t>
            </a:r>
          </a:p>
        </p:txBody>
      </p:sp>
      <p:sp>
        <p:nvSpPr>
          <p:cNvPr id="4" name="Slide Number Placeholder 3">
            <a:extLst>
              <a:ext uri="{FF2B5EF4-FFF2-40B4-BE49-F238E27FC236}">
                <a16:creationId xmlns:a16="http://schemas.microsoft.com/office/drawing/2014/main" id="{0621D399-FFA3-7B61-4F5E-9279553C9BD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12</a:t>
            </a:fld>
            <a:endParaRPr lang="en-US" dirty="0"/>
          </a:p>
        </p:txBody>
      </p:sp>
      <p:sp>
        <p:nvSpPr>
          <p:cNvPr id="5" name="Title 4">
            <a:extLst>
              <a:ext uri="{FF2B5EF4-FFF2-40B4-BE49-F238E27FC236}">
                <a16:creationId xmlns:a16="http://schemas.microsoft.com/office/drawing/2014/main" id="{1F79BD5A-386D-C9E3-5CFB-40FA142B267D}"/>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Types of Dynamic variables</a:t>
            </a:r>
          </a:p>
        </p:txBody>
      </p:sp>
      <p:sp>
        <p:nvSpPr>
          <p:cNvPr id="2" name="TextBox 1">
            <a:extLst>
              <a:ext uri="{FF2B5EF4-FFF2-40B4-BE49-F238E27FC236}">
                <a16:creationId xmlns:a16="http://schemas.microsoft.com/office/drawing/2014/main" id="{4BAEC777-929F-7ADE-8D90-B437968ABBE2}"/>
              </a:ext>
            </a:extLst>
          </p:cNvPr>
          <p:cNvSpPr txBox="1"/>
          <p:nvPr/>
        </p:nvSpPr>
        <p:spPr>
          <a:xfrm>
            <a:off x="76200" y="673381"/>
            <a:ext cx="8839200" cy="533401"/>
          </a:xfrm>
          <a:prstGeom prst="rect">
            <a:avLst/>
          </a:prstGeom>
        </p:spPr>
        <p:txBody>
          <a:bodyPr vert="horz" lIns="91440" tIns="45720" rIns="91440" bIns="45720" rtlCol="0">
            <a:normAutofit/>
          </a:bodyPr>
          <a:lstStyle/>
          <a:p>
            <a:pPr algn="l">
              <a:buNone/>
            </a:pPr>
            <a:r>
              <a:rPr lang="en-US" sz="1400" b="0" i="0" dirty="0">
                <a:solidFill>
                  <a:srgbClr val="333333"/>
                </a:solidFill>
                <a:effectLst/>
                <a:latin typeface="72" panose="020B0503030000000003" pitchFamily="34" charset="0"/>
              </a:rPr>
              <a:t>Dynamic variables are the backbone of your app logic. For the most part, the data they contain at any given time is determined by what flow functions have been called during the app runtime so far.</a:t>
            </a:r>
          </a:p>
        </p:txBody>
      </p:sp>
      <p:sp>
        <p:nvSpPr>
          <p:cNvPr id="216" name="TextBox 215">
            <a:extLst>
              <a:ext uri="{FF2B5EF4-FFF2-40B4-BE49-F238E27FC236}">
                <a16:creationId xmlns:a16="http://schemas.microsoft.com/office/drawing/2014/main" id="{AAA76539-235D-B265-10F6-4EF3E30DF09F}"/>
              </a:ext>
            </a:extLst>
          </p:cNvPr>
          <p:cNvSpPr txBox="1"/>
          <p:nvPr/>
        </p:nvSpPr>
        <p:spPr>
          <a:xfrm>
            <a:off x="76200" y="1213412"/>
            <a:ext cx="5257800" cy="738664"/>
          </a:xfrm>
          <a:prstGeom prst="rect">
            <a:avLst/>
          </a:prstGeom>
          <a:solidFill>
            <a:schemeClr val="accent5">
              <a:lumMod val="40000"/>
              <a:lumOff val="60000"/>
            </a:schemeClr>
          </a:solidFill>
        </p:spPr>
        <p:txBody>
          <a:bodyPr wrap="square" rtlCol="0">
            <a:spAutoFit/>
          </a:bodyPr>
          <a:lstStyle/>
          <a:p>
            <a:r>
              <a:rPr lang="en-US" b="1" dirty="0"/>
              <a:t>Page variables</a:t>
            </a:r>
          </a:p>
          <a:p>
            <a:r>
              <a:rPr lang="en-US" sz="1200" dirty="0"/>
              <a:t>Page variables exist in the context of a single page. When a page is removed from the navigation stack, its page variables are reset.</a:t>
            </a:r>
            <a:endParaRPr lang="en-IN" sz="1200" dirty="0"/>
          </a:p>
        </p:txBody>
      </p:sp>
      <p:sp>
        <p:nvSpPr>
          <p:cNvPr id="218" name="TextBox 217">
            <a:extLst>
              <a:ext uri="{FF2B5EF4-FFF2-40B4-BE49-F238E27FC236}">
                <a16:creationId xmlns:a16="http://schemas.microsoft.com/office/drawing/2014/main" id="{1B710DCE-3F10-AE24-FB03-7AF150D7D4CA}"/>
              </a:ext>
            </a:extLst>
          </p:cNvPr>
          <p:cNvSpPr txBox="1"/>
          <p:nvPr/>
        </p:nvSpPr>
        <p:spPr>
          <a:xfrm>
            <a:off x="3962400" y="1914611"/>
            <a:ext cx="5257800" cy="877163"/>
          </a:xfrm>
          <a:prstGeom prst="rect">
            <a:avLst/>
          </a:prstGeom>
          <a:solidFill>
            <a:schemeClr val="accent4">
              <a:lumMod val="40000"/>
              <a:lumOff val="60000"/>
            </a:schemeClr>
          </a:solidFill>
        </p:spPr>
        <p:txBody>
          <a:bodyPr wrap="square" rtlCol="0">
            <a:spAutoFit/>
          </a:bodyPr>
          <a:lstStyle/>
          <a:p>
            <a:r>
              <a:rPr lang="en-US" b="1" dirty="0"/>
              <a:t>Data variables</a:t>
            </a:r>
          </a:p>
          <a:p>
            <a:pPr algn="l">
              <a:buNone/>
            </a:pPr>
            <a:r>
              <a:rPr lang="en-US" sz="1100" b="0" i="0" dirty="0">
                <a:solidFill>
                  <a:srgbClr val="333333"/>
                </a:solidFill>
                <a:effectLst/>
                <a:latin typeface="72" panose="020B0503030000000003" pitchFamily="34" charset="0"/>
              </a:rPr>
              <a:t>Data variables are like page variables, but their schema is defined by the data resource they are linked to. They also come with default logic that loads the associated data from the backend and stores it in the data variable.</a:t>
            </a:r>
          </a:p>
        </p:txBody>
      </p:sp>
      <p:sp>
        <p:nvSpPr>
          <p:cNvPr id="220" name="TextBox 219">
            <a:extLst>
              <a:ext uri="{FF2B5EF4-FFF2-40B4-BE49-F238E27FC236}">
                <a16:creationId xmlns:a16="http://schemas.microsoft.com/office/drawing/2014/main" id="{8B464AAF-CAB4-CA37-FFF7-A6FA5C9CF14D}"/>
              </a:ext>
            </a:extLst>
          </p:cNvPr>
          <p:cNvSpPr txBox="1"/>
          <p:nvPr/>
        </p:nvSpPr>
        <p:spPr>
          <a:xfrm>
            <a:off x="3962400" y="2984052"/>
            <a:ext cx="5257800" cy="877163"/>
          </a:xfrm>
          <a:prstGeom prst="rect">
            <a:avLst/>
          </a:prstGeom>
          <a:solidFill>
            <a:schemeClr val="accent6">
              <a:lumMod val="40000"/>
              <a:lumOff val="60000"/>
            </a:schemeClr>
          </a:solidFill>
        </p:spPr>
        <p:txBody>
          <a:bodyPr wrap="square" rtlCol="0">
            <a:spAutoFit/>
          </a:bodyPr>
          <a:lstStyle/>
          <a:p>
            <a:r>
              <a:rPr lang="en-US" b="1" dirty="0"/>
              <a:t>Page Parameters</a:t>
            </a:r>
          </a:p>
          <a:p>
            <a:pPr algn="l">
              <a:buNone/>
            </a:pPr>
            <a:r>
              <a:rPr lang="en-US" sz="1100" b="0" i="0" dirty="0">
                <a:solidFill>
                  <a:srgbClr val="333333"/>
                </a:solidFill>
                <a:effectLst/>
                <a:latin typeface="72" panose="020B0503030000000003" pitchFamily="34" charset="0"/>
              </a:rPr>
              <a:t>Page parameters can only be of the </a:t>
            </a:r>
            <a:r>
              <a:rPr lang="en-US" sz="1100" b="1" i="0" dirty="0">
                <a:solidFill>
                  <a:srgbClr val="333333"/>
                </a:solidFill>
                <a:effectLst/>
                <a:latin typeface="72" panose="020B0503030000000003" pitchFamily="34" charset="0"/>
              </a:rPr>
              <a:t>text</a:t>
            </a:r>
            <a:r>
              <a:rPr lang="en-US" sz="1100" b="0" i="0" dirty="0">
                <a:solidFill>
                  <a:srgbClr val="333333"/>
                </a:solidFill>
                <a:effectLst/>
                <a:latin typeface="72" panose="020B0503030000000003" pitchFamily="34" charset="0"/>
              </a:rPr>
              <a:t> type. Page parameters are read-only variables that can be set with the </a:t>
            </a:r>
            <a:r>
              <a:rPr lang="en-US" sz="1100" b="1" i="0" dirty="0">
                <a:solidFill>
                  <a:srgbClr val="333333"/>
                </a:solidFill>
                <a:effectLst/>
                <a:latin typeface="72" panose="020B0503030000000003" pitchFamily="34" charset="0"/>
              </a:rPr>
              <a:t>Open page</a:t>
            </a:r>
            <a:r>
              <a:rPr lang="en-US" sz="1100" b="0" i="0" dirty="0">
                <a:solidFill>
                  <a:srgbClr val="333333"/>
                </a:solidFill>
                <a:effectLst/>
                <a:latin typeface="72" panose="020B0503030000000003" pitchFamily="34" charset="0"/>
              </a:rPr>
              <a:t> flow function for the new page, e.g. ID of a product for a product details page. </a:t>
            </a:r>
          </a:p>
        </p:txBody>
      </p:sp>
      <p:sp>
        <p:nvSpPr>
          <p:cNvPr id="222" name="TextBox 221">
            <a:extLst>
              <a:ext uri="{FF2B5EF4-FFF2-40B4-BE49-F238E27FC236}">
                <a16:creationId xmlns:a16="http://schemas.microsoft.com/office/drawing/2014/main" id="{0FED470A-4F22-0AD0-96C7-A6E8B0E0589E}"/>
              </a:ext>
            </a:extLst>
          </p:cNvPr>
          <p:cNvSpPr txBox="1"/>
          <p:nvPr/>
        </p:nvSpPr>
        <p:spPr>
          <a:xfrm>
            <a:off x="3886200" y="4187821"/>
            <a:ext cx="5257800" cy="877163"/>
          </a:xfrm>
          <a:prstGeom prst="rect">
            <a:avLst/>
          </a:prstGeom>
          <a:solidFill>
            <a:schemeClr val="accent4">
              <a:lumMod val="40000"/>
              <a:lumOff val="60000"/>
            </a:schemeClr>
          </a:solidFill>
        </p:spPr>
        <p:txBody>
          <a:bodyPr wrap="square" rtlCol="0">
            <a:spAutoFit/>
          </a:bodyPr>
          <a:lstStyle/>
          <a:p>
            <a:r>
              <a:rPr lang="en-US" b="1" dirty="0"/>
              <a:t>System variables</a:t>
            </a:r>
          </a:p>
          <a:p>
            <a:pPr algn="l">
              <a:buNone/>
            </a:pPr>
            <a:r>
              <a:rPr lang="en-US" sz="1100" b="0" i="0" dirty="0">
                <a:solidFill>
                  <a:srgbClr val="333333"/>
                </a:solidFill>
                <a:effectLst/>
                <a:latin typeface="72" panose="020B0503030000000003" pitchFamily="34" charset="0"/>
              </a:rPr>
              <a:t>System variables define properties of the current app and the device its running on. They cannot be affected by the user directly, but change when the underlying property changes.</a:t>
            </a:r>
          </a:p>
        </p:txBody>
      </p:sp>
    </p:spTree>
    <p:extLst>
      <p:ext uri="{BB962C8B-B14F-4D97-AF65-F5344CB8AC3E}">
        <p14:creationId xmlns:p14="http://schemas.microsoft.com/office/powerpoint/2010/main" val="840941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295B-D009-F32E-A01A-8A8CC18FEA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B543E2-7625-ECE1-C46E-CFB3659168B8}"/>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F90F182-D2C5-A02D-2F2A-729242AD767F}"/>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13</a:t>
            </a:fld>
            <a:endParaRPr lang="en-US" dirty="0"/>
          </a:p>
        </p:txBody>
      </p:sp>
      <p:sp>
        <p:nvSpPr>
          <p:cNvPr id="5" name="Title 4">
            <a:extLst>
              <a:ext uri="{FF2B5EF4-FFF2-40B4-BE49-F238E27FC236}">
                <a16:creationId xmlns:a16="http://schemas.microsoft.com/office/drawing/2014/main" id="{73CD0C1D-D299-3852-9908-404039141507}"/>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Test data</a:t>
            </a:r>
          </a:p>
        </p:txBody>
      </p:sp>
      <p:pic>
        <p:nvPicPr>
          <p:cNvPr id="7" name="Picture 6" descr="A bar code with numbers and letters&#10;&#10;AI-generated content may be incorrect.">
            <a:extLst>
              <a:ext uri="{FF2B5EF4-FFF2-40B4-BE49-F238E27FC236}">
                <a16:creationId xmlns:a16="http://schemas.microsoft.com/office/drawing/2014/main" id="{7556EEE3-534B-1B06-A14F-6B9FC16C6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819150"/>
            <a:ext cx="4581597" cy="3865381"/>
          </a:xfrm>
          <a:prstGeom prst="rect">
            <a:avLst/>
          </a:prstGeom>
        </p:spPr>
      </p:pic>
      <p:pic>
        <p:nvPicPr>
          <p:cNvPr id="9" name="Picture 8" descr="A yellow circle with black letters and a black background&#10;&#10;AI-generated content may be incorrect.">
            <a:extLst>
              <a:ext uri="{FF2B5EF4-FFF2-40B4-BE49-F238E27FC236}">
                <a16:creationId xmlns:a16="http://schemas.microsoft.com/office/drawing/2014/main" id="{31CCE318-4A30-F05D-613B-E2B8EC5C97C3}"/>
              </a:ext>
            </a:extLst>
          </p:cNvPr>
          <p:cNvPicPr>
            <a:picLocks noChangeAspect="1"/>
          </p:cNvPicPr>
          <p:nvPr/>
        </p:nvPicPr>
        <p:blipFill>
          <a:blip r:embed="rId3">
            <a:alphaModFix amt="31000"/>
            <a:extLst>
              <a:ext uri="{28A0092B-C50C-407E-A947-70E740481C1C}">
                <a14:useLocalDpi xmlns:a14="http://schemas.microsoft.com/office/drawing/2010/main" val="0"/>
              </a:ext>
            </a:extLst>
          </a:blip>
          <a:stretch>
            <a:fillRect/>
          </a:stretch>
        </p:blipFill>
        <p:spPr>
          <a:xfrm>
            <a:off x="3435626" y="1504950"/>
            <a:ext cx="2590800" cy="2558946"/>
          </a:xfrm>
          <a:prstGeom prst="rect">
            <a:avLst/>
          </a:prstGeom>
        </p:spPr>
      </p:pic>
    </p:spTree>
    <p:extLst>
      <p:ext uri="{BB962C8B-B14F-4D97-AF65-F5344CB8AC3E}">
        <p14:creationId xmlns:p14="http://schemas.microsoft.com/office/powerpoint/2010/main" val="85427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a:solidFill>
                  <a:srgbClr val="75C042"/>
                </a:solidFill>
                <a:latin typeface="Segoe UI" panose="020B0502040204020203" pitchFamily="34" charset="0"/>
                <a:ea typeface="Calibri Light" charset="0"/>
                <a:cs typeface="Segoe UI" panose="020B0502040204020203" pitchFamily="34" charset="0"/>
              </a:rPr>
              <a:t>Day 21</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2383</TotalTime>
  <Words>1351</Words>
  <Application>Microsoft Office PowerPoint</Application>
  <PresentationFormat>On-screen Show (16:9)</PresentationFormat>
  <Paragraphs>136</Paragraphs>
  <Slides>16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72</vt:lpstr>
      <vt:lpstr>72 Brand Variable</vt:lpstr>
      <vt:lpstr>Arial</vt:lpstr>
      <vt:lpstr>Calibri</vt:lpstr>
      <vt:lpstr>Cambria</vt:lpstr>
      <vt:lpstr>Cooper Black</vt:lpstr>
      <vt:lpstr>Kristen ITC</vt:lpstr>
      <vt:lpstr>Segoe UI</vt:lpstr>
      <vt:lpstr>Segoe UI Light</vt:lpstr>
      <vt:lpstr>Office Theme</vt:lpstr>
      <vt:lpstr>SAP Build Training for Corporate Professionals</vt:lpstr>
      <vt:lpstr>PowerPoint Presentation</vt:lpstr>
      <vt:lpstr>Agenda</vt:lpstr>
      <vt:lpstr>Use case</vt:lpstr>
      <vt:lpstr>Build Apps - Builder area</vt:lpstr>
      <vt:lpstr>Logic Flows</vt:lpstr>
      <vt:lpstr>What is JSON – Java Script Object Notation</vt:lpstr>
      <vt:lpstr>Open APIs</vt:lpstr>
      <vt:lpstr>Build Apps – REST API integration</vt:lpstr>
      <vt:lpstr>Integrations – REST API</vt:lpstr>
      <vt:lpstr>Parts</vt:lpstr>
      <vt:lpstr>Types of Dynamic variables</vt:lpstr>
      <vt:lpstr>Test data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139</cp:revision>
  <dcterms:created xsi:type="dcterms:W3CDTF">2013-12-05T19:37:13Z</dcterms:created>
  <dcterms:modified xsi:type="dcterms:W3CDTF">2025-08-08T05:25:35Z</dcterms:modified>
</cp:coreProperties>
</file>