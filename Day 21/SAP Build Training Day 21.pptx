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handoutMasterIdLst>
    <p:handoutMasterId r:id="rId14"/>
  </p:handoutMasterIdLst>
  <p:sldIdLst>
    <p:sldId id="256" r:id="rId2"/>
    <p:sldId id="494" r:id="rId3"/>
    <p:sldId id="265" r:id="rId4"/>
    <p:sldId id="506" r:id="rId5"/>
    <p:sldId id="491" r:id="rId6"/>
    <p:sldId id="505" r:id="rId7"/>
    <p:sldId id="312" r:id="rId8"/>
    <p:sldId id="508" r:id="rId9"/>
    <p:sldId id="495" r:id="rId10"/>
    <p:sldId id="496" r:id="rId11"/>
    <p:sldId id="497" r:id="rId12"/>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8/7/2025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8/7/2025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7,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hyperlink" Target="https://help.sap.com/docs/BUILD_APPS/431746e4c663458aa68d9754b237bfc6/daece9f87abf4f7187a14ae0b1f8b2ab.html"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hyperlink" Target="https://world.openfoodfacts.net/api/0/product/8904004400083?fields=product_name,nutriments,image_front_url"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jp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jpeg"/><Relationship Id="rId7" Type="http://schemas.openxmlformats.org/officeDocument/2006/relationships/image" Target="../media/image15.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14.tiff"/><Relationship Id="rId5" Type="http://schemas.openxmlformats.org/officeDocument/2006/relationships/image" Target="../media/image13.tiff"/><Relationship Id="rId4" Type="http://schemas.openxmlformats.org/officeDocument/2006/relationships/image" Target="../media/image12.tiff"/><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DAY-21</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Content Transport</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TMS Service</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SAP CI CD Service</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SAP Build Transport</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52AFA-C446-5BE7-B83D-63482A5E94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0A43DAE-E2E0-F6CD-71C7-BA610274A331}"/>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www.anubhavtrainings.com</a:t>
            </a:r>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9CDEEF8E-8674-9FBE-8BF0-31B85F285D21}"/>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113EC6B7-FB16-FBE4-53BD-3AB03F949086}"/>
              </a:ext>
            </a:extLst>
          </p:cNvPr>
          <p:cNvSpPr>
            <a:spLocks noGrp="1"/>
          </p:cNvSpPr>
          <p:nvPr>
            <p:ph type="title"/>
          </p:nvPr>
        </p:nvSpPr>
        <p:spPr>
          <a:xfrm>
            <a:off x="76200" y="133350"/>
            <a:ext cx="8229600" cy="533401"/>
          </a:xfrm>
        </p:spPr>
        <p:txBody>
          <a:bodyPr/>
          <a:lstStyle/>
          <a:p>
            <a:r>
              <a:rPr lang="en-IN" sz="2500">
                <a:latin typeface="Cooper Black" panose="0208090404030B020404" pitchFamily="18" charset="0"/>
              </a:rPr>
              <a:t>Use case</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BB01AD9F-6B2B-4DC0-66B7-5603F71A2C94}"/>
              </a:ext>
            </a:extLst>
          </p:cNvPr>
          <p:cNvSpPr txBox="1"/>
          <p:nvPr/>
        </p:nvSpPr>
        <p:spPr>
          <a:xfrm>
            <a:off x="76200" y="742950"/>
            <a:ext cx="5715000" cy="4069557"/>
          </a:xfrm>
          <a:prstGeom prst="rect">
            <a:avLst/>
          </a:prstGeom>
        </p:spPr>
        <p:txBody>
          <a:bodyPr vert="horz" lIns="91440" tIns="45720" rIns="91440" bIns="45720" rtlCol="0">
            <a:normAutofit fontScale="85000" lnSpcReduction="20000"/>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1" i="0" u="none" strike="noStrike" kern="1200" cap="none" spc="0" normalizeH="0" baseline="0" noProof="0" dirty="0">
                <a:ln>
                  <a:noFill/>
                </a:ln>
                <a:solidFill>
                  <a:prstClr val="black"/>
                </a:solidFill>
                <a:effectLst/>
                <a:uLnTx/>
                <a:uFillTx/>
                <a:latin typeface="Calibri"/>
                <a:ea typeface="+mn-ea"/>
                <a:cs typeface="+mn-cs"/>
              </a:rPr>
              <a:t>Persona: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Name: Priya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Age: 32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Role: A health-conscious mother of a 6-year-old boy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Goal: To ensure her son eats healthy snacks, avoiding high sugar, additives, or allergens</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1" i="0" u="none" strike="noStrike" kern="1200" cap="none" spc="0" normalizeH="0" baseline="0" noProof="0" dirty="0">
                <a:ln>
                  <a:noFill/>
                </a:ln>
                <a:solidFill>
                  <a:prstClr val="black"/>
                </a:solidFill>
                <a:effectLst/>
                <a:uLnTx/>
                <a:uFillTx/>
                <a:latin typeface="Calibri"/>
                <a:ea typeface="+mn-ea"/>
                <a:cs typeface="+mn-cs"/>
              </a:rPr>
              <a:t>Scenario: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Priya is grocery shopping on a busy weekday afternoon. Her son loves trying new snacks, but Priya is always worried about hidden sugars, preservatives, and allergy-triggering ingredients. Reading tiny labels on packaging is time-consuming and frustrating.</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1" i="0" u="none" strike="noStrike" kern="1200" cap="none" spc="0" normalizeH="0" baseline="0" noProof="0" dirty="0">
                <a:ln>
                  <a:noFill/>
                </a:ln>
                <a:solidFill>
                  <a:prstClr val="black"/>
                </a:solidFill>
                <a:effectLst/>
                <a:uLnTx/>
                <a:uFillTx/>
                <a:latin typeface="Calibri"/>
                <a:ea typeface="+mn-ea"/>
                <a:cs typeface="+mn-cs"/>
              </a:rPr>
              <a:t>Key Features of the App:</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 Barcode scanning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 Instant nutrition info from Open Food Facts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 Allergen warnings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 Healthy alternatives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 Kid-focused nutritional grading</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1" i="0" u="none" strike="noStrike" kern="1200" cap="none" spc="0" normalizeH="0" baseline="0" noProof="0" dirty="0">
                <a:ln>
                  <a:noFill/>
                </a:ln>
                <a:solidFill>
                  <a:prstClr val="black"/>
                </a:solidFill>
                <a:effectLst/>
                <a:uLnTx/>
                <a:uFillTx/>
                <a:latin typeface="Calibri"/>
                <a:ea typeface="+mn-ea"/>
                <a:cs typeface="+mn-cs"/>
              </a:rPr>
              <a:t>Benefit:</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Priya saves time and makes informed decisions, ensuring her son enjoys tasty snacks without compromising health.</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2063" name="Picture 15" descr="Father Daughter Shopping: Over 3,796 Royalty-Free Licensable Stock  Illustrations &amp; Drawings | Shutterstock">
            <a:extLst>
              <a:ext uri="{FF2B5EF4-FFF2-40B4-BE49-F238E27FC236}">
                <a16:creationId xmlns:a16="http://schemas.microsoft.com/office/drawing/2014/main" id="{31DA6A43-EB06-3D18-0442-D8D629F8CA9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7143"/>
          <a:stretch/>
        </p:blipFill>
        <p:spPr bwMode="auto">
          <a:xfrm>
            <a:off x="5791200" y="1539478"/>
            <a:ext cx="3267075" cy="2476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003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09530-0387-8944-1695-D84D8C7A78D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D61474D-0CC2-987D-8599-2215B1469BCC}"/>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44A73104-E9C2-AB84-969C-7E12D3AE6E1D}"/>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89C06D12-D8C1-0A71-FE9B-DF4277D389AF}"/>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Build Apps - Builder area</a:t>
            </a:r>
          </a:p>
        </p:txBody>
      </p:sp>
      <p:sp>
        <p:nvSpPr>
          <p:cNvPr id="2" name="TextBox 1">
            <a:extLst>
              <a:ext uri="{FF2B5EF4-FFF2-40B4-BE49-F238E27FC236}">
                <a16:creationId xmlns:a16="http://schemas.microsoft.com/office/drawing/2014/main" id="{AC1DEC44-A89C-9F50-0AF8-03D1C8F6F6F7}"/>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When working with SAP Build Apps, the majority of your time will be spent in the app builder area. This area allows you to complete key tasks such as, but not limited to, the following:</a:t>
            </a:r>
          </a:p>
          <a:p>
            <a:pPr marL="0" marR="0" lvl="0" indent="0" algn="l" defTabSz="914400" rtl="0" eaLnBrk="1" fontAlgn="auto" latinLnBrk="0" hangingPunct="1">
              <a:lnSpc>
                <a:spcPts val="18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Build pixel-perfect user interfaces</a:t>
            </a:r>
          </a:p>
          <a:p>
            <a:pPr marL="0" marR="0" lvl="0" indent="0" algn="l" defTabSz="914400" rtl="0" eaLnBrk="1" fontAlgn="auto" latinLnBrk="0" hangingPunct="1">
              <a:lnSpc>
                <a:spcPts val="18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Integrate with external data resources</a:t>
            </a:r>
          </a:p>
          <a:p>
            <a:pPr marL="0" marR="0" lvl="0" indent="0" algn="l" defTabSz="914400" rtl="0" eaLnBrk="1" fontAlgn="auto" latinLnBrk="0" hangingPunct="1">
              <a:lnSpc>
                <a:spcPts val="18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Create complex logic with visual programming</a:t>
            </a:r>
          </a:p>
          <a:p>
            <a:pPr marL="0" marR="0" lvl="0" indent="0" algn="l" defTabSz="914400" rtl="0" eaLnBrk="1" fontAlgn="auto" latinLnBrk="0" hangingPunct="1">
              <a:lnSpc>
                <a:spcPts val="18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Bind data to components to create dynamic views</a:t>
            </a:r>
          </a:p>
          <a:p>
            <a:pPr marL="0" marR="0" lvl="0" indent="0" algn="l" defTabSz="914400" rtl="0" eaLnBrk="1" fontAlgn="auto" latinLnBrk="0" hangingPunct="1">
              <a:lnSpc>
                <a:spcPts val="18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Define navigation</a:t>
            </a:r>
          </a:p>
          <a:p>
            <a:pPr marL="0" marR="0" lvl="0" indent="0" algn="l" defTabSz="914400" rtl="0" eaLnBrk="1" fontAlgn="auto" latinLnBrk="0" hangingPunct="1">
              <a:lnSpc>
                <a:spcPts val="1800"/>
              </a:lnSpc>
              <a:spcBef>
                <a:spcPts val="0"/>
              </a:spcBef>
              <a:spcAft>
                <a:spcPts val="150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srgbClr val="1F1F1F"/>
              </a:solidFill>
              <a:effectLst/>
              <a:uLnTx/>
              <a:uFillTx/>
              <a:latin typeface="72 Brand Variable"/>
              <a:ea typeface="+mn-ea"/>
              <a:cs typeface="+mn-cs"/>
            </a:endParaRPr>
          </a:p>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hlinkClick r:id="rId2"/>
              </a:rPr>
              <a:t>https://help.sap.com/docs/BUILD_APPS/431746e4c663458aa68d9754b237bfc6/daece9f87abf4f7187a14ae0b1f8b2ab.html</a:t>
            </a:r>
            <a:endParaRPr kumimoji="0" lang="en-US" sz="1400" b="0" i="0" u="none" strike="noStrike" kern="1200" cap="none" spc="0" normalizeH="0" baseline="0" noProof="0" dirty="0">
              <a:ln>
                <a:noFill/>
              </a:ln>
              <a:solidFill>
                <a:srgbClr val="1F1F1F"/>
              </a:solidFill>
              <a:effectLst/>
              <a:uLnTx/>
              <a:uFillTx/>
              <a:latin typeface="72 Brand Variable"/>
              <a:ea typeface="+mn-ea"/>
              <a:cs typeface="+mn-cs"/>
            </a:endParaRPr>
          </a:p>
          <a:p>
            <a:pPr marL="0" marR="0" lvl="0" indent="0" algn="l" defTabSz="914400" rtl="0" eaLnBrk="1" fontAlgn="auto" latinLnBrk="0" hangingPunct="1">
              <a:lnSpc>
                <a:spcPts val="1800"/>
              </a:lnSpc>
              <a:spcBef>
                <a:spcPts val="0"/>
              </a:spcBef>
              <a:spcAft>
                <a:spcPts val="1500"/>
              </a:spcAft>
              <a:buClrTx/>
              <a:buSzTx/>
              <a:buFontTx/>
              <a:buNone/>
              <a:tabLst/>
              <a:defRPr/>
            </a:pPr>
            <a:endParaRPr kumimoji="0" lang="en-US" sz="1400" b="0" i="0" u="none" strike="noStrike" kern="1200" cap="none" spc="0" normalizeH="0" baseline="0" noProof="0" dirty="0">
              <a:ln>
                <a:noFill/>
              </a:ln>
              <a:solidFill>
                <a:srgbClr val="1F1F1F"/>
              </a:solidFill>
              <a:effectLst/>
              <a:uLnTx/>
              <a:uFillTx/>
              <a:latin typeface="72 Brand Variable"/>
              <a:ea typeface="+mn-ea"/>
              <a:cs typeface="+mn-cs"/>
            </a:endParaRPr>
          </a:p>
        </p:txBody>
      </p:sp>
    </p:spTree>
    <p:extLst>
      <p:ext uri="{BB962C8B-B14F-4D97-AF65-F5344CB8AC3E}">
        <p14:creationId xmlns:p14="http://schemas.microsoft.com/office/powerpoint/2010/main" val="2904615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5D553-D8CF-ECBB-DA68-A1465C19366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8DFB96D-EF9B-558C-1291-7057255406D9}"/>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266E5022-93F8-BC4A-3663-511C65A5F324}"/>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7453CEE7-F7FF-39EA-B173-1572EA0C1280}"/>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Logic Flows</a:t>
            </a:r>
          </a:p>
        </p:txBody>
      </p:sp>
      <p:sp>
        <p:nvSpPr>
          <p:cNvPr id="2" name="TextBox 1">
            <a:extLst>
              <a:ext uri="{FF2B5EF4-FFF2-40B4-BE49-F238E27FC236}">
                <a16:creationId xmlns:a16="http://schemas.microsoft.com/office/drawing/2014/main" id="{F719104D-CB5C-91F6-D8B4-CFDD58613DE6}"/>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Logic flows are used to capture events in an application, such as a page loading or a user tapping on a button, and to execute actions – for example, to change the value of data or to open the device’s camera.</a:t>
            </a:r>
          </a:p>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To create a barcode scanning app, you need to configure a logic flow that tells your application to open the camera device once the user taps the </a:t>
            </a:r>
            <a:r>
              <a:rPr kumimoji="0" lang="en-US" sz="1400" b="1" i="0" u="none" strike="noStrike" kern="1200" cap="none" spc="0" normalizeH="0" baseline="0" noProof="0" dirty="0">
                <a:ln>
                  <a:noFill/>
                </a:ln>
                <a:solidFill>
                  <a:srgbClr val="1F1F1F"/>
                </a:solidFill>
                <a:effectLst/>
                <a:uLnTx/>
                <a:uFillTx/>
                <a:latin typeface="72 Brand Variable"/>
                <a:ea typeface="+mn-ea"/>
                <a:cs typeface="+mn-cs"/>
              </a:rPr>
              <a:t>Scan</a:t>
            </a: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button. To do this, we’ll show you how to add the logic to the button, then how to take advantage of SAP Build Apps’s QR and Barcode component.</a:t>
            </a:r>
          </a:p>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In the logic panel, you can see the </a:t>
            </a:r>
            <a:r>
              <a:rPr kumimoji="0" lang="en-US" sz="1400" b="1" i="0" u="none" strike="noStrike" kern="1200" cap="none" spc="0" normalizeH="0" baseline="0" noProof="0" dirty="0">
                <a:ln>
                  <a:noFill/>
                </a:ln>
                <a:solidFill>
                  <a:srgbClr val="1F1F1F"/>
                </a:solidFill>
                <a:effectLst/>
                <a:uLnTx/>
                <a:uFillTx/>
                <a:latin typeface="72 Brand Variable"/>
                <a:ea typeface="+mn-ea"/>
                <a:cs typeface="+mn-cs"/>
              </a:rPr>
              <a:t>Event - Component Tap</a:t>
            </a: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which is triggered when a user taps on the button. We now need to decide what this event will do.</a:t>
            </a:r>
          </a:p>
          <a:p>
            <a:pPr marL="0" marR="0" lvl="0" indent="0" algn="l" defTabSz="914400" rtl="0" eaLnBrk="1" fontAlgn="auto" latinLnBrk="0" hangingPunct="1">
              <a:lnSpc>
                <a:spcPts val="1800"/>
              </a:lnSpc>
              <a:spcBef>
                <a:spcPts val="0"/>
              </a:spcBef>
              <a:spcAft>
                <a:spcPts val="1500"/>
              </a:spcAft>
              <a:buClrTx/>
              <a:buSzTx/>
              <a:buFontTx/>
              <a:buNone/>
              <a:tabLst/>
              <a:defRPr/>
            </a:pPr>
            <a:endParaRPr kumimoji="0" lang="en-US" sz="1400" b="0" i="0" u="none" strike="noStrike" kern="1200" cap="none" spc="0" normalizeH="0" baseline="0" noProof="0" dirty="0">
              <a:ln>
                <a:noFill/>
              </a:ln>
              <a:solidFill>
                <a:srgbClr val="1F1F1F"/>
              </a:solidFill>
              <a:effectLst/>
              <a:uLnTx/>
              <a:uFillTx/>
              <a:latin typeface="72 Brand Variable"/>
              <a:ea typeface="+mn-ea"/>
              <a:cs typeface="+mn-cs"/>
            </a:endParaRPr>
          </a:p>
        </p:txBody>
      </p:sp>
      <p:pic>
        <p:nvPicPr>
          <p:cNvPr id="1026" name="Picture 2" descr="Diagram of scanning a food item from a mobile app">
            <a:extLst>
              <a:ext uri="{FF2B5EF4-FFF2-40B4-BE49-F238E27FC236}">
                <a16:creationId xmlns:a16="http://schemas.microsoft.com/office/drawing/2014/main" id="{1C825E6F-F1D5-F7E0-6C08-5E0870C260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9106" y="2832661"/>
            <a:ext cx="5208449" cy="198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8061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073C7-A573-8D10-EE6B-98ADA6998A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AF07877-8E4A-FEBB-EB60-ED28BA66CDF1}"/>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30993EE6-DBFE-DD31-4388-A2CF11CE39EC}"/>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139016E8-3F3A-555F-6F42-8BB0377D4F8C}"/>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What is JSON – Java Script Object Notation</a:t>
            </a:r>
          </a:p>
        </p:txBody>
      </p:sp>
      <p:sp>
        <p:nvSpPr>
          <p:cNvPr id="2" name="TextBox 1">
            <a:extLst>
              <a:ext uri="{FF2B5EF4-FFF2-40B4-BE49-F238E27FC236}">
                <a16:creationId xmlns:a16="http://schemas.microsoft.com/office/drawing/2014/main" id="{5ACFC16C-C5A5-4074-4A90-1378D71E5FA9}"/>
              </a:ext>
            </a:extLst>
          </p:cNvPr>
          <p:cNvSpPr txBox="1"/>
          <p:nvPr/>
        </p:nvSpPr>
        <p:spPr>
          <a:xfrm>
            <a:off x="266700" y="879914"/>
            <a:ext cx="5029200"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1" i="0" u="none" strike="noStrike" kern="1200" cap="none" spc="0" normalizeH="0" baseline="0" noProof="0" dirty="0">
                <a:ln>
                  <a:noFill/>
                </a:ln>
                <a:solidFill>
                  <a:prstClr val="black"/>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1" i="0" u="none" strike="noStrike" kern="1200" cap="none" spc="0" normalizeH="0" baseline="0" noProof="0" dirty="0">
                <a:ln>
                  <a:noFill/>
                </a:ln>
                <a:solidFill>
                  <a:prstClr val="black"/>
                </a:solidFill>
                <a:effectLst/>
                <a:uLnTx/>
                <a:uFillTx/>
                <a:latin typeface="Calibri"/>
                <a:ea typeface="+mn-ea"/>
                <a:cs typeface="+mn-cs"/>
              </a:rPr>
              <a:t>    key: ‘value’,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1" i="0" u="none" strike="noStrike" kern="1200" cap="none" spc="0" normalizeH="0" baseline="0" noProof="0" dirty="0">
                <a:ln>
                  <a:noFill/>
                </a:ln>
                <a:solidFill>
                  <a:prstClr val="black"/>
                </a:solidFill>
                <a:effectLst/>
                <a:uLnTx/>
                <a:uFillTx/>
                <a:latin typeface="Calibri"/>
                <a:ea typeface="+mn-ea"/>
                <a:cs typeface="+mn-cs"/>
              </a:rPr>
              <a:t>    key: ‘value’,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1" i="0" u="none" strike="noStrike" kern="1200" cap="none" spc="0" normalizeH="0" baseline="0" noProof="0" dirty="0">
                <a:ln>
                  <a:noFill/>
                </a:ln>
                <a:solidFill>
                  <a:prstClr val="black"/>
                </a:solidFill>
                <a:effectLst/>
                <a:uLnTx/>
                <a:uFillTx/>
                <a:latin typeface="Calibri"/>
                <a:ea typeface="+mn-ea"/>
                <a:cs typeface="+mn-cs"/>
              </a:rPr>
              <a:t>    key: ‘value’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1" i="0" u="none" strike="noStrike" kern="1200" cap="none" spc="0" normalizeH="0" baseline="0" noProof="0" dirty="0">
                <a:ln>
                  <a:noFill/>
                </a:ln>
                <a:solidFill>
                  <a:prstClr val="black"/>
                </a:solidFill>
                <a:effectLst/>
                <a:uLnTx/>
                <a:uFillTx/>
                <a:latin typeface="Calibri"/>
                <a:ea typeface="+mn-ea"/>
                <a:cs typeface="+mn-cs"/>
              </a:rPr>
              <a:t>}</a:t>
            </a:r>
          </a:p>
        </p:txBody>
      </p:sp>
      <p:graphicFrame>
        <p:nvGraphicFramePr>
          <p:cNvPr id="6" name="Table 5">
            <a:extLst>
              <a:ext uri="{FF2B5EF4-FFF2-40B4-BE49-F238E27FC236}">
                <a16:creationId xmlns:a16="http://schemas.microsoft.com/office/drawing/2014/main" id="{EA203EF2-5312-8232-B3E8-316965C6EDAC}"/>
              </a:ext>
            </a:extLst>
          </p:cNvPr>
          <p:cNvGraphicFramePr>
            <a:graphicFrameLocks noGrp="1"/>
          </p:cNvGraphicFramePr>
          <p:nvPr/>
        </p:nvGraphicFramePr>
        <p:xfrm>
          <a:off x="2743200" y="1433158"/>
          <a:ext cx="6096000" cy="37084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4165643659"/>
                    </a:ext>
                  </a:extLst>
                </a:gridCol>
                <a:gridCol w="1219200">
                  <a:extLst>
                    <a:ext uri="{9D8B030D-6E8A-4147-A177-3AD203B41FA5}">
                      <a16:colId xmlns:a16="http://schemas.microsoft.com/office/drawing/2014/main" val="4136994743"/>
                    </a:ext>
                  </a:extLst>
                </a:gridCol>
                <a:gridCol w="1219200">
                  <a:extLst>
                    <a:ext uri="{9D8B030D-6E8A-4147-A177-3AD203B41FA5}">
                      <a16:colId xmlns:a16="http://schemas.microsoft.com/office/drawing/2014/main" val="3350471309"/>
                    </a:ext>
                  </a:extLst>
                </a:gridCol>
                <a:gridCol w="1219200">
                  <a:extLst>
                    <a:ext uri="{9D8B030D-6E8A-4147-A177-3AD203B41FA5}">
                      <a16:colId xmlns:a16="http://schemas.microsoft.com/office/drawing/2014/main" val="994915914"/>
                    </a:ext>
                  </a:extLst>
                </a:gridCol>
                <a:gridCol w="1219200">
                  <a:extLst>
                    <a:ext uri="{9D8B030D-6E8A-4147-A177-3AD203B41FA5}">
                      <a16:colId xmlns:a16="http://schemas.microsoft.com/office/drawing/2014/main" val="3972085618"/>
                    </a:ext>
                  </a:extLst>
                </a:gridCol>
              </a:tblGrid>
              <a:tr h="370840">
                <a:tc>
                  <a:txBody>
                    <a:bodyPr/>
                    <a:lstStyle/>
                    <a:p>
                      <a:r>
                        <a:rPr lang="en-IN" dirty="0"/>
                        <a:t>101</a:t>
                      </a:r>
                    </a:p>
                  </a:txBody>
                  <a:tcPr/>
                </a:tc>
                <a:tc>
                  <a:txBody>
                    <a:bodyPr/>
                    <a:lstStyle/>
                    <a:p>
                      <a:r>
                        <a:rPr lang="en-IN" dirty="0"/>
                        <a:t>SHIP1</a:t>
                      </a:r>
                    </a:p>
                  </a:txBody>
                  <a:tcPr/>
                </a:tc>
                <a:tc>
                  <a:txBody>
                    <a:bodyPr/>
                    <a:lstStyle/>
                    <a:p>
                      <a:r>
                        <a:rPr lang="en-IN" dirty="0"/>
                        <a:t>20251212</a:t>
                      </a:r>
                    </a:p>
                  </a:txBody>
                  <a:tcPr/>
                </a:tc>
                <a:tc>
                  <a:txBody>
                    <a:bodyPr/>
                    <a:lstStyle/>
                    <a:p>
                      <a:endParaRPr lang="en-IN"/>
                    </a:p>
                  </a:txBody>
                  <a:tcPr/>
                </a:tc>
                <a:tc>
                  <a:txBody>
                    <a:bodyPr/>
                    <a:lstStyle/>
                    <a:p>
                      <a:endParaRPr lang="en-IN" dirty="0"/>
                    </a:p>
                  </a:txBody>
                  <a:tcPr/>
                </a:tc>
                <a:extLst>
                  <a:ext uri="{0D108BD9-81ED-4DB2-BD59-A6C34878D82A}">
                    <a16:rowId xmlns:a16="http://schemas.microsoft.com/office/drawing/2014/main" val="652445291"/>
                  </a:ext>
                </a:extLst>
              </a:tr>
            </a:tbl>
          </a:graphicData>
        </a:graphic>
      </p:graphicFrame>
      <p:sp>
        <p:nvSpPr>
          <p:cNvPr id="7" name="TextBox 6">
            <a:extLst>
              <a:ext uri="{FF2B5EF4-FFF2-40B4-BE49-F238E27FC236}">
                <a16:creationId xmlns:a16="http://schemas.microsoft.com/office/drawing/2014/main" id="{9A76F90A-2C3E-B771-3C93-C94451E49989}"/>
              </a:ext>
            </a:extLst>
          </p:cNvPr>
          <p:cNvSpPr txBox="1"/>
          <p:nvPr/>
        </p:nvSpPr>
        <p:spPr>
          <a:xfrm>
            <a:off x="2819400" y="1123950"/>
            <a:ext cx="60198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err="1">
                <a:ln>
                  <a:noFill/>
                </a:ln>
                <a:solidFill>
                  <a:prstClr val="black"/>
                </a:solidFill>
                <a:effectLst/>
                <a:uLnTx/>
                <a:uFillTx/>
                <a:latin typeface="Calibri"/>
                <a:ea typeface="+mn-ea"/>
                <a:cs typeface="+mn-cs"/>
              </a:rPr>
              <a:t>orderNo</a:t>
            </a:r>
            <a:r>
              <a:rPr kumimoji="0" lang="en-IN" sz="1800" b="0" i="0" u="none" strike="noStrike" kern="1200" cap="none" spc="0" normalizeH="0" baseline="0" noProof="0" dirty="0">
                <a:ln>
                  <a:noFill/>
                </a:ln>
                <a:solidFill>
                  <a:prstClr val="black"/>
                </a:solidFill>
                <a:effectLst/>
                <a:uLnTx/>
                <a:uFillTx/>
                <a:latin typeface="Calibri"/>
                <a:ea typeface="+mn-ea"/>
                <a:cs typeface="+mn-cs"/>
              </a:rPr>
              <a:t>       </a:t>
            </a:r>
            <a:r>
              <a:rPr kumimoji="0" lang="en-IN" sz="1800" b="0" i="0" u="none" strike="noStrike" kern="1200" cap="none" spc="0" normalizeH="0" baseline="0" noProof="0" dirty="0" err="1">
                <a:ln>
                  <a:noFill/>
                </a:ln>
                <a:solidFill>
                  <a:prstClr val="black"/>
                </a:solidFill>
                <a:effectLst/>
                <a:uLnTx/>
                <a:uFillTx/>
                <a:latin typeface="Calibri"/>
                <a:ea typeface="+mn-ea"/>
                <a:cs typeface="+mn-cs"/>
              </a:rPr>
              <a:t>shipTo</a:t>
            </a:r>
            <a:r>
              <a:rPr kumimoji="0" lang="en-IN" sz="1800" b="0" i="0" u="none" strike="noStrike" kern="1200" cap="none" spc="0" normalizeH="0" baseline="0" noProof="0" dirty="0">
                <a:ln>
                  <a:noFill/>
                </a:ln>
                <a:solidFill>
                  <a:prstClr val="black"/>
                </a:solidFill>
                <a:effectLst/>
                <a:uLnTx/>
                <a:uFillTx/>
                <a:latin typeface="Calibri"/>
                <a:ea typeface="+mn-ea"/>
                <a:cs typeface="+mn-cs"/>
              </a:rPr>
              <a:t>             date</a:t>
            </a:r>
          </a:p>
        </p:txBody>
      </p:sp>
    </p:spTree>
    <p:extLst>
      <p:ext uri="{BB962C8B-B14F-4D97-AF65-F5344CB8AC3E}">
        <p14:creationId xmlns:p14="http://schemas.microsoft.com/office/powerpoint/2010/main" val="1091584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48CC4-9692-1294-C1A1-6A75635E8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C2A108D-E504-1630-4E3F-CD877CA5BFD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B180D053-857E-A921-C3BC-4313323F980C}"/>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A2BBE0C0-3517-1663-B2E4-10AA9E863417}"/>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Open APIs</a:t>
            </a:r>
          </a:p>
        </p:txBody>
      </p:sp>
      <p:sp>
        <p:nvSpPr>
          <p:cNvPr id="2" name="TextBox 1">
            <a:extLst>
              <a:ext uri="{FF2B5EF4-FFF2-40B4-BE49-F238E27FC236}">
                <a16:creationId xmlns:a16="http://schemas.microsoft.com/office/drawing/2014/main" id="{6A26D79C-4A6A-0BDA-3E3F-85AB5A86CD80}"/>
              </a:ext>
            </a:extLst>
          </p:cNvPr>
          <p:cNvSpPr txBox="1"/>
          <p:nvPr/>
        </p:nvSpPr>
        <p:spPr>
          <a:xfrm>
            <a:off x="94129" y="682228"/>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Open Food Facts offers a comprehensive API that allows developers to access a vast database of food product information, including details such as ingredients, nutritional content, allergens, and labels. This open-source database is continually enriched by contributors worldwide, making it an invaluable resource for applications focused on health, diet tracking, food research, and consumer information. citeturn0search0</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1" i="0" u="none" strike="noStrike" kern="1200" cap="none" spc="0" normalizeH="0" baseline="0" noProof="0" dirty="0">
                <a:ln>
                  <a:noFill/>
                </a:ln>
                <a:solidFill>
                  <a:prstClr val="black"/>
                </a:solidFill>
                <a:effectLst/>
                <a:uLnTx/>
                <a:uFillTx/>
                <a:latin typeface="Calibri"/>
                <a:ea typeface="+mn-ea"/>
                <a:cs typeface="+mn-cs"/>
              </a:rPr>
              <a:t>Key Features of the Open Food Facts API:</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itchFamily="34" charset="0"/>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 Extensive Data Access: Retrieve detailed information about food products, including ingredients, nutritional facts, allergens, and more.</a:t>
            </a:r>
          </a:p>
          <a:p>
            <a:pPr marL="0" marR="0" lvl="0" indent="0" algn="l" defTabSz="914400" rtl="0" eaLnBrk="1" fontAlgn="auto" latinLnBrk="0" hangingPunct="1">
              <a:lnSpc>
                <a:spcPct val="100000"/>
              </a:lnSpc>
              <a:spcBef>
                <a:spcPts val="0"/>
              </a:spcBef>
              <a:spcAft>
                <a:spcPts val="0"/>
              </a:spcAft>
              <a:buClrTx/>
              <a:buSzTx/>
              <a:buFont typeface="Arial" pitchFamily="34" charset="0"/>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 Global Coverage: Access data from a wide range of products sourced from various countries, providing a diverse and comprehensive dataset.</a:t>
            </a:r>
          </a:p>
          <a:p>
            <a:pPr marL="0" marR="0" lvl="0" indent="0" algn="l" defTabSz="914400" rtl="0" eaLnBrk="1" fontAlgn="auto" latinLnBrk="0" hangingPunct="1">
              <a:lnSpc>
                <a:spcPct val="100000"/>
              </a:lnSpc>
              <a:spcBef>
                <a:spcPts val="0"/>
              </a:spcBef>
              <a:spcAft>
                <a:spcPts val="0"/>
              </a:spcAft>
              <a:buClrTx/>
              <a:buSzTx/>
              <a:buFont typeface="Arial" pitchFamily="34" charset="0"/>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 User Contributions: Benefit from a continually growing database, as users worldwide contribute by adding new products and updating existing information.</a:t>
            </a:r>
          </a:p>
          <a:p>
            <a:pPr marL="0" marR="0" lvl="0" indent="0" algn="l" defTabSz="914400" rtl="0" eaLnBrk="1" fontAlgn="auto" latinLnBrk="0" hangingPunct="1">
              <a:lnSpc>
                <a:spcPct val="100000"/>
              </a:lnSpc>
              <a:spcBef>
                <a:spcPts val="0"/>
              </a:spcBef>
              <a:spcAft>
                <a:spcPts val="0"/>
              </a:spcAft>
              <a:buClrTx/>
              <a:buSzTx/>
              <a:buFont typeface="Arial" pitchFamily="34" charset="0"/>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 Integration Flexibility: Utilize the RESTful API to seamlessly integrate food product data into mobile apps, research projects, software, or diet-based web services.</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hlinkClick r:id="rId2"/>
              </a:rPr>
              <a:t>https://world.openfoodfacts.net/api/0/product/</a:t>
            </a:r>
            <a:r>
              <a:rPr kumimoji="0" lang="en-US" sz="1400" b="0" i="0" u="none" strike="noStrike" kern="1200" cap="none" spc="0" normalizeH="0" baseline="0" noProof="0" dirty="0">
                <a:ln>
                  <a:noFill/>
                </a:ln>
                <a:solidFill>
                  <a:prstClr val="black"/>
                </a:solidFill>
                <a:effectLst/>
                <a:highlight>
                  <a:srgbClr val="FFFF00"/>
                </a:highlight>
                <a:uLnTx/>
                <a:uFillTx/>
                <a:latin typeface="Calibri"/>
                <a:ea typeface="+mn-ea"/>
                <a:cs typeface="+mn-cs"/>
                <a:hlinkClick r:id="rId2"/>
              </a:rPr>
              <a:t>8904004400083</a:t>
            </a:r>
            <a:r>
              <a:rPr kumimoji="0" lang="en-US" sz="1400" b="0" i="0" u="none" strike="noStrike" kern="1200" cap="none" spc="0" normalizeH="0" baseline="0" noProof="0" dirty="0">
                <a:ln>
                  <a:noFill/>
                </a:ln>
                <a:solidFill>
                  <a:prstClr val="black"/>
                </a:solidFill>
                <a:effectLst/>
                <a:uLnTx/>
                <a:uFillTx/>
                <a:latin typeface="Calibri"/>
                <a:ea typeface="+mn-ea"/>
                <a:cs typeface="+mn-cs"/>
                <a:hlinkClick r:id="rId2"/>
              </a:rPr>
              <a:t>?fields=product_name,nutriments,image_front_url</a:t>
            </a: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Sample products –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700" b="0" i="0" u="none" strike="noStrike" kern="1200" cap="none" spc="0" normalizeH="0" baseline="0" noProof="0" dirty="0">
                <a:ln>
                  <a:noFill/>
                </a:ln>
                <a:solidFill>
                  <a:prstClr val="black"/>
                </a:solidFill>
                <a:effectLst/>
                <a:uLnTx/>
                <a:uFillTx/>
                <a:latin typeface="Kristen ITC" panose="03050502040202030202" pitchFamily="66" charset="0"/>
                <a:ea typeface="+mn-ea"/>
                <a:cs typeface="+mn-cs"/>
              </a:rPr>
              <a:t>8901764061257</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700" b="0" i="0" u="none" strike="noStrike" kern="1200" cap="none" spc="0" normalizeH="0" baseline="0" noProof="0" dirty="0">
                <a:ln>
                  <a:noFill/>
                </a:ln>
                <a:solidFill>
                  <a:prstClr val="black"/>
                </a:solidFill>
                <a:effectLst/>
                <a:uLnTx/>
                <a:uFillTx/>
                <a:latin typeface="Kristen ITC" panose="03050502040202030202" pitchFamily="66" charset="0"/>
                <a:ea typeface="+mn-ea"/>
                <a:cs typeface="+mn-cs"/>
              </a:rPr>
              <a:t>8901262200189</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700" b="0" i="0" u="none" strike="noStrike" kern="1200" cap="none" spc="0" normalizeH="0" baseline="0" noProof="0" dirty="0">
                <a:ln>
                  <a:noFill/>
                </a:ln>
                <a:solidFill>
                  <a:prstClr val="black"/>
                </a:solidFill>
                <a:effectLst/>
                <a:uLnTx/>
                <a:uFillTx/>
                <a:latin typeface="Kristen ITC" panose="03050502040202030202" pitchFamily="66" charset="0"/>
                <a:ea typeface="+mn-ea"/>
                <a:cs typeface="+mn-cs"/>
              </a:rPr>
              <a:t>8901063029279</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700" b="0" i="0" u="none" strike="noStrike" kern="1200" cap="none" spc="0" normalizeH="0" baseline="0" noProof="0" dirty="0">
                <a:ln>
                  <a:noFill/>
                </a:ln>
                <a:solidFill>
                  <a:prstClr val="black"/>
                </a:solidFill>
                <a:effectLst/>
                <a:uLnTx/>
                <a:uFillTx/>
                <a:latin typeface="Kristen ITC" panose="03050502040202030202" pitchFamily="66" charset="0"/>
                <a:ea typeface="+mn-ea"/>
                <a:cs typeface="+mn-cs"/>
              </a:rPr>
              <a:t>8904004400083</a:t>
            </a:r>
          </a:p>
        </p:txBody>
      </p:sp>
    </p:spTree>
    <p:extLst>
      <p:ext uri="{BB962C8B-B14F-4D97-AF65-F5344CB8AC3E}">
        <p14:creationId xmlns:p14="http://schemas.microsoft.com/office/powerpoint/2010/main" val="2476931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a:solidFill>
                  <a:srgbClr val="75C042"/>
                </a:solidFill>
                <a:latin typeface="Segoe UI" panose="020B0502040204020203" pitchFamily="34" charset="0"/>
                <a:ea typeface="Calibri Light" charset="0"/>
                <a:cs typeface="Segoe UI" panose="020B0502040204020203" pitchFamily="34" charset="0"/>
              </a:rPr>
              <a:t>Day 21</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2204</TotalTime>
  <Words>797</Words>
  <Application>Microsoft Office PowerPoint</Application>
  <PresentationFormat>On-screen Show (16:9)</PresentationFormat>
  <Paragraphs>105</Paragraphs>
  <Slides>11</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72 Brand Variable</vt:lpstr>
      <vt:lpstr>Arial</vt:lpstr>
      <vt:lpstr>Calibri</vt:lpstr>
      <vt:lpstr>Cambria</vt:lpstr>
      <vt:lpstr>Cooper Black</vt:lpstr>
      <vt:lpstr>Kristen ITC</vt:lpstr>
      <vt:lpstr>Segoe UI</vt:lpstr>
      <vt:lpstr>Segoe UI Light</vt:lpstr>
      <vt:lpstr>Office Theme</vt:lpstr>
      <vt:lpstr>SAP Build Training for Corporate Professionals</vt:lpstr>
      <vt:lpstr>PowerPoint Presentation</vt:lpstr>
      <vt:lpstr>Agenda</vt:lpstr>
      <vt:lpstr>Use case</vt:lpstr>
      <vt:lpstr>Build Apps - Builder area</vt:lpstr>
      <vt:lpstr>Logic Flows</vt:lpstr>
      <vt:lpstr>What is JSON – Java Script Object Notation</vt:lpstr>
      <vt:lpstr>Open APIs</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138</cp:revision>
  <dcterms:created xsi:type="dcterms:W3CDTF">2013-12-05T19:37:13Z</dcterms:created>
  <dcterms:modified xsi:type="dcterms:W3CDTF">2025-08-07T15:34:56Z</dcterms:modified>
</cp:coreProperties>
</file>